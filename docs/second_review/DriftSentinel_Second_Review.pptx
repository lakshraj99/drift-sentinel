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a6142613dc4edc" /><Relationship Type="http://schemas.openxmlformats.org/officeDocument/2006/relationships/extended-properties" Target="/docProps/app.xml" Id="Rfde77a010ec844d3" /><Relationship Type="http://schemas.openxmlformats.org/officeDocument/2006/relationships/officeDocument" Target="/ppt/presentation.xml" Id="Rcc4412f933ca40d5" /></Relationships>
</file>

<file path=ppt/presentation.xml><?xml version="1.0" encoding="utf-8"?>
<p:presentation xmlns:p="http://schemas.openxmlformats.org/presentationml/2006/main">
  <p:sldMasterIdLst>
    <p:sldMasterId xmlns:r="http://schemas.openxmlformats.org/officeDocument/2006/relationships" id="2147483648" r:id="R5b4a21d66fbe449b"/>
  </p:sldMasterIdLst>
  <p:notesMasterIdLst>
    <p:notesMasterId xmlns:r="http://schemas.openxmlformats.org/officeDocument/2006/relationships" r:id="Rc4d4595167424e79"/>
  </p:notesMasterIdLst>
  <p:sldIdLst>
    <p:sldId xmlns:r="http://schemas.openxmlformats.org/officeDocument/2006/relationships" id="256" r:id="R09c24ef1ab2a4ba2"/>
    <p:sldId xmlns:r="http://schemas.openxmlformats.org/officeDocument/2006/relationships" id="257" r:id="R4564b80b6d66421c"/>
    <p:sldId xmlns:r="http://schemas.openxmlformats.org/officeDocument/2006/relationships" id="258" r:id="R36cf14b44560406e"/>
    <p:sldId xmlns:r="http://schemas.openxmlformats.org/officeDocument/2006/relationships" id="259" r:id="Rcbffba45d86e4d60"/>
    <p:sldId xmlns:r="http://schemas.openxmlformats.org/officeDocument/2006/relationships" id="260" r:id="R936ef7de262f49cf"/>
    <p:sldId xmlns:r="http://schemas.openxmlformats.org/officeDocument/2006/relationships" id="261" r:id="R86354153e3984e2e"/>
    <p:sldId xmlns:r="http://schemas.openxmlformats.org/officeDocument/2006/relationships" id="262" r:id="Re06d81decbc441df"/>
    <p:sldId xmlns:r="http://schemas.openxmlformats.org/officeDocument/2006/relationships" id="263" r:id="R024da2aff2524bf6"/>
    <p:sldId xmlns:r="http://schemas.openxmlformats.org/officeDocument/2006/relationships" id="264" r:id="R2a6f9d88beab45dc"/>
    <p:sldId xmlns:r="http://schemas.openxmlformats.org/officeDocument/2006/relationships" id="265" r:id="R709930224d3d4577"/>
    <p:sldId xmlns:r="http://schemas.openxmlformats.org/officeDocument/2006/relationships" id="266" r:id="Rd8c3b5b38ca24c0a"/>
    <p:sldId xmlns:r="http://schemas.openxmlformats.org/officeDocument/2006/relationships" id="267" r:id="R7b409905f2114ad0"/>
    <p:sldId xmlns:r="http://schemas.openxmlformats.org/officeDocument/2006/relationships" id="268" r:id="Rba58ccd22c024e46"/>
    <p:sldId xmlns:r="http://schemas.openxmlformats.org/officeDocument/2006/relationships" id="269" r:id="Re5d6d174d59e4a14"/>
    <p:sldId xmlns:r="http://schemas.openxmlformats.org/officeDocument/2006/relationships" id="270" r:id="R293a9105372742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687963303a4993" /><Relationship Type="http://schemas.openxmlformats.org/officeDocument/2006/relationships/slideMaster" Target="/ppt/slideMasters/slideMaster1.xml" Id="R5b4a21d66fbe449b" /><Relationship Type="http://schemas.openxmlformats.org/officeDocument/2006/relationships/notesMaster" Target="/ppt/notesMasters/notesMaster1.xml" Id="Rc4d4595167424e79" /><Relationship Type="http://schemas.openxmlformats.org/officeDocument/2006/relationships/presProps" Target="/ppt/presProps.xml" Id="Rff591679e13749bc" /><Relationship Type="http://schemas.openxmlformats.org/officeDocument/2006/relationships/tableStyles" Target="/ppt/tableStyles.xml" Id="R74ac05d70bda42ed" /><Relationship Type="http://schemas.openxmlformats.org/officeDocument/2006/relationships/slide" Target="/ppt/slides/slide1.xml" Id="R09c24ef1ab2a4ba2" /><Relationship Type="http://schemas.openxmlformats.org/officeDocument/2006/relationships/slide" Target="/ppt/slides/slide2.xml" Id="R4564b80b6d66421c" /><Relationship Type="http://schemas.openxmlformats.org/officeDocument/2006/relationships/slide" Target="/ppt/slides/slide3.xml" Id="R36cf14b44560406e" /><Relationship Type="http://schemas.openxmlformats.org/officeDocument/2006/relationships/slide" Target="/ppt/slides/slide4.xml" Id="Rcbffba45d86e4d60" /><Relationship Type="http://schemas.openxmlformats.org/officeDocument/2006/relationships/slide" Target="/ppt/slides/slide5.xml" Id="R936ef7de262f49cf" /><Relationship Type="http://schemas.openxmlformats.org/officeDocument/2006/relationships/slide" Target="/ppt/slides/slide6.xml" Id="R86354153e3984e2e" /><Relationship Type="http://schemas.openxmlformats.org/officeDocument/2006/relationships/slide" Target="/ppt/slides/slide7.xml" Id="Re06d81decbc441df" /><Relationship Type="http://schemas.openxmlformats.org/officeDocument/2006/relationships/slide" Target="/ppt/slides/slide8.xml" Id="R024da2aff2524bf6" /><Relationship Type="http://schemas.openxmlformats.org/officeDocument/2006/relationships/slide" Target="/ppt/slides/slide9.xml" Id="R2a6f9d88beab45dc" /><Relationship Type="http://schemas.openxmlformats.org/officeDocument/2006/relationships/slide" Target="/ppt/slides/slide10.xml" Id="R709930224d3d4577" /><Relationship Type="http://schemas.openxmlformats.org/officeDocument/2006/relationships/slide" Target="/ppt/slides/slide11.xml" Id="Rd8c3b5b38ca24c0a" /><Relationship Type="http://schemas.openxmlformats.org/officeDocument/2006/relationships/slide" Target="/ppt/slides/slide12.xml" Id="R7b409905f2114ad0" /><Relationship Type="http://schemas.openxmlformats.org/officeDocument/2006/relationships/slide" Target="/ppt/slides/slide13.xml" Id="Rba58ccd22c024e46" /><Relationship Type="http://schemas.openxmlformats.org/officeDocument/2006/relationships/slide" Target="/ppt/slides/slide14.xml" Id="Re5d6d174d59e4a14" /><Relationship Type="http://schemas.openxmlformats.org/officeDocument/2006/relationships/slide" Target="/ppt/slides/slide15.xml" Id="R293a9105372742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fb72cb3a2f49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233238fafa45f0" /><Relationship Type="http://schemas.openxmlformats.org/officeDocument/2006/relationships/notesMaster" Target="/ppt/notesMasters/notesMaster1.xml" Id="R492cbc231c5b47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0eff90b78e4d3f" /><Relationship Type="http://schemas.openxmlformats.org/officeDocument/2006/relationships/notesMaster" Target="/ppt/notesMasters/notesMaster1.xml" Id="R9102a4b091514d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a63af3ce7f4ef4" /><Relationship Type="http://schemas.openxmlformats.org/officeDocument/2006/relationships/notesMaster" Target="/ppt/notesMasters/notesMaster1.xml" Id="R7eb8e90faf374b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8f8aef79224864" /><Relationship Type="http://schemas.openxmlformats.org/officeDocument/2006/relationships/notesMaster" Target="/ppt/notesMasters/notesMaster1.xml" Id="R10a637f487e140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816fad114246cf" /><Relationship Type="http://schemas.openxmlformats.org/officeDocument/2006/relationships/notesMaster" Target="/ppt/notesMasters/notesMaster1.xml" Id="Rc3bbf7c93cd541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49c9691f5c43df" /><Relationship Type="http://schemas.openxmlformats.org/officeDocument/2006/relationships/notesMaster" Target="/ppt/notesMasters/notesMaster1.xml" Id="R1e67b6953d6d47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e306bc4f574ef9" /><Relationship Type="http://schemas.openxmlformats.org/officeDocument/2006/relationships/notesMaster" Target="/ppt/notesMasters/notesMaster1.xml" Id="R4128694a6ffe4e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be70ef1656446f" /><Relationship Type="http://schemas.openxmlformats.org/officeDocument/2006/relationships/notesMaster" Target="/ppt/notesMasters/notesMaster1.xml" Id="R5659eefecf4e4a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d40c0dfdb04701" /><Relationship Type="http://schemas.openxmlformats.org/officeDocument/2006/relationships/notesMaster" Target="/ppt/notesMasters/notesMaster1.xml" Id="R7b7d083b5f9b45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5522af1918a401a" /><Relationship Type="http://schemas.openxmlformats.org/officeDocument/2006/relationships/notesMaster" Target="/ppt/notesMasters/notesMaster1.xml" Id="R64b9f829b07b4c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beb9a56909b49f7" /><Relationship Type="http://schemas.openxmlformats.org/officeDocument/2006/relationships/notesMaster" Target="/ppt/notesMasters/notesMaster1.xml" Id="R7a26e13842ea4a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f3fe5c72724748" /><Relationship Type="http://schemas.openxmlformats.org/officeDocument/2006/relationships/notesMaster" Target="/ppt/notesMasters/notesMaster1.xml" Id="Rb7095aacf000496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28eb092fb744a5" /><Relationship Type="http://schemas.openxmlformats.org/officeDocument/2006/relationships/notesMaster" Target="/ppt/notesMasters/notesMaster1.xml" Id="Rd5b9d2b1c60e491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d7bb064f5c422b" /><Relationship Type="http://schemas.openxmlformats.org/officeDocument/2006/relationships/notesMaster" Target="/ppt/notesMasters/notesMaster1.xml" Id="R7e5286156abb461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62c2182449a4e2b" /><Relationship Type="http://schemas.openxmlformats.org/officeDocument/2006/relationships/notesMaster" Target="/ppt/notesMasters/notesMaster1.xml" Id="R3c3323141f6043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https://github.com/Lakshraj99/Drift-sentinel</a:t>
            </a:r>
          </a:p>
          <a:p xmlns:a="http://schemas.openxmlformats.org/drawingml/2006/main">
            <a:r>
              <a:t>Implementation status verified from the repository and CI on 17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Abstract length: 143 words.</a:t>
            </a:r>
          </a:p>
          <a:p xmlns:a="http://schemas.openxmlformats.org/drawingml/2006/main">
            <a:r>
              <a:t>Project sources: README.md; docs/METHODOLOGY.md; docs/FINDINGS.md.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https://doi.org/10.1145/2523813</a:t>
            </a:r>
          </a:p>
          <a:p xmlns:a="http://schemas.openxmlformats.org/drawingml/2006/main">
            <a:r>
              <a:t>https://doi.org/10.1007/978-3-540-28645-5_29</a:t>
            </a:r>
          </a:p>
          <a:p xmlns:a="http://schemas.openxmlformats.org/drawingml/2006/main">
            <a:r>
              <a:t>https://doi.org/10.1137/1.9781611972771.42</a:t>
            </a:r>
          </a:p>
          <a:p xmlns:a="http://schemas.openxmlformats.org/drawingml/2006/main">
            <a:r>
              <a:t>https://doi.org/10.1016/j.neucom.2019.11.111</a:t>
            </a:r>
          </a:p>
          <a:p xmlns:a="http://schemas.openxmlformats.org/drawingml/2006/main">
            <a:r>
              <a:t>https://doi.org/10.1007/s10618-020-00698-5</a:t>
            </a:r>
          </a:p>
          <a:p xmlns:a="http://schemas.openxmlformats.org/drawingml/2006/main">
            <a:r>
              <a:t>https://arxiv.org/abs/1406.1078</a:t>
            </a:r>
          </a:p>
          <a:p xmlns:a="http://schemas.openxmlformats.org/drawingml/2006/main">
            <a:r>
              <a:t>https://proceedings.neurips.cc/paper/2017/hash/3f5ee243547dee91fbd053c1c4a845aa-Abstract.html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Gap statements synthesize the cited literature and the audited project 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are implemented in the final repository and mapped to the three project phases.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and docs/METHODOLOGY.md. All diagram elements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sources: docs/EXPERIMENTS.md; docs/REPRODUCIBILITY.md; results/tables/class_event_distribution.csv.</a:t>
            </a:r>
          </a:p>
          <a:p xmlns:a="http://schemas.openxmlformats.org/drawingml/2006/main">
            <a:r>
              <a:t>INSECTS paper: https://doi.org/10.1007/s10618-020-00698-5</a:t>
            </a:r>
          </a:p>
          <a:p xmlns:a="http://schemas.openxmlformats.org/drawingml/2006/main">
            <a:r>
              <a:t>Mirror used by the project: https://raw.githubusercontent.com/durga256/OnlineLearning_ML/master/INSECTS-abrupt_balanced_norm.csv</a:t>
            </a:r>
          </a:p>
          <a:p xmlns:a="http://schemas.openxmlformats.org/drawingml/2006/main">
            <a:r>
              <a:t>SHA-256: e4819251b250a6fc1bf2a3798bbb7a1cbd2aff81d2ea34252a904c5266272fff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 definitions: docs/METHODOLOGY.md. Baseline area handling: docs/METHODOLOGY_AUDIT.md.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cases are illustrative domains where early adaptation can matter. The project has not been deployed in these domains.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result verified locally on 17 September 2026: 43 passed, 1 warning.</a:t>
            </a:r>
          </a:p>
          <a:p xmlns:a="http://schemas.openxmlformats.org/drawingml/2006/main">
            <a:r>
              <a:t>Latest main CI run at preparation time: https://github.com/Lakshraj99/Drift-sentinel/actions/runs/35183325453 (success).</a:t>
            </a:r>
          </a:p>
          <a:p xmlns:a="http://schemas.openxmlformats.org/drawingml/2006/main">
            <a:r>
              <a:t>Project sources: docs/REPRODUCIBILITY.md; docs/DASHBOARD_DEMO.md.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results/tables/macro_dataset_summary.csv and docs/FINDINGS.md.</a:t>
            </a:r>
          </a:p>
          <a:p xmlns:a="http://schemas.openxmlformats.org/drawingml/2006/main">
            <a:r>
              <a:t>Macro = seed mean within each event-labelled dataset, then equal mean across three datasets.</a:t>
            </a:r>
          </a:p>
          <a:p xmlns:a="http://schemas.openxmlformats.org/drawingml/2006/main">
            <a:r>
              <a:t>Do not interpret values as production-ready performance. Pooled F1 slightly favours Logistic Regression (0.1423 vs 0.1358).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Figures are generated project artifacts under results/figures/.</a:t>
            </a:r>
          </a:p>
          <a:p xmlns:a="http://schemas.openxmlformats.org/drawingml/2006/main">
            <a:r>
              <a:t>Dashboard guide: docs/DASHBOARD_DEMO.md.</a:t>
            </a:r>
          </a:p>
          <a:p xmlns:a="http://schemas.openxmlformats.org/drawingml/2006/main">
            <a:r>
              <a:t>The dashboard reads committed results only and does not retrain or alter metrics at startup.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Venue source: https://icoicc.org.in/ (accessed 17 September 2026).</a:t>
            </a:r>
          </a:p>
          <a:p xmlns:a="http://schemas.openxmlformats.org/drawingml/2006/main">
            <a:r>
              <a:t>The official site lists the 2027 event, IEEE technical co-sponsorship, a 4-6 page IEEE format, and 31 January 2027 full-paper deadline.</a:t>
            </a:r>
          </a:p>
          <a:p xmlns:a="http://schemas.openxmlformats.org/drawingml/2006/main">
            <a:r>
              <a:t>Target selection remains subject to faculty approval, fit review, and verification of the final call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Venue and deadline source: https://icoicc.org.in/ (accessed 17 September 2026). No submission or acceptance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links:</a:t>
            </a:r>
          </a:p>
          <a:p xmlns:a="http://schemas.openxmlformats.org/drawingml/2006/main">
            <a:r>
              <a:t>https://doi.org/10.1145/2523813</a:t>
            </a:r>
          </a:p>
          <a:p xmlns:a="http://schemas.openxmlformats.org/drawingml/2006/main">
            <a:r>
              <a:t>https://doi.org/10.1007/978-3-540-28645-5_29</a:t>
            </a:r>
          </a:p>
          <a:p xmlns:a="http://schemas.openxmlformats.org/drawingml/2006/main">
            <a:r>
              <a:t>https://doi.org/10.1137/1.9781611972771.42</a:t>
            </a:r>
          </a:p>
          <a:p xmlns:a="http://schemas.openxmlformats.org/drawingml/2006/main">
            <a:r>
              <a:t>https://doi.org/10.1016/j.neucom.2019.11.111</a:t>
            </a:r>
          </a:p>
          <a:p xmlns:a="http://schemas.openxmlformats.org/drawingml/2006/main">
            <a:r>
              <a:t>https://doi.org/10.1007/s10618-020-00698-5</a:t>
            </a:r>
          </a:p>
          <a:p xmlns:a="http://schemas.openxmlformats.org/drawingml/2006/main">
            <a:r>
              <a:t>https://arxiv.org/abs/1406.1078</a:t>
            </a:r>
          </a:p>
          <a:p xmlns:a="http://schemas.openxmlformats.org/drawingml/2006/main">
            <a:r>
              <a:t>https://doi.org/10.1162/neco.1997.9.8.1735</a:t>
            </a:r>
          </a:p>
          <a:p xmlns:a="http://schemas.openxmlformats.org/drawingml/2006/main">
            <a:r>
              <a:t>https://proceedings.neurips.cc/paper/2017/hash/3f5ee243547dee91fbd053c1c4a845aa-Abstract.html</a:t>
            </a:r>
          </a:p>
          <a:p xmlns:a="http://schemas.openxmlformats.org/drawingml/2006/main">
            <a:r>
              <a:t>https://www.jmlr.org/papers/v22/20-1380.html</a:t>
            </a:r>
          </a:p>
          <a:p xmlns:a="http://schemas.openxmlformats.org/drawingml/2006/main">
            <a:r>
              <a:t>https://doi.org/10.1007/s10994-012-5320-9</a:t>
            </a:r>
          </a:p>
          <a:p xmlns:a="http://schemas.openxmlformats.org/drawingml/2006/main">
            <a:r>
              <a:t>https://www.jmlr.org/papers/v19/18-251.html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0fa7278d544f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d333c14b1749c1" /><Relationship Type="http://schemas.openxmlformats.org/officeDocument/2006/relationships/slideLayout" Target="/ppt/slideLayouts/slideLayout1.xml" Id="R6343e95593d24a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43e95593d24a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e87beb03e34f5b" /><Relationship Type="http://schemas.openxmlformats.org/officeDocument/2006/relationships/hyperlink" Target="https://github.com/Lakshraj99/Drift-sentinel" TargetMode="External" Id="R096eeadf0aae45c8" /><Relationship Type="http://schemas.openxmlformats.org/officeDocument/2006/relationships/notesSlide" Target="/ppt/notesSlides/notesSlide1.xml" Id="Rb9c2ce18ca7740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0bf7836a50427a" /><Relationship Type="http://schemas.openxmlformats.org/officeDocument/2006/relationships/notesSlide" Target="/ppt/notesSlides/notesSlide2.xml" Id="Rfa6eecd4462e4c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70c23f1fa05441e" /><Relationship Type="http://schemas.openxmlformats.org/officeDocument/2006/relationships/notesSlide" Target="/ppt/notesSlides/notesSlide3.xml" Id="R1ace3fa2059941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f5e13e515bb48c9" /><Relationship Type="http://schemas.openxmlformats.org/officeDocument/2006/relationships/notesSlide" Target="/ppt/notesSlides/notesSlide4.xml" Id="R536bde967b1547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069b2411c34a13" /><Relationship Type="http://schemas.openxmlformats.org/officeDocument/2006/relationships/notesSlide" Target="/ppt/notesSlides/notesSlide5.xml" Id="Raaf55b44275544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0cc14a9518940b3" /><Relationship Type="http://schemas.openxmlformats.org/officeDocument/2006/relationships/notesSlide" Target="/ppt/notesSlides/notesSlide6.xml" Id="R8ccbf93edf2340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7128323abc424b" /><Relationship Type="http://schemas.openxmlformats.org/officeDocument/2006/relationships/notesSlide" Target="/ppt/notesSlides/notesSlide7.xml" Id="R14254c94212444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ad83a02f6144bb2" /><Relationship Type="http://schemas.openxmlformats.org/officeDocument/2006/relationships/notesSlide" Target="/ppt/notesSlides/notesSlide8.xml" Id="Re2bf7638dcc745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fcb82d6b97846f1" /><Relationship Type="http://schemas.openxmlformats.org/officeDocument/2006/relationships/notesSlide" Target="/ppt/notesSlides/notesSlide9.xml" Id="R432ef1adcde9460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a84df54669b44e3" /><Relationship Type="http://schemas.openxmlformats.org/officeDocument/2006/relationships/notesSlide" Target="/ppt/notesSlides/notesSlide10.xml" Id="Re2fa6fe650a042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75ca0ca5bd14305" /><Relationship Type="http://schemas.openxmlformats.org/officeDocument/2006/relationships/notesSlide" Target="/ppt/notesSlides/notesSlide11.xml" Id="Rb4c472f1b8834c3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773638703a44e93" /><Relationship Type="http://schemas.openxmlformats.org/officeDocument/2006/relationships/image" Target="/ppt/media/image.png" Id="Rda286ea4e3e0478b" /><Relationship Type="http://schemas.openxmlformats.org/officeDocument/2006/relationships/image" Target="/ppt/media/image2.png" Id="Rfff35ce30a40418e" /><Relationship Type="http://schemas.openxmlformats.org/officeDocument/2006/relationships/image" Target="/ppt/media/image3.png" Id="R2558f3dc91594c8c" /><Relationship Type="http://schemas.openxmlformats.org/officeDocument/2006/relationships/notesSlide" Target="/ppt/notesSlides/notesSlide12.xml" Id="R91a89db4579a4b8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fcb3d88a0e041e8" /><Relationship Type="http://schemas.openxmlformats.org/officeDocument/2006/relationships/notesSlide" Target="/ppt/notesSlides/notesSlide13.xml" Id="R9e97c426c0b34d0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9b65f004a6f4b3b" /><Relationship Type="http://schemas.openxmlformats.org/officeDocument/2006/relationships/notesSlide" Target="/ppt/notesSlides/notesSlide14.xml" Id="R35bc5d80994249b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8b77027f2b741da" /><Relationship Type="http://schemas.openxmlformats.org/officeDocument/2006/relationships/notesSlide" Target="/ppt/notesSlides/notesSlide15.xml" Id="R9cac2c08109b4aa0" /></Relationships>
</file>

<file path=ppt/slides/slide1.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F65B8DE-B3EE-4C2F-940F-0ADB9D64092E}"/>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27C7D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5B2861-D2F8-4C24-B0E9-20D7306CE9F6}"/>
              </a:ext>
            </a:extLst>
          </p:cNvPr>
          <p:cNvSpPr>
            <a:spLocks xmlns:a="http://schemas.openxmlformats.org/drawingml/2006/main" noGrp="1"/>
          </p:cNvSpPr>
          <p:nvPr/>
        </p:nvSpPr>
        <p:spPr>
          <a:xfrm xmlns:a="http://schemas.openxmlformats.org/drawingml/2006/main">
            <a:off x="742950" y="5524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125" b="1">
                <a:solidFill>
                  <a:srgbClr val="27C7D1"/>
                </a:solidFill>
                <a:latin typeface="Calibri"/>
                <a:ea typeface="Calibri"/>
                <a:cs typeface="Calibri"/>
              </a:defRPr>
            </a:pPr>
            <a:r>
              <a:rPr sz="1125" b="1">
                <a:solidFill>
                  <a:srgbClr val="27C7D1"/>
                </a:solidFill>
                <a:latin typeface="Calibri"/>
                <a:ea typeface="Calibri"/>
                <a:cs typeface="Calibri"/>
              </a:rPr>
              <a:t>SECOND REVIEW</a:t>
            </a:r>
          </a:p>
        </p:txBody>
      </p:sp>
      <p:sp>
        <p:nvSpPr>
          <p:cNvPr id="3" name="">
            <a:extLst xmlns:a="http://schemas.openxmlformats.org/drawingml/2006/main">
              <a:ext uri="{FF2B5EF4-FFF2-40B4-BE49-F238E27FC236}">
                <a16:creationId xmlns:a16="http://schemas.microsoft.com/office/drawing/2014/main" id="{46573BCB-6E95-4E0A-9AB2-A260A4BAE484}"/>
              </a:ext>
            </a:extLst>
          </p:cNvPr>
          <p:cNvSpPr>
            <a:spLocks xmlns:a="http://schemas.openxmlformats.org/drawingml/2006/main" noGrp="1"/>
          </p:cNvSpPr>
          <p:nvPr/>
        </p:nvSpPr>
        <p:spPr>
          <a:xfrm xmlns:a="http://schemas.openxmlformats.org/drawingml/2006/main">
            <a:off x="742950" y="1143000"/>
            <a:ext cx="876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4050" b="1">
                <a:solidFill>
                  <a:srgbClr val="FFFFFF"/>
                </a:solidFill>
                <a:latin typeface="Calibri"/>
                <a:ea typeface="Calibri"/>
                <a:cs typeface="Calibri"/>
              </a:defRPr>
            </a:pPr>
            <a:r>
              <a:rPr sz="4050" b="1">
                <a:solidFill>
                  <a:srgbClr val="FFFFFF"/>
                </a:solidFill>
                <a:latin typeface="Calibri"/>
                <a:ea typeface="Calibri"/>
                <a:cs typeface="Calibri"/>
              </a:rPr>
              <a:t>DriftSentinel</a:t>
            </a:r>
          </a:p>
        </p:txBody>
      </p:sp>
      <p:sp>
        <p:nvSpPr>
          <p:cNvPr id="4" name="">
            <a:extLst xmlns:a="http://schemas.openxmlformats.org/drawingml/2006/main">
              <a:ext uri="{FF2B5EF4-FFF2-40B4-BE49-F238E27FC236}">
                <a16:creationId xmlns:a16="http://schemas.microsoft.com/office/drawing/2014/main" id="{6F857073-6D16-4FAB-999C-464F8ED5C38E}"/>
              </a:ext>
            </a:extLst>
          </p:cNvPr>
          <p:cNvSpPr>
            <a:spLocks xmlns:a="http://schemas.openxmlformats.org/drawingml/2006/main" noGrp="1"/>
          </p:cNvSpPr>
          <p:nvPr/>
        </p:nvSpPr>
        <p:spPr>
          <a:xfrm xmlns:a="http://schemas.openxmlformats.org/drawingml/2006/main">
            <a:off x="742950" y="195262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2325" b="0">
                <a:solidFill>
                  <a:srgbClr val="D8E7EF"/>
                </a:solidFill>
                <a:latin typeface="Calibri"/>
                <a:ea typeface="Calibri"/>
                <a:cs typeface="Calibri"/>
              </a:defRPr>
            </a:pPr>
            <a:r>
              <a:rPr sz="2325" b="0">
                <a:solidFill>
                  <a:srgbClr val="D8E7EF"/>
                </a:solidFill>
                <a:latin typeface="Calibri"/>
                <a:ea typeface="Calibri"/>
                <a:cs typeface="Calibri"/>
              </a:rPr>
              <a:t>Predictive Early Warning System for Concept Drift in Data Streams</a:t>
            </a:r>
          </a:p>
        </p:txBody>
      </p:sp>
      <p:sp>
        <p:nvSpPr>
          <p:cNvPr id="5" name="">
            <a:extLst xmlns:a="http://schemas.openxmlformats.org/drawingml/2006/main">
              <a:ext uri="{FF2B5EF4-FFF2-40B4-BE49-F238E27FC236}">
                <a16:creationId xmlns:a16="http://schemas.microsoft.com/office/drawing/2014/main" id="{59F08936-3609-4349-A64A-C40AF40A3F4F}"/>
              </a:ext>
            </a:extLst>
          </p:cNvPr>
          <p:cNvSpPr>
            <a:spLocks xmlns:a="http://schemas.openxmlformats.org/drawingml/2006/main" noGrp="1"/>
          </p:cNvSpPr>
          <p:nvPr/>
        </p:nvSpPr>
        <p:spPr>
          <a:xfrm xmlns:a="http://schemas.openxmlformats.org/drawingml/2006/main">
            <a:off x="742950" y="3114675"/>
            <a:ext cx="3238500" cy="0"/>
          </a:xfrm>
          <a:prstGeom xmlns:a="http://schemas.openxmlformats.org/drawingml/2006/main" prst="line">
            <a:avLst/>
          </a:prstGeom>
          <a:ln xmlns:a="http://schemas.openxmlformats.org/drawingml/2006/main" w="38100">
            <a:solidFill>
              <a:srgbClr val="F1A33C"/>
            </a:solidFill>
          </a:ln>
        </p:spPr>
      </p:sp>
      <p:sp>
        <p:nvSpPr>
          <p:cNvPr id="6" name="">
            <a:extLst xmlns:a="http://schemas.openxmlformats.org/drawingml/2006/main">
              <a:ext uri="{FF2B5EF4-FFF2-40B4-BE49-F238E27FC236}">
                <a16:creationId xmlns:a16="http://schemas.microsoft.com/office/drawing/2014/main" id="{B32FA590-B690-4C23-A744-4E89DEB4A915}"/>
              </a:ext>
            </a:extLst>
          </p:cNvPr>
          <p:cNvSpPr>
            <a:spLocks xmlns:a="http://schemas.openxmlformats.org/drawingml/2006/main" noGrp="1"/>
          </p:cNvSpPr>
          <p:nvPr/>
        </p:nvSpPr>
        <p:spPr>
          <a:xfrm xmlns:a="http://schemas.openxmlformats.org/drawingml/2006/main">
            <a:off x="742950" y="35242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800" b="1">
                <a:solidFill>
                  <a:srgbClr val="FFFFFF"/>
                </a:solidFill>
                <a:latin typeface="Calibri"/>
                <a:ea typeface="Calibri"/>
                <a:cs typeface="Calibri"/>
              </a:defRPr>
            </a:pPr>
            <a:r>
              <a:rPr sz="1800" b="1">
                <a:solidFill>
                  <a:srgbClr val="FFFFFF"/>
                </a:solidFill>
                <a:latin typeface="Calibri"/>
                <a:ea typeface="Calibri"/>
                <a:cs typeface="Calibri"/>
              </a:rPr>
              <a:t>Laksh Raj</a:t>
            </a:r>
          </a:p>
        </p:txBody>
      </p:sp>
      <p:sp>
        <p:nvSpPr>
          <p:cNvPr id="7" name="">
            <a:extLst xmlns:a="http://schemas.openxmlformats.org/drawingml/2006/main">
              <a:ext uri="{FF2B5EF4-FFF2-40B4-BE49-F238E27FC236}">
                <a16:creationId xmlns:a16="http://schemas.microsoft.com/office/drawing/2014/main" id="{6AEE11A0-4060-4D44-B0C6-B07EF5AB330B}"/>
              </a:ext>
            </a:extLst>
          </p:cNvPr>
          <p:cNvSpPr>
            <a:spLocks xmlns:a="http://schemas.openxmlformats.org/drawingml/2006/main" noGrp="1"/>
          </p:cNvSpPr>
          <p:nvPr/>
        </p:nvSpPr>
        <p:spPr>
          <a:xfrm xmlns:a="http://schemas.openxmlformats.org/drawingml/2006/main">
            <a:off x="742950" y="38862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350" b="0">
                <a:solidFill>
                  <a:srgbClr val="BFD0DA"/>
                </a:solidFill>
                <a:latin typeface="Calibri"/>
                <a:ea typeface="Calibri"/>
                <a:cs typeface="Calibri"/>
              </a:defRPr>
            </a:pPr>
            <a:r>
              <a:rPr sz="1350" b="0">
                <a:solidFill>
                  <a:srgbClr val="BFD0DA"/>
                </a:solidFill>
                <a:latin typeface="Calibri"/>
                <a:ea typeface="Calibri"/>
                <a:cs typeface="Calibri"/>
              </a:rPr>
              <a:t>Registration No. 23BDS0109</a:t>
            </a:r>
          </a:p>
        </p:txBody>
      </p:sp>
      <p:sp>
        <p:nvSpPr>
          <p:cNvPr id="8" name="">
            <a:extLst xmlns:a="http://schemas.openxmlformats.org/drawingml/2006/main">
              <a:ext uri="{FF2B5EF4-FFF2-40B4-BE49-F238E27FC236}">
                <a16:creationId xmlns:a16="http://schemas.microsoft.com/office/drawing/2014/main" id="{B3D58C91-98C5-47C7-8FE1-26F3851CF247}"/>
              </a:ext>
            </a:extLst>
          </p:cNvPr>
          <p:cNvSpPr>
            <a:spLocks xmlns:a="http://schemas.openxmlformats.org/drawingml/2006/main" noGrp="1"/>
          </p:cNvSpPr>
          <p:nvPr/>
        </p:nvSpPr>
        <p:spPr>
          <a:xfrm xmlns:a="http://schemas.openxmlformats.org/drawingml/2006/main">
            <a:off x="6096000" y="35623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350" b="0">
                <a:solidFill>
                  <a:srgbClr val="BFD0DA"/>
                </a:solidFill>
                <a:latin typeface="Calibri"/>
                <a:ea typeface="Calibri"/>
                <a:cs typeface="Calibri"/>
              </a:defRPr>
            </a:pPr>
            <a:r>
              <a:rPr sz="1350" b="0">
                <a:solidFill>
                  <a:srgbClr val="BFD0DA"/>
                </a:solidFill>
                <a:latin typeface="Calibri"/>
                <a:ea typeface="Calibri"/>
                <a:cs typeface="Calibri"/>
              </a:rPr>
              <a:t>Team member 2  ____________________</a:t>
            </a:r>
          </a:p>
        </p:txBody>
      </p:sp>
      <p:sp>
        <p:nvSpPr>
          <p:cNvPr id="9" name="">
            <a:extLst xmlns:a="http://schemas.openxmlformats.org/drawingml/2006/main">
              <a:ext uri="{FF2B5EF4-FFF2-40B4-BE49-F238E27FC236}">
                <a16:creationId xmlns:a16="http://schemas.microsoft.com/office/drawing/2014/main" id="{C7D17E29-95C3-48CC-9293-C65E8AF75526}"/>
              </a:ext>
            </a:extLst>
          </p:cNvPr>
          <p:cNvSpPr>
            <a:spLocks xmlns:a="http://schemas.openxmlformats.org/drawingml/2006/main" noGrp="1"/>
          </p:cNvSpPr>
          <p:nvPr/>
        </p:nvSpPr>
        <p:spPr>
          <a:xfrm xmlns:a="http://schemas.openxmlformats.org/drawingml/2006/main">
            <a:off x="6096000" y="39719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350" b="0">
                <a:solidFill>
                  <a:srgbClr val="BFD0DA"/>
                </a:solidFill>
                <a:latin typeface="Calibri"/>
                <a:ea typeface="Calibri"/>
                <a:cs typeface="Calibri"/>
              </a:defRPr>
            </a:pPr>
            <a:r>
              <a:rPr sz="1350" b="0">
                <a:solidFill>
                  <a:srgbClr val="BFD0DA"/>
                </a:solidFill>
                <a:latin typeface="Calibri"/>
                <a:ea typeface="Calibri"/>
                <a:cs typeface="Calibri"/>
              </a:rPr>
              <a:t>Team member 3  ____________________</a:t>
            </a:r>
          </a:p>
        </p:txBody>
      </p:sp>
      <p:sp>
        <p:nvSpPr>
          <p:cNvPr id="10" name="">
            <a:extLst xmlns:a="http://schemas.openxmlformats.org/drawingml/2006/main">
              <a:ext uri="{FF2B5EF4-FFF2-40B4-BE49-F238E27FC236}">
                <a16:creationId xmlns:a16="http://schemas.microsoft.com/office/drawing/2014/main" id="{DDF29C8A-C93A-47AB-B529-4BB141886875}"/>
              </a:ext>
            </a:extLst>
          </p:cNvPr>
          <p:cNvSpPr>
            <a:spLocks xmlns:a="http://schemas.openxmlformats.org/drawingml/2006/main" noGrp="1"/>
          </p:cNvSpPr>
          <p:nvPr/>
        </p:nvSpPr>
        <p:spPr>
          <a:xfrm xmlns:a="http://schemas.openxmlformats.org/drawingml/2006/main">
            <a:off x="742950" y="485775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650" b="1">
                <a:solidFill>
                  <a:srgbClr val="F1A33C"/>
                </a:solidFill>
                <a:latin typeface="Calibri"/>
                <a:ea typeface="Calibri"/>
                <a:cs typeface="Calibri"/>
              </a:defRPr>
            </a:pPr>
            <a:r>
              <a:rPr sz="1650" b="1">
                <a:solidFill>
                  <a:srgbClr val="F1A33C"/>
                </a:solidFill>
                <a:latin typeface="Calibri"/>
                <a:ea typeface="Calibri"/>
                <a:cs typeface="Calibri"/>
              </a:rPr>
              <a:t>80%+ implementation completed</a:t>
            </a:r>
          </a:p>
        </p:txBody>
      </p:sp>
      <p:sp>
        <p:nvSpPr>
          <p:cNvPr id="11" name="">
            <a:extLst xmlns:a="http://schemas.openxmlformats.org/drawingml/2006/main">
              <a:ext uri="{FF2B5EF4-FFF2-40B4-BE49-F238E27FC236}">
                <a16:creationId xmlns:a16="http://schemas.microsoft.com/office/drawing/2014/main" id="{11D03E95-838C-432F-A91F-B9B75725B7EA}"/>
              </a:ext>
            </a:extLst>
          </p:cNvPr>
          <p:cNvSpPr>
            <a:spLocks xmlns:a="http://schemas.openxmlformats.org/drawingml/2006/main" noGrp="1"/>
          </p:cNvSpPr>
          <p:nvPr/>
        </p:nvSpPr>
        <p:spPr>
          <a:xfrm xmlns:a="http://schemas.openxmlformats.org/drawingml/2006/main">
            <a:off x="742950" y="5238750"/>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500" b="0">
                <a:solidFill>
                  <a:srgbClr val="FFFFFF"/>
                </a:solidFill>
                <a:latin typeface="Calibri"/>
                <a:ea typeface="Calibri"/>
                <a:cs typeface="Calibri"/>
              </a:defRPr>
            </a:pPr>
            <a:r>
              <a:rPr sz="1500" b="0">
                <a:solidFill>
                  <a:srgbClr val="FFFFFF"/>
                </a:solidFill>
                <a:latin typeface="Calibri"/>
                <a:ea typeface="Calibri"/>
                <a:cs typeface="Calibri"/>
              </a:rPr>
              <a:t>Full working prototype with dashboard, experiments, tests, and CI is ready.</a:t>
            </a:r>
          </a:p>
        </p:txBody>
      </p:sp>
      <p:sp>
        <p:nvSpPr>
          <p:cNvPr id="12" name="">
            <a:extLst xmlns:a="http://schemas.openxmlformats.org/drawingml/2006/main">
              <a:ext uri="{FF2B5EF4-FFF2-40B4-BE49-F238E27FC236}">
                <a16:creationId xmlns:a16="http://schemas.microsoft.com/office/drawing/2014/main" id="{5DE11607-B025-404D-9D5F-51760C45C239}"/>
              </a:ext>
            </a:extLst>
          </p:cNvPr>
          <p:cNvSpPr>
            <a:spLocks xmlns:a="http://schemas.openxmlformats.org/drawingml/2006/main" noGrp="1"/>
          </p:cNvSpPr>
          <p:nvPr/>
        </p:nvSpPr>
        <p:spPr>
          <a:xfrm xmlns:a="http://schemas.openxmlformats.org/drawingml/2006/main">
            <a:off x="742950" y="6048375"/>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200" b="0">
                <a:solidFill>
                  <a:srgbClr val="27C7D1"/>
                </a:solidFill>
                <a:latin typeface="Calibri"/>
                <a:ea typeface="Calibri"/>
                <a:cs typeface="Calibri"/>
              </a:defRPr>
            </a:pPr>
            <a:r>
              <a:rPr sz="1200" b="0" u="sng">
                <a:solidFill>
                  <a:srgbClr val="27C7D1"/>
                </a:solidFill>
                <a:latin typeface="Calibri"/>
                <a:ea typeface="Calibri"/>
                <a:cs typeface="Calibri"/>
                <a:hlinkClick xmlns:r="http://schemas.openxmlformats.org/officeDocument/2006/relationships" r:id="R096eeadf0aae45c8"/>
              </a:rPr>
              <a:t>github.com/Lakshraj99/Drift-sentinel</a:t>
            </a:r>
          </a:p>
        </p:txBody>
      </p:sp>
      <p:sp>
        <p:nvSpPr>
          <p:cNvPr id="13" name="">
            <a:extLst xmlns:a="http://schemas.openxmlformats.org/drawingml/2006/main">
              <a:ext uri="{FF2B5EF4-FFF2-40B4-BE49-F238E27FC236}">
                <a16:creationId xmlns:a16="http://schemas.microsoft.com/office/drawing/2014/main" id="{CA4F7D70-DB64-4FFB-9564-DFE35F422047}"/>
              </a:ext>
            </a:extLst>
          </p:cNvPr>
          <p:cNvSpPr>
            <a:spLocks xmlns:a="http://schemas.openxmlformats.org/drawingml/2006/main" noGrp="1"/>
          </p:cNvSpPr>
          <p:nvPr/>
        </p:nvSpPr>
        <p:spPr>
          <a:xfrm xmlns:a="http://schemas.openxmlformats.org/drawingml/2006/main">
            <a:off x="11334750" y="62674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r">
              <a:defRPr sz="975" b="0">
                <a:solidFill>
                  <a:srgbClr val="9AB0BF"/>
                </a:solidFill>
                <a:latin typeface="Calibri"/>
                <a:ea typeface="Calibri"/>
                <a:cs typeface="Calibri"/>
              </a:defRPr>
            </a:pPr>
            <a:r>
              <a:rPr sz="975" b="0">
                <a:solidFill>
                  <a:srgbClr val="9AB0BF"/>
                </a:solidFill>
                <a:latin typeface="Calibri"/>
                <a:ea typeface="Calibri"/>
                <a:cs typeface="Calibri"/>
              </a:rPr>
              <a:t>01</a:t>
            </a:r>
          </a:p>
        </p:txBody>
      </p:sp>
    </p:spTree>
    <p:extLst>
      <p:ext uri="{BB962C8B-B14F-4D97-AF65-F5344CB8AC3E}">
        <p14:creationId xmlns:p14="http://schemas.microsoft.com/office/powerpoint/2010/main" val="2137863720"/>
      </p:ext>
    </p:extLst>
  </p:cSld>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DCA121A-5E31-4C01-BF86-0FC0FE0A153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7C7D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66795C-4626-4501-8B87-B1740196E8F5}"/>
              </a:ext>
            </a:extLst>
          </p:cNvPr>
          <p:cNvSpPr>
            <a:spLocks xmlns:a="http://schemas.openxmlformats.org/drawingml/2006/main" noGrp="1"/>
          </p:cNvSpPr>
          <p:nvPr/>
        </p:nvSpPr>
        <p:spPr>
          <a:xfrm xmlns:a="http://schemas.openxmlformats.org/drawingml/2006/main">
            <a:off x="609600" y="2667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75" b="1">
                <a:solidFill>
                  <a:srgbClr val="0E8A92"/>
                </a:solidFill>
                <a:latin typeface="Calibri"/>
                <a:ea typeface="Calibri"/>
                <a:cs typeface="Calibri"/>
              </a:defRPr>
            </a:pPr>
            <a:r>
              <a:rPr sz="975" b="1">
                <a:solidFill>
                  <a:srgbClr val="0E8A92"/>
                </a:solidFill>
                <a:latin typeface="Calibri"/>
                <a:ea typeface="Calibri"/>
                <a:cs typeface="Calibri"/>
              </a:rPr>
              <a:t>PROBLEM AND CONTRIBUTION</a:t>
            </a:r>
          </a:p>
        </p:txBody>
      </p:sp>
      <p:sp>
        <p:nvSpPr>
          <p:cNvPr id="3" name="">
            <a:extLst xmlns:a="http://schemas.openxmlformats.org/drawingml/2006/main">
              <a:ext uri="{FF2B5EF4-FFF2-40B4-BE49-F238E27FC236}">
                <a16:creationId xmlns:a16="http://schemas.microsoft.com/office/drawing/2014/main" id="{74F6C3BC-01EC-43FF-9BC2-2CE4A22FA5B6}"/>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2550" b="1">
                <a:solidFill>
                  <a:srgbClr val="132433"/>
                </a:solidFill>
                <a:latin typeface="Calibri"/>
                <a:ea typeface="Calibri"/>
                <a:cs typeface="Calibri"/>
              </a:defRPr>
            </a:pPr>
            <a:r>
              <a:rPr sz="2550" b="1">
                <a:solidFill>
                  <a:srgbClr val="132433"/>
                </a:solidFill>
                <a:latin typeface="Calibri"/>
                <a:ea typeface="Calibri"/>
                <a:cs typeface="Calibri"/>
              </a:rPr>
              <a:t>Abstract</a:t>
            </a:r>
          </a:p>
        </p:txBody>
      </p:sp>
      <p:sp>
        <p:nvSpPr>
          <p:cNvPr id="4" name="">
            <a:extLst xmlns:a="http://schemas.openxmlformats.org/drawingml/2006/main">
              <a:ext uri="{FF2B5EF4-FFF2-40B4-BE49-F238E27FC236}">
                <a16:creationId xmlns:a16="http://schemas.microsoft.com/office/drawing/2014/main" id="{D4B5F708-4D0D-4711-BB3E-656F53AE58FA}"/>
              </a:ext>
            </a:extLst>
          </p:cNvPr>
          <p:cNvSpPr>
            <a:spLocks xmlns:a="http://schemas.openxmlformats.org/drawingml/2006/main" noGrp="1"/>
          </p:cNvSpPr>
          <p:nvPr/>
        </p:nvSpPr>
        <p:spPr>
          <a:xfrm xmlns:a="http://schemas.openxmlformats.org/drawingml/2006/main">
            <a:off x="11334750" y="62674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r">
              <a:defRPr sz="975" b="0">
                <a:solidFill>
                  <a:srgbClr val="5C6B77"/>
                </a:solidFill>
                <a:latin typeface="Calibri"/>
                <a:ea typeface="Calibri"/>
                <a:cs typeface="Calibri"/>
              </a:defRPr>
            </a:pPr>
            <a:r>
              <a:rPr sz="975" b="0">
                <a:solidFill>
                  <a:srgbClr val="5C6B77"/>
                </a:solidFill>
                <a:latin typeface="Calibri"/>
                <a:ea typeface="Calibri"/>
                <a:cs typeface="Calibri"/>
              </a:rPr>
              <a:t>02</a:t>
            </a:r>
          </a:p>
        </p:txBody>
      </p:sp>
      <p:sp>
        <p:nvSpPr>
          <p:cNvPr id="5" name="">
            <a:extLst xmlns:a="http://schemas.openxmlformats.org/drawingml/2006/main">
              <a:ext uri="{FF2B5EF4-FFF2-40B4-BE49-F238E27FC236}">
                <a16:creationId xmlns:a16="http://schemas.microsoft.com/office/drawing/2014/main" id="{A2564FE8-6313-4796-B556-DBDB310DB098}"/>
              </a:ext>
            </a:extLst>
          </p:cNvPr>
          <p:cNvSpPr>
            <a:spLocks xmlns:a="http://schemas.openxmlformats.org/drawingml/2006/main" noGrp="1"/>
          </p:cNvSpPr>
          <p:nvPr/>
        </p:nvSpPr>
        <p:spPr>
          <a:xfrm xmlns:a="http://schemas.openxmlformats.org/drawingml/2006/main">
            <a:off x="609600" y="62674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00" b="0">
                <a:solidFill>
                  <a:srgbClr val="5C6B77"/>
                </a:solidFill>
                <a:latin typeface="Calibri"/>
                <a:ea typeface="Calibri"/>
                <a:cs typeface="Calibri"/>
              </a:defRPr>
            </a:pPr>
            <a:r>
              <a:rPr sz="900" b="0">
                <a:solidFill>
                  <a:srgbClr val="5C6B77"/>
                </a:solidFill>
                <a:latin typeface="Calibri"/>
                <a:ea typeface="Calibri"/>
                <a:cs typeface="Calibri"/>
              </a:rPr>
              <a:t>DriftSentinel  |  Review 2</a:t>
            </a:r>
          </a:p>
        </p:txBody>
      </p:sp>
      <p:sp>
        <p:nvSpPr>
          <p:cNvPr id="6" name="">
            <a:extLst xmlns:a="http://schemas.openxmlformats.org/drawingml/2006/main">
              <a:ext uri="{FF2B5EF4-FFF2-40B4-BE49-F238E27FC236}">
                <a16:creationId xmlns:a16="http://schemas.microsoft.com/office/drawing/2014/main" id="{28798277-DC6B-4E56-A940-50329972F033}"/>
              </a:ext>
            </a:extLst>
          </p:cNvPr>
          <p:cNvSpPr>
            <a:spLocks xmlns:a="http://schemas.openxmlformats.org/drawingml/2006/main" noGrp="1"/>
          </p:cNvSpPr>
          <p:nvPr/>
        </p:nvSpPr>
        <p:spPr>
          <a:xfrm xmlns:a="http://schemas.openxmlformats.org/drawingml/2006/main">
            <a:off x="704850" y="1381125"/>
            <a:ext cx="10782300" cy="3905250"/>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9525">
            <a:solidFill>
              <a:srgbClr val="C9D4DC"/>
            </a:solidFill>
          </a:ln>
        </p:spPr>
      </p:sp>
      <p:sp>
        <p:nvSpPr>
          <p:cNvPr id="7" name="">
            <a:extLst xmlns:a="http://schemas.openxmlformats.org/drawingml/2006/main">
              <a:ext uri="{FF2B5EF4-FFF2-40B4-BE49-F238E27FC236}">
                <a16:creationId xmlns:a16="http://schemas.microsoft.com/office/drawing/2014/main" id="{4E771897-5384-4CBD-87E0-7A9E04D50FF0}"/>
              </a:ext>
            </a:extLst>
          </p:cNvPr>
          <p:cNvSpPr>
            <a:spLocks xmlns:a="http://schemas.openxmlformats.org/drawingml/2006/main" noGrp="1"/>
          </p:cNvSpPr>
          <p:nvPr/>
        </p:nvSpPr>
        <p:spPr>
          <a:xfrm xmlns:a="http://schemas.openxmlformats.org/drawingml/2006/main">
            <a:off x="1028700" y="1695450"/>
            <a:ext cx="1014412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92227"/>
          </a:bodyPr>
          <a:lstStyle xmlns:a="http://schemas.openxmlformats.org/drawingml/2006/main"/>
          <a:p xmlns:a="http://schemas.openxmlformats.org/drawingml/2006/main">
            <a:pPr algn="l">
              <a:lnSpc>
                <a:spcPct val="115000"/>
              </a:lnSpc>
              <a:buNone/>
              <a:defRPr sz="1800" b="0">
                <a:solidFill>
                  <a:srgbClr val="132433"/>
                </a:solidFill>
                <a:latin typeface="Calibri"/>
                <a:ea typeface="Calibri"/>
                <a:cs typeface="Calibri"/>
              </a:defRPr>
            </a:pPr>
            <a:r>
              <a:rPr sz="1800" b="0">
                <a:solidFill>
                  <a:srgbClr val="132433"/>
                </a:solidFill>
                <a:latin typeface="Calibri"/>
                <a:ea typeface="Calibri"/>
                <a:cs typeface="Calibri"/>
              </a:rPr>
              <a:t>Concept drift can make a deployed stream classifier obsolete as the relationship between inputs and labels changes. Most established detectors identify change after statistical or error evidence accumulates, which limits preparation time for adaptation. DriftSentinel studies a supervised early-warning alternative: rolling distribution and confidence features are converted into current-batch or 10-batch sequences to predict whether a verified drift onset will occur within the next five batches. Logistic Regression, GRU, LSTM and Transformer models are compared with binary ADWIN, DDM and KSWIN alarms on deterministic SEA streams and the INSECTS abrupt-balanced stream; Elec2 is retained only for provenance because it lacks authoritative onset labels. Evaluation aligns the five-batch target with the five-batch warning window and reports F1, PR-AUC, lead time, coverage, false alarms, missed events and alert-triggered recovery. GRU achieved the strongest strict warning coverage among predictive models, but with substantial false alarms and adaptation cost, so the result supports feasibility rather than deployment readiness.</a:t>
            </a:r>
          </a:p>
        </p:txBody>
      </p:sp>
      <p:sp>
        <p:nvSpPr>
          <p:cNvPr id="8" name="">
            <a:extLst xmlns:a="http://schemas.openxmlformats.org/drawingml/2006/main">
              <a:ext uri="{FF2B5EF4-FFF2-40B4-BE49-F238E27FC236}">
                <a16:creationId xmlns:a16="http://schemas.microsoft.com/office/drawing/2014/main" id="{369F3208-7988-40E5-824C-96F0F74FEBA2}"/>
              </a:ext>
            </a:extLst>
          </p:cNvPr>
          <p:cNvSpPr>
            <a:spLocks xmlns:a="http://schemas.openxmlformats.org/drawingml/2006/main" noGrp="1"/>
          </p:cNvSpPr>
          <p:nvPr/>
        </p:nvSpPr>
        <p:spPr>
          <a:xfrm xmlns:a="http://schemas.openxmlformats.org/drawingml/2006/main">
            <a:off x="895350" y="55721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125" b="1">
                <a:solidFill>
                  <a:srgbClr val="0E8A92"/>
                </a:solidFill>
                <a:latin typeface="Calibri"/>
                <a:ea typeface="Calibri"/>
                <a:cs typeface="Calibri"/>
              </a:defRPr>
            </a:pPr>
            <a:r>
              <a:rPr sz="1125" b="1">
                <a:solidFill>
                  <a:srgbClr val="0E8A92"/>
                </a:solidFill>
                <a:latin typeface="Calibri"/>
                <a:ea typeface="Calibri"/>
                <a:cs typeface="Calibri"/>
              </a:rPr>
              <a:t>Research question</a:t>
            </a:r>
          </a:p>
        </p:txBody>
      </p:sp>
      <p:sp>
        <p:nvSpPr>
          <p:cNvPr id="9" name="">
            <a:extLst xmlns:a="http://schemas.openxmlformats.org/drawingml/2006/main">
              <a:ext uri="{FF2B5EF4-FFF2-40B4-BE49-F238E27FC236}">
                <a16:creationId xmlns:a16="http://schemas.microsoft.com/office/drawing/2014/main" id="{0269B9A9-8CFB-4D62-82D2-C8F27DF75EBE}"/>
              </a:ext>
            </a:extLst>
          </p:cNvPr>
          <p:cNvSpPr>
            <a:spLocks xmlns:a="http://schemas.openxmlformats.org/drawingml/2006/main" noGrp="1"/>
          </p:cNvSpPr>
          <p:nvPr/>
        </p:nvSpPr>
        <p:spPr>
          <a:xfrm xmlns:a="http://schemas.openxmlformats.org/drawingml/2006/main">
            <a:off x="2705100" y="5524500"/>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575" b="1">
                <a:solidFill>
                  <a:srgbClr val="132433"/>
                </a:solidFill>
                <a:latin typeface="Calibri"/>
                <a:ea typeface="Calibri"/>
                <a:cs typeface="Calibri"/>
              </a:defRPr>
            </a:pPr>
            <a:r>
              <a:rPr sz="1575" b="1">
                <a:solidFill>
                  <a:srgbClr val="132433"/>
                </a:solidFill>
                <a:latin typeface="Calibri"/>
                <a:ea typeface="Calibri"/>
                <a:cs typeface="Calibri"/>
              </a:rPr>
              <a:t>Can recent stream behaviour provide a useful warning before a known drift onset?</a:t>
            </a:r>
          </a:p>
        </p:txBody>
      </p:sp>
    </p:spTree>
    <p:extLst>
      <p:ext uri="{BB962C8B-B14F-4D97-AF65-F5344CB8AC3E}">
        <p14:creationId xmlns:p14="http://schemas.microsoft.com/office/powerpoint/2010/main" val="64361278"/>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677C37-45DE-4A85-A494-2CB9404A079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7C7D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356067-BE12-4977-9150-BDF63F15CB86}"/>
              </a:ext>
            </a:extLst>
          </p:cNvPr>
          <p:cNvSpPr>
            <a:spLocks xmlns:a="http://schemas.openxmlformats.org/drawingml/2006/main" noGrp="1"/>
          </p:cNvSpPr>
          <p:nvPr/>
        </p:nvSpPr>
        <p:spPr>
          <a:xfrm xmlns:a="http://schemas.openxmlformats.org/drawingml/2006/main">
            <a:off x="609600" y="2667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75" b="1">
                <a:solidFill>
                  <a:srgbClr val="0E8A92"/>
                </a:solidFill>
                <a:latin typeface="Calibri"/>
                <a:ea typeface="Calibri"/>
                <a:cs typeface="Calibri"/>
              </a:defRPr>
            </a:pPr>
            <a:r>
              <a:rPr sz="975" b="1">
                <a:solidFill>
                  <a:srgbClr val="0E8A92"/>
                </a:solidFill>
                <a:latin typeface="Calibri"/>
                <a:ea typeface="Calibri"/>
                <a:cs typeface="Calibri"/>
              </a:rPr>
              <a:t>PRIOR WORK</a:t>
            </a:r>
          </a:p>
        </p:txBody>
      </p:sp>
      <p:sp>
        <p:nvSpPr>
          <p:cNvPr id="3" name="">
            <a:extLst xmlns:a="http://schemas.openxmlformats.org/drawingml/2006/main">
              <a:ext uri="{FF2B5EF4-FFF2-40B4-BE49-F238E27FC236}">
                <a16:creationId xmlns:a16="http://schemas.microsoft.com/office/drawing/2014/main" id="{C5AC00F1-ED59-4474-8904-4DC0D90B191D}"/>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2550" b="1">
                <a:solidFill>
                  <a:srgbClr val="132433"/>
                </a:solidFill>
                <a:latin typeface="Calibri"/>
                <a:ea typeface="Calibri"/>
                <a:cs typeface="Calibri"/>
              </a:defRPr>
            </a:pPr>
            <a:r>
              <a:rPr sz="2550" b="1">
                <a:solidFill>
                  <a:srgbClr val="132433"/>
                </a:solidFill>
                <a:latin typeface="Calibri"/>
                <a:ea typeface="Calibri"/>
                <a:cs typeface="Calibri"/>
              </a:rPr>
              <a:t>Literature Review</a:t>
            </a:r>
          </a:p>
        </p:txBody>
      </p:sp>
      <p:sp>
        <p:nvSpPr>
          <p:cNvPr id="4" name="">
            <a:extLst xmlns:a="http://schemas.openxmlformats.org/drawingml/2006/main">
              <a:ext uri="{FF2B5EF4-FFF2-40B4-BE49-F238E27FC236}">
                <a16:creationId xmlns:a16="http://schemas.microsoft.com/office/drawing/2014/main" id="{A1E2518E-5AFD-498A-A95E-B4C7D26F7FF5}"/>
              </a:ext>
            </a:extLst>
          </p:cNvPr>
          <p:cNvSpPr>
            <a:spLocks xmlns:a="http://schemas.openxmlformats.org/drawingml/2006/main" noGrp="1"/>
          </p:cNvSpPr>
          <p:nvPr/>
        </p:nvSpPr>
        <p:spPr>
          <a:xfrm xmlns:a="http://schemas.openxmlformats.org/drawingml/2006/main">
            <a:off x="11334750" y="62674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r">
              <a:defRPr sz="975" b="0">
                <a:solidFill>
                  <a:srgbClr val="5C6B77"/>
                </a:solidFill>
                <a:latin typeface="Calibri"/>
                <a:ea typeface="Calibri"/>
                <a:cs typeface="Calibri"/>
              </a:defRPr>
            </a:pPr>
            <a:r>
              <a:rPr sz="975" b="0">
                <a:solidFill>
                  <a:srgbClr val="5C6B77"/>
                </a:solidFill>
                <a:latin typeface="Calibri"/>
                <a:ea typeface="Calibri"/>
                <a:cs typeface="Calibri"/>
              </a:rPr>
              <a:t>03</a:t>
            </a:r>
          </a:p>
        </p:txBody>
      </p:sp>
      <p:sp>
        <p:nvSpPr>
          <p:cNvPr id="5" name="">
            <a:extLst xmlns:a="http://schemas.openxmlformats.org/drawingml/2006/main">
              <a:ext uri="{FF2B5EF4-FFF2-40B4-BE49-F238E27FC236}">
                <a16:creationId xmlns:a16="http://schemas.microsoft.com/office/drawing/2014/main" id="{0DED4915-FED3-48ED-A13C-C6611FF7F4A9}"/>
              </a:ext>
            </a:extLst>
          </p:cNvPr>
          <p:cNvSpPr>
            <a:spLocks xmlns:a="http://schemas.openxmlformats.org/drawingml/2006/main" noGrp="1"/>
          </p:cNvSpPr>
          <p:nvPr/>
        </p:nvSpPr>
        <p:spPr>
          <a:xfrm xmlns:a="http://schemas.openxmlformats.org/drawingml/2006/main">
            <a:off x="609600" y="62674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00" b="0">
                <a:solidFill>
                  <a:srgbClr val="5C6B77"/>
                </a:solidFill>
                <a:latin typeface="Calibri"/>
                <a:ea typeface="Calibri"/>
                <a:cs typeface="Calibri"/>
              </a:defRPr>
            </a:pPr>
            <a:r>
              <a:rPr sz="900" b="0">
                <a:solidFill>
                  <a:srgbClr val="5C6B77"/>
                </a:solidFill>
                <a:latin typeface="Calibri"/>
                <a:ea typeface="Calibri"/>
                <a:cs typeface="Calibri"/>
              </a:rPr>
              <a:t>DriftSentinel  |  Review 2</a:t>
            </a:r>
          </a:p>
        </p:txBody>
      </p:sp>
      <p:graphicFrame>
        <p:nvGraphicFramePr>
          <p:cNvPr id="13" name=""/>
          <p:cNvGraphicFramePr/>
          <p:nvPr/>
        </p:nvGraphicFramePr>
        <p:xfrm>
          <a:off xmlns:a="http://schemas.openxmlformats.org/drawingml/2006/main" x="552450" y="1314450"/>
          <a:ext xmlns:a="http://schemas.openxmlformats.org/drawingml/2006/main" cx="11087100" cy="3714750"/>
        </p:xfrm>
        <a:graphic xmlns:a="http://schemas.openxmlformats.org/drawingml/2006/main">
          <a:graphicData uri="http://schemas.openxmlformats.org/drawingml/2006/table">
            <a:tbl>
              <a:tblPr/>
              <a:tblGrid>
                <a:gridCol w="1571625"/>
                <a:gridCol w="1857375"/>
                <a:gridCol w="2476500"/>
                <a:gridCol w="2476500"/>
                <a:gridCol w="2705100"/>
              </a:tblGrid>
              <a:tr h="361950">
                <a:tc>
                  <a:txBody>
                    <a:bodyPr/>
                    <a:lstStyle/>
                    <a:p>
                      <a:r>
                        <a:rPr sz="1050" b="1">
                          <a:solidFill>
                            <a:srgbClr val="132433"/>
                          </a:solidFill>
                          <a:latin typeface="Calibri"/>
                          <a:ea typeface="Calibri"/>
                          <a:cs typeface="Calibri"/>
                        </a:rPr>
                        <a:t>Author / Year</a:t>
                      </a:r>
                    </a:p>
                  </a:txBody>
                  <a:tcPr marL="91440" marR="91440" marT="45720" marB="45720"/>
                </a:tc>
                <a:tc>
                  <a:txBody>
                    <a:bodyPr/>
                    <a:lstStyle/>
                    <a:p>
                      <a:r>
                        <a:rPr sz="1050" b="1">
                          <a:solidFill>
                            <a:srgbClr val="132433"/>
                          </a:solidFill>
                          <a:latin typeface="Calibri"/>
                          <a:ea typeface="Calibri"/>
                          <a:cs typeface="Calibri"/>
                        </a:rPr>
                        <a:t>Method / Dataset</a:t>
                      </a:r>
                    </a:p>
                  </a:txBody>
                  <a:tcPr marL="91440" marR="91440" marT="45720" marB="45720"/>
                </a:tc>
                <a:tc>
                  <a:txBody>
                    <a:bodyPr/>
                    <a:lstStyle/>
                    <a:p>
                      <a:r>
                        <a:rPr sz="1050" b="1">
                          <a:solidFill>
                            <a:srgbClr val="132433"/>
                          </a:solidFill>
                          <a:latin typeface="Calibri"/>
                          <a:ea typeface="Calibri"/>
                          <a:cs typeface="Calibri"/>
                        </a:rPr>
                        <a:t>Key idea</a:t>
                      </a:r>
                    </a:p>
                  </a:txBody>
                  <a:tcPr marL="91440" marR="91440" marT="45720" marB="45720"/>
                </a:tc>
                <a:tc>
                  <a:txBody>
                    <a:bodyPr/>
                    <a:lstStyle/>
                    <a:p>
                      <a:r>
                        <a:rPr sz="1050" b="1">
                          <a:solidFill>
                            <a:srgbClr val="132433"/>
                          </a:solidFill>
                          <a:latin typeface="Calibri"/>
                          <a:ea typeface="Calibri"/>
                          <a:cs typeface="Calibri"/>
                        </a:rPr>
                        <a:t>Limitation</a:t>
                      </a:r>
                    </a:p>
                  </a:txBody>
                  <a:tcPr marL="91440" marR="91440" marT="45720" marB="45720"/>
                </a:tc>
                <a:tc>
                  <a:txBody>
                    <a:bodyPr/>
                    <a:lstStyle/>
                    <a:p>
                      <a:r>
                        <a:rPr sz="1050" b="1">
                          <a:solidFill>
                            <a:srgbClr val="132433"/>
                          </a:solidFill>
                          <a:latin typeface="Calibri"/>
                          <a:ea typeface="Calibri"/>
                          <a:cs typeface="Calibri"/>
                        </a:rPr>
                        <a:t>Relevance</a:t>
                      </a:r>
                    </a:p>
                  </a:txBody>
                  <a:tcPr marL="91440" marR="91440" marT="45720" marB="45720"/>
                </a:tc>
              </a:tr>
              <a:tr h="400050">
                <a:tc>
                  <a:txBody>
                    <a:bodyPr/>
                    <a:lstStyle/>
                    <a:p>
                      <a:r>
                        <a:rPr sz="975" b="0">
                          <a:solidFill>
                            <a:srgbClr val="132433"/>
                          </a:solidFill>
                          <a:latin typeface="Calibri"/>
                          <a:ea typeface="Calibri"/>
                          <a:cs typeface="Calibri"/>
                        </a:rPr>
                        <a:t>Gama et al., 2014</a:t>
                      </a:r>
                    </a:p>
                  </a:txBody>
                  <a:tcPr marL="91440" marR="91440" marT="45720" marB="45720"/>
                </a:tc>
                <a:tc>
                  <a:txBody>
                    <a:bodyPr/>
                    <a:lstStyle/>
                    <a:p>
                      <a:r>
                        <a:rPr sz="975" b="0">
                          <a:solidFill>
                            <a:srgbClr val="132433"/>
                          </a:solidFill>
                          <a:latin typeface="Calibri"/>
                          <a:ea typeface="Calibri"/>
                          <a:cs typeface="Calibri"/>
                        </a:rPr>
                        <a:t>Concept drift survey</a:t>
                      </a:r>
                    </a:p>
                  </a:txBody>
                  <a:tcPr marL="91440" marR="91440" marT="45720" marB="45720"/>
                </a:tc>
                <a:tc>
                  <a:txBody>
                    <a:bodyPr/>
                    <a:lstStyle/>
                    <a:p>
                      <a:r>
                        <a:rPr sz="975" b="0">
                          <a:solidFill>
                            <a:srgbClr val="132433"/>
                          </a:solidFill>
                          <a:latin typeface="Calibri"/>
                          <a:ea typeface="Calibri"/>
                          <a:cs typeface="Calibri"/>
                        </a:rPr>
                        <a:t>Detection and adaptation taxonomy</a:t>
                      </a:r>
                    </a:p>
                  </a:txBody>
                  <a:tcPr marL="91440" marR="91440" marT="45720" marB="45720"/>
                </a:tc>
                <a:tc>
                  <a:txBody>
                    <a:bodyPr/>
                    <a:lstStyle/>
                    <a:p>
                      <a:r>
                        <a:rPr sz="975" b="0">
                          <a:solidFill>
                            <a:srgbClr val="132433"/>
                          </a:solidFill>
                          <a:latin typeface="Calibri"/>
                          <a:ea typeface="Calibri"/>
                          <a:cs typeface="Calibri"/>
                        </a:rPr>
                        <a:t>Early warning is not central</a:t>
                      </a:r>
                    </a:p>
                  </a:txBody>
                  <a:tcPr marL="91440" marR="91440" marT="45720" marB="45720"/>
                </a:tc>
                <a:tc>
                  <a:txBody>
                    <a:bodyPr/>
                    <a:lstStyle/>
                    <a:p>
                      <a:r>
                        <a:rPr sz="975" b="0">
                          <a:solidFill>
                            <a:srgbClr val="132433"/>
                          </a:solidFill>
                          <a:latin typeface="Calibri"/>
                          <a:ea typeface="Calibri"/>
                          <a:cs typeface="Calibri"/>
                        </a:rPr>
                        <a:t>Frames the research problem</a:t>
                      </a:r>
                    </a:p>
                  </a:txBody>
                  <a:tcPr marL="91440" marR="91440" marT="45720" marB="45720"/>
                </a:tc>
              </a:tr>
              <a:tr h="400050">
                <a:tc>
                  <a:txBody>
                    <a:bodyPr/>
                    <a:lstStyle/>
                    <a:p>
                      <a:r>
                        <a:rPr sz="975" b="0">
                          <a:solidFill>
                            <a:srgbClr val="132433"/>
                          </a:solidFill>
                          <a:latin typeface="Calibri"/>
                          <a:ea typeface="Calibri"/>
                          <a:cs typeface="Calibri"/>
                        </a:rPr>
                        <a:t>Gama et al., 2004</a:t>
                      </a:r>
                    </a:p>
                  </a:txBody>
                  <a:tcPr marL="91440" marR="91440" marT="45720" marB="45720"/>
                </a:tc>
                <a:tc>
                  <a:txBody>
                    <a:bodyPr/>
                    <a:lstStyle/>
                    <a:p>
                      <a:r>
                        <a:rPr sz="975" b="0">
                          <a:solidFill>
                            <a:srgbClr val="132433"/>
                          </a:solidFill>
                          <a:latin typeface="Calibri"/>
                          <a:ea typeface="Calibri"/>
                          <a:cs typeface="Calibri"/>
                        </a:rPr>
                        <a:t>DDM</a:t>
                      </a:r>
                    </a:p>
                  </a:txBody>
                  <a:tcPr marL="91440" marR="91440" marT="45720" marB="45720"/>
                </a:tc>
                <a:tc>
                  <a:txBody>
                    <a:bodyPr/>
                    <a:lstStyle/>
                    <a:p>
                      <a:r>
                        <a:rPr sz="975" b="0">
                          <a:solidFill>
                            <a:srgbClr val="132433"/>
                          </a:solidFill>
                          <a:latin typeface="Calibri"/>
                          <a:ea typeface="Calibri"/>
                          <a:cs typeface="Calibri"/>
                        </a:rPr>
                        <a:t>Monitors online error statistics</a:t>
                      </a:r>
                    </a:p>
                  </a:txBody>
                  <a:tcPr marL="91440" marR="91440" marT="45720" marB="45720"/>
                </a:tc>
                <a:tc>
                  <a:txBody>
                    <a:bodyPr/>
                    <a:lstStyle/>
                    <a:p>
                      <a:r>
                        <a:rPr sz="975" b="0">
                          <a:solidFill>
                            <a:srgbClr val="132433"/>
                          </a:solidFill>
                          <a:latin typeface="Calibri"/>
                          <a:ea typeface="Calibri"/>
                          <a:cs typeface="Calibri"/>
                        </a:rPr>
                        <a:t>Reactive and label-dependent</a:t>
                      </a:r>
                    </a:p>
                  </a:txBody>
                  <a:tcPr marL="91440" marR="91440" marT="45720" marB="45720"/>
                </a:tc>
                <a:tc>
                  <a:txBody>
                    <a:bodyPr/>
                    <a:lstStyle/>
                    <a:p>
                      <a:r>
                        <a:rPr sz="975" b="0">
                          <a:solidFill>
                            <a:srgbClr val="132433"/>
                          </a:solidFill>
                          <a:latin typeface="Calibri"/>
                          <a:ea typeface="Calibri"/>
                          <a:cs typeface="Calibri"/>
                        </a:rPr>
                        <a:t>Reactive baseline</a:t>
                      </a:r>
                    </a:p>
                  </a:txBody>
                  <a:tcPr marL="91440" marR="91440" marT="45720" marB="45720"/>
                </a:tc>
              </a:tr>
              <a:tr h="400050">
                <a:tc>
                  <a:txBody>
                    <a:bodyPr/>
                    <a:lstStyle/>
                    <a:p>
                      <a:r>
                        <a:rPr sz="975" b="0">
                          <a:solidFill>
                            <a:srgbClr val="132433"/>
                          </a:solidFill>
                          <a:latin typeface="Calibri"/>
                          <a:ea typeface="Calibri"/>
                          <a:cs typeface="Calibri"/>
                        </a:rPr>
                        <a:t>Bifet and Gavaldà, 2007</a:t>
                      </a:r>
                    </a:p>
                  </a:txBody>
                  <a:tcPr marL="91440" marR="91440" marT="45720" marB="45720"/>
                </a:tc>
                <a:tc>
                  <a:txBody>
                    <a:bodyPr/>
                    <a:lstStyle/>
                    <a:p>
                      <a:r>
                        <a:rPr sz="975" b="0">
                          <a:solidFill>
                            <a:srgbClr val="132433"/>
                          </a:solidFill>
                          <a:latin typeface="Calibri"/>
                          <a:ea typeface="Calibri"/>
                          <a:cs typeface="Calibri"/>
                        </a:rPr>
                        <a:t>ADWIN</a:t>
                      </a:r>
                    </a:p>
                  </a:txBody>
                  <a:tcPr marL="91440" marR="91440" marT="45720" marB="45720"/>
                </a:tc>
                <a:tc>
                  <a:txBody>
                    <a:bodyPr/>
                    <a:lstStyle/>
                    <a:p>
                      <a:r>
                        <a:rPr sz="975" b="0">
                          <a:solidFill>
                            <a:srgbClr val="132433"/>
                          </a:solidFill>
                          <a:latin typeface="Calibri"/>
                          <a:ea typeface="Calibri"/>
                          <a:cs typeface="Calibri"/>
                        </a:rPr>
                        <a:t>Adaptive windows test mean change</a:t>
                      </a:r>
                    </a:p>
                  </a:txBody>
                  <a:tcPr marL="91440" marR="91440" marT="45720" marB="45720"/>
                </a:tc>
                <a:tc>
                  <a:txBody>
                    <a:bodyPr/>
                    <a:lstStyle/>
                    <a:p>
                      <a:r>
                        <a:rPr sz="975" b="0">
                          <a:solidFill>
                            <a:srgbClr val="132433"/>
                          </a:solidFill>
                          <a:latin typeface="Calibri"/>
                          <a:ea typeface="Calibri"/>
                          <a:cs typeface="Calibri"/>
                        </a:rPr>
                        <a:t>Evidence accumulates after change</a:t>
                      </a:r>
                    </a:p>
                  </a:txBody>
                  <a:tcPr marL="91440" marR="91440" marT="45720" marB="45720"/>
                </a:tc>
                <a:tc>
                  <a:txBody>
                    <a:bodyPr/>
                    <a:lstStyle/>
                    <a:p>
                      <a:r>
                        <a:rPr sz="975" b="0">
                          <a:solidFill>
                            <a:srgbClr val="132433"/>
                          </a:solidFill>
                          <a:latin typeface="Calibri"/>
                          <a:ea typeface="Calibri"/>
                          <a:cs typeface="Calibri"/>
                        </a:rPr>
                        <a:t>Statistical baseline</a:t>
                      </a:r>
                    </a:p>
                  </a:txBody>
                  <a:tcPr marL="91440" marR="91440" marT="45720" marB="45720"/>
                </a:tc>
              </a:tr>
              <a:tr h="400050">
                <a:tc>
                  <a:txBody>
                    <a:bodyPr/>
                    <a:lstStyle/>
                    <a:p>
                      <a:r>
                        <a:rPr sz="975" b="0">
                          <a:solidFill>
                            <a:srgbClr val="132433"/>
                          </a:solidFill>
                          <a:latin typeface="Calibri"/>
                          <a:ea typeface="Calibri"/>
                          <a:cs typeface="Calibri"/>
                        </a:rPr>
                        <a:t>Raab et al., 2020</a:t>
                      </a:r>
                    </a:p>
                  </a:txBody>
                  <a:tcPr marL="91440" marR="91440" marT="45720" marB="45720"/>
                </a:tc>
                <a:tc>
                  <a:txBody>
                    <a:bodyPr/>
                    <a:lstStyle/>
                    <a:p>
                      <a:r>
                        <a:rPr sz="975" b="0">
                          <a:solidFill>
                            <a:srgbClr val="132433"/>
                          </a:solidFill>
                          <a:latin typeface="Calibri"/>
                          <a:ea typeface="Calibri"/>
                          <a:cs typeface="Calibri"/>
                        </a:rPr>
                        <a:t>KS-based drift test</a:t>
                      </a:r>
                    </a:p>
                  </a:txBody>
                  <a:tcPr marL="91440" marR="91440" marT="45720" marB="45720"/>
                </a:tc>
                <a:tc>
                  <a:txBody>
                    <a:bodyPr/>
                    <a:lstStyle/>
                    <a:p>
                      <a:r>
                        <a:rPr sz="975" b="0">
                          <a:solidFill>
                            <a:srgbClr val="132433"/>
                          </a:solidFill>
                          <a:latin typeface="Calibri"/>
                          <a:ea typeface="Calibri"/>
                          <a:cs typeface="Calibri"/>
                        </a:rPr>
                        <a:t>Non-parametric window comparison</a:t>
                      </a:r>
                    </a:p>
                  </a:txBody>
                  <a:tcPr marL="91440" marR="91440" marT="45720" marB="45720"/>
                </a:tc>
                <a:tc>
                  <a:txBody>
                    <a:bodyPr/>
                    <a:lstStyle/>
                    <a:p>
                      <a:r>
                        <a:rPr sz="975" b="0">
                          <a:solidFill>
                            <a:srgbClr val="132433"/>
                          </a:solidFill>
                          <a:latin typeface="Calibri"/>
                          <a:ea typeface="Calibri"/>
                          <a:cs typeface="Calibri"/>
                        </a:rPr>
                        <a:t>Distribution alarm, not prediction</a:t>
                      </a:r>
                    </a:p>
                  </a:txBody>
                  <a:tcPr marL="91440" marR="91440" marT="45720" marB="45720"/>
                </a:tc>
                <a:tc>
                  <a:txBody>
                    <a:bodyPr/>
                    <a:lstStyle/>
                    <a:p>
                      <a:r>
                        <a:rPr sz="975" b="0">
                          <a:solidFill>
                            <a:srgbClr val="132433"/>
                          </a:solidFill>
                          <a:latin typeface="Calibri"/>
                          <a:ea typeface="Calibri"/>
                          <a:cs typeface="Calibri"/>
                        </a:rPr>
                        <a:t>KSWIN comparison</a:t>
                      </a:r>
                    </a:p>
                  </a:txBody>
                  <a:tcPr marL="91440" marR="91440" marT="45720" marB="45720"/>
                </a:tc>
              </a:tr>
              <a:tr h="400050">
                <a:tc>
                  <a:txBody>
                    <a:bodyPr/>
                    <a:lstStyle/>
                    <a:p>
                      <a:r>
                        <a:rPr sz="975" b="0">
                          <a:solidFill>
                            <a:srgbClr val="132433"/>
                          </a:solidFill>
                          <a:latin typeface="Calibri"/>
                          <a:ea typeface="Calibri"/>
                          <a:cs typeface="Calibri"/>
                        </a:rPr>
                        <a:t>Souza et al., 2020</a:t>
                      </a:r>
                    </a:p>
                  </a:txBody>
                  <a:tcPr marL="91440" marR="91440" marT="45720" marB="45720"/>
                </a:tc>
                <a:tc>
                  <a:txBody>
                    <a:bodyPr/>
                    <a:lstStyle/>
                    <a:p>
                      <a:r>
                        <a:rPr sz="975" b="0">
                          <a:solidFill>
                            <a:srgbClr val="132433"/>
                          </a:solidFill>
                          <a:latin typeface="Calibri"/>
                          <a:ea typeface="Calibri"/>
                          <a:cs typeface="Calibri"/>
                        </a:rPr>
                        <a:t>INSECTS streams</a:t>
                      </a:r>
                    </a:p>
                  </a:txBody>
                  <a:tcPr marL="91440" marR="91440" marT="45720" marB="45720"/>
                </a:tc>
                <a:tc>
                  <a:txBody>
                    <a:bodyPr/>
                    <a:lstStyle/>
                    <a:p>
                      <a:r>
                        <a:rPr sz="975" b="0">
                          <a:solidFill>
                            <a:srgbClr val="132433"/>
                          </a:solidFill>
                          <a:latin typeface="Calibri"/>
                          <a:ea typeface="Calibri"/>
                          <a:cs typeface="Calibri"/>
                        </a:rPr>
                        <a:t>Controlled real drift benchmark</a:t>
                      </a:r>
                    </a:p>
                  </a:txBody>
                  <a:tcPr marL="91440" marR="91440" marT="45720" marB="45720"/>
                </a:tc>
                <a:tc>
                  <a:txBody>
                    <a:bodyPr/>
                    <a:lstStyle/>
                    <a:p>
                      <a:r>
                        <a:rPr sz="975" b="0">
                          <a:solidFill>
                            <a:srgbClr val="132433"/>
                          </a:solidFill>
                          <a:latin typeface="Calibri"/>
                          <a:ea typeface="Calibri"/>
                          <a:cs typeface="Calibri"/>
                        </a:rPr>
                        <a:t>Few verified real event streams</a:t>
                      </a:r>
                    </a:p>
                  </a:txBody>
                  <a:tcPr marL="91440" marR="91440" marT="45720" marB="45720"/>
                </a:tc>
                <a:tc>
                  <a:txBody>
                    <a:bodyPr/>
                    <a:lstStyle/>
                    <a:p>
                      <a:r>
                        <a:rPr sz="975" b="0">
                          <a:solidFill>
                            <a:srgbClr val="132433"/>
                          </a:solidFill>
                          <a:latin typeface="Calibri"/>
                          <a:ea typeface="Calibri"/>
                          <a:cs typeface="Calibri"/>
                        </a:rPr>
                        <a:t>Real benchmark</a:t>
                      </a:r>
                    </a:p>
                  </a:txBody>
                  <a:tcPr marL="91440" marR="91440" marT="45720" marB="45720"/>
                </a:tc>
              </a:tr>
              <a:tr h="400050">
                <a:tc>
                  <a:txBody>
                    <a:bodyPr/>
                    <a:lstStyle/>
                    <a:p>
                      <a:r>
                        <a:rPr sz="975" b="0">
                          <a:solidFill>
                            <a:srgbClr val="132433"/>
                          </a:solidFill>
                          <a:latin typeface="Calibri"/>
                          <a:ea typeface="Calibri"/>
                          <a:cs typeface="Calibri"/>
                        </a:rPr>
                        <a:t>Cho et al., 2014; Vaswani et al., 2017</a:t>
                      </a:r>
                    </a:p>
                  </a:txBody>
                  <a:tcPr marL="91440" marR="91440" marT="45720" marB="45720"/>
                </a:tc>
                <a:tc>
                  <a:txBody>
                    <a:bodyPr/>
                    <a:lstStyle/>
                    <a:p>
                      <a:r>
                        <a:rPr sz="975" b="0">
                          <a:solidFill>
                            <a:srgbClr val="132433"/>
                          </a:solidFill>
                          <a:latin typeface="Calibri"/>
                          <a:ea typeface="Calibri"/>
                          <a:cs typeface="Calibri"/>
                        </a:rPr>
                        <a:t>GRU / Transformer</a:t>
                      </a:r>
                    </a:p>
                  </a:txBody>
                  <a:tcPr marL="91440" marR="91440" marT="45720" marB="45720"/>
                </a:tc>
                <a:tc>
                  <a:txBody>
                    <a:bodyPr/>
                    <a:lstStyle/>
                    <a:p>
                      <a:r>
                        <a:rPr sz="975" b="0">
                          <a:solidFill>
                            <a:srgbClr val="132433"/>
                          </a:solidFill>
                          <a:latin typeface="Calibri"/>
                          <a:ea typeface="Calibri"/>
                          <a:cs typeface="Calibri"/>
                        </a:rPr>
                        <a:t>Gated recurrence versus attention</a:t>
                      </a:r>
                    </a:p>
                  </a:txBody>
                  <a:tcPr marL="91440" marR="91440" marT="45720" marB="45720"/>
                </a:tc>
                <a:tc>
                  <a:txBody>
                    <a:bodyPr/>
                    <a:lstStyle/>
                    <a:p>
                      <a:r>
                        <a:rPr sz="975" b="0">
                          <a:solidFill>
                            <a:srgbClr val="132433"/>
                          </a:solidFill>
                          <a:latin typeface="Calibri"/>
                          <a:ea typeface="Calibri"/>
                          <a:cs typeface="Calibri"/>
                        </a:rPr>
                        <a:t>Not designed for sparse drift events</a:t>
                      </a:r>
                    </a:p>
                  </a:txBody>
                  <a:tcPr marL="91440" marR="91440" marT="45720" marB="45720"/>
                </a:tc>
                <a:tc>
                  <a:txBody>
                    <a:bodyPr/>
                    <a:lstStyle/>
                    <a:p>
                      <a:r>
                        <a:rPr sz="975" b="0">
                          <a:solidFill>
                            <a:srgbClr val="132433"/>
                          </a:solidFill>
                          <a:latin typeface="Calibri"/>
                          <a:ea typeface="Calibri"/>
                          <a:cs typeface="Calibri"/>
                        </a:rPr>
                        <a:t>Sequence models</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F4CC05D9-A672-42FB-BF73-BBF5D64CD0CE}"/>
              </a:ext>
            </a:extLst>
          </p:cNvPr>
          <p:cNvSpPr>
            <a:spLocks xmlns:a="http://schemas.openxmlformats.org/drawingml/2006/main" noGrp="1"/>
          </p:cNvSpPr>
          <p:nvPr/>
        </p:nvSpPr>
        <p:spPr>
          <a:xfrm xmlns:a="http://schemas.openxmlformats.org/drawingml/2006/main">
            <a:off x="742950" y="55435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125" b="0">
                <a:solidFill>
                  <a:srgbClr val="5C6B77"/>
                </a:solidFill>
                <a:latin typeface="Calibri"/>
                <a:ea typeface="Calibri"/>
                <a:cs typeface="Calibri"/>
              </a:defRPr>
            </a:pPr>
            <a:r>
              <a:rPr sz="1125" b="0">
                <a:solidFill>
                  <a:srgbClr val="5C6B77"/>
                </a:solidFill>
                <a:latin typeface="Calibri"/>
                <a:ea typeface="Calibri"/>
                <a:cs typeface="Calibri"/>
              </a:rPr>
              <a:t>Detection and sequence modelling are mature; strict pre-onset utility and adaptation cost remain less studied.</a:t>
            </a:r>
          </a:p>
        </p:txBody>
      </p:sp>
    </p:spTree>
    <p:extLst>
      <p:ext uri="{BB962C8B-B14F-4D97-AF65-F5344CB8AC3E}">
        <p14:creationId xmlns:p14="http://schemas.microsoft.com/office/powerpoint/2010/main" val="68879345"/>
      </p:ext>
    </p:extLst>
  </p:cSld>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A511EAD-1226-4CDD-BB61-37C7A672A19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7C7D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A46199-202D-4044-A7C8-AABECE6BDDCE}"/>
              </a:ext>
            </a:extLst>
          </p:cNvPr>
          <p:cNvSpPr>
            <a:spLocks xmlns:a="http://schemas.openxmlformats.org/drawingml/2006/main" noGrp="1"/>
          </p:cNvSpPr>
          <p:nvPr/>
        </p:nvSpPr>
        <p:spPr>
          <a:xfrm xmlns:a="http://schemas.openxmlformats.org/drawingml/2006/main">
            <a:off x="609600" y="2667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75" b="1">
                <a:solidFill>
                  <a:srgbClr val="0E8A92"/>
                </a:solidFill>
                <a:latin typeface="Calibri"/>
                <a:ea typeface="Calibri"/>
                <a:cs typeface="Calibri"/>
              </a:defRPr>
            </a:pPr>
            <a:r>
              <a:rPr sz="975" b="1">
                <a:solidFill>
                  <a:srgbClr val="0E8A92"/>
                </a:solidFill>
                <a:latin typeface="Calibri"/>
                <a:ea typeface="Calibri"/>
                <a:cs typeface="Calibri"/>
              </a:rPr>
              <a:t>MOTIVATION</a:t>
            </a:r>
          </a:p>
        </p:txBody>
      </p:sp>
      <p:sp>
        <p:nvSpPr>
          <p:cNvPr id="3" name="">
            <a:extLst xmlns:a="http://schemas.openxmlformats.org/drawingml/2006/main">
              <a:ext uri="{FF2B5EF4-FFF2-40B4-BE49-F238E27FC236}">
                <a16:creationId xmlns:a16="http://schemas.microsoft.com/office/drawing/2014/main" id="{0C24B3A5-1D37-4563-9EA3-E1841D3A83A2}"/>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2550" b="1">
                <a:solidFill>
                  <a:srgbClr val="132433"/>
                </a:solidFill>
                <a:latin typeface="Calibri"/>
                <a:ea typeface="Calibri"/>
                <a:cs typeface="Calibri"/>
              </a:defRPr>
            </a:pPr>
            <a:r>
              <a:rPr sz="2550" b="1">
                <a:solidFill>
                  <a:srgbClr val="132433"/>
                </a:solidFill>
                <a:latin typeface="Calibri"/>
                <a:ea typeface="Calibri"/>
                <a:cs typeface="Calibri"/>
              </a:rPr>
              <a:t>Research Gaps</a:t>
            </a:r>
          </a:p>
        </p:txBody>
      </p:sp>
      <p:sp>
        <p:nvSpPr>
          <p:cNvPr id="4" name="">
            <a:extLst xmlns:a="http://schemas.openxmlformats.org/drawingml/2006/main">
              <a:ext uri="{FF2B5EF4-FFF2-40B4-BE49-F238E27FC236}">
                <a16:creationId xmlns:a16="http://schemas.microsoft.com/office/drawing/2014/main" id="{14F7B77F-3220-4105-99D9-3A3EC32E768F}"/>
              </a:ext>
            </a:extLst>
          </p:cNvPr>
          <p:cNvSpPr>
            <a:spLocks xmlns:a="http://schemas.openxmlformats.org/drawingml/2006/main" noGrp="1"/>
          </p:cNvSpPr>
          <p:nvPr/>
        </p:nvSpPr>
        <p:spPr>
          <a:xfrm xmlns:a="http://schemas.openxmlformats.org/drawingml/2006/main">
            <a:off x="11334750" y="62674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r">
              <a:defRPr sz="975" b="0">
                <a:solidFill>
                  <a:srgbClr val="5C6B77"/>
                </a:solidFill>
                <a:latin typeface="Calibri"/>
                <a:ea typeface="Calibri"/>
                <a:cs typeface="Calibri"/>
              </a:defRPr>
            </a:pPr>
            <a:r>
              <a:rPr sz="975" b="0">
                <a:solidFill>
                  <a:srgbClr val="5C6B77"/>
                </a:solidFill>
                <a:latin typeface="Calibri"/>
                <a:ea typeface="Calibri"/>
                <a:cs typeface="Calibri"/>
              </a:rPr>
              <a:t>04</a:t>
            </a:r>
          </a:p>
        </p:txBody>
      </p:sp>
      <p:sp>
        <p:nvSpPr>
          <p:cNvPr id="5" name="">
            <a:extLst xmlns:a="http://schemas.openxmlformats.org/drawingml/2006/main">
              <a:ext uri="{FF2B5EF4-FFF2-40B4-BE49-F238E27FC236}">
                <a16:creationId xmlns:a16="http://schemas.microsoft.com/office/drawing/2014/main" id="{8DB7D00C-9867-41D0-B47F-B72B3D5F9EA8}"/>
              </a:ext>
            </a:extLst>
          </p:cNvPr>
          <p:cNvSpPr>
            <a:spLocks xmlns:a="http://schemas.openxmlformats.org/drawingml/2006/main" noGrp="1"/>
          </p:cNvSpPr>
          <p:nvPr/>
        </p:nvSpPr>
        <p:spPr>
          <a:xfrm xmlns:a="http://schemas.openxmlformats.org/drawingml/2006/main">
            <a:off x="609600" y="62674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00" b="0">
                <a:solidFill>
                  <a:srgbClr val="5C6B77"/>
                </a:solidFill>
                <a:latin typeface="Calibri"/>
                <a:ea typeface="Calibri"/>
                <a:cs typeface="Calibri"/>
              </a:defRPr>
            </a:pPr>
            <a:r>
              <a:rPr sz="900" b="0">
                <a:solidFill>
                  <a:srgbClr val="5C6B77"/>
                </a:solidFill>
                <a:latin typeface="Calibri"/>
                <a:ea typeface="Calibri"/>
                <a:cs typeface="Calibri"/>
              </a:rPr>
              <a:t>DriftSentinel  |  Review 2</a:t>
            </a:r>
          </a:p>
        </p:txBody>
      </p:sp>
      <p:sp>
        <p:nvSpPr>
          <p:cNvPr id="6" name="">
            <a:extLst xmlns:a="http://schemas.openxmlformats.org/drawingml/2006/main">
              <a:ext uri="{FF2B5EF4-FFF2-40B4-BE49-F238E27FC236}">
                <a16:creationId xmlns:a16="http://schemas.microsoft.com/office/drawing/2014/main" id="{0379C723-1875-40BE-B92D-8BB646C60FD5}"/>
              </a:ext>
            </a:extLst>
          </p:cNvPr>
          <p:cNvSpPr>
            <a:spLocks xmlns:a="http://schemas.openxmlformats.org/drawingml/2006/main" noGrp="1"/>
          </p:cNvSpPr>
          <p:nvPr/>
        </p:nvSpPr>
        <p:spPr>
          <a:xfrm xmlns:a="http://schemas.openxmlformats.org/drawingml/2006/main">
            <a:off x="781050" y="138112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725" b="1">
                <a:solidFill>
                  <a:srgbClr val="0E8A92"/>
                </a:solidFill>
                <a:latin typeface="Calibri"/>
                <a:ea typeface="Calibri"/>
                <a:cs typeface="Calibri"/>
              </a:defRPr>
            </a:pPr>
            <a:r>
              <a:rPr sz="1725" b="1">
                <a:solidFill>
                  <a:srgbClr val="0E8A92"/>
                </a:solidFill>
                <a:latin typeface="Calibri"/>
                <a:ea typeface="Calibri"/>
                <a:cs typeface="Calibri"/>
              </a:rPr>
              <a:t>What remains under-tested</a:t>
            </a:r>
          </a:p>
        </p:txBody>
      </p:sp>
      <p:sp>
        <p:nvSpPr>
          <p:cNvPr id="7" name="">
            <a:extLst xmlns:a="http://schemas.openxmlformats.org/drawingml/2006/main">
              <a:ext uri="{FF2B5EF4-FFF2-40B4-BE49-F238E27FC236}">
                <a16:creationId xmlns:a16="http://schemas.microsoft.com/office/drawing/2014/main" id="{2AC6134F-5A2C-4AD9-9D7A-63BADB8D2C4C}"/>
              </a:ext>
            </a:extLst>
          </p:cNvPr>
          <p:cNvSpPr>
            <a:spLocks xmlns:a="http://schemas.openxmlformats.org/drawingml/2006/main" noGrp="1"/>
          </p:cNvSpPr>
          <p:nvPr/>
        </p:nvSpPr>
        <p:spPr>
          <a:xfrm xmlns:a="http://schemas.openxmlformats.org/drawingml/2006/main">
            <a:off x="781050" y="1885950"/>
            <a:ext cx="638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54000" indent="-127000" algn="l">
              <a:spcAft>
                <a:spcPts val="1500"/>
              </a:spcAft>
              <a:buChar char="•"/>
              <a:defRPr sz="1800" b="0">
                <a:solidFill>
                  <a:srgbClr val="132433"/>
                </a:solidFill>
                <a:latin typeface="Calibri"/>
                <a:ea typeface="Calibri"/>
                <a:cs typeface="Calibri"/>
              </a:defRPr>
            </a:pPr>
            <a:r>
              <a:rPr sz="1800" b="0">
                <a:solidFill>
                  <a:srgbClr val="132433"/>
                </a:solidFill>
                <a:latin typeface="Calibri"/>
                <a:ea typeface="Calibri"/>
                <a:cs typeface="Calibri"/>
              </a:rPr>
              <a:t>Most drift detectors are reactive rather than predictive.</a:t>
            </a:r>
          </a:p>
          <a:p xmlns:a="http://schemas.openxmlformats.org/drawingml/2006/main">
            <a:pPr marL="254000" indent="-127000" algn="l">
              <a:spcAft>
                <a:spcPts val="1500"/>
              </a:spcAft>
              <a:buChar char="•"/>
              <a:defRPr sz="1800" b="0">
                <a:solidFill>
                  <a:srgbClr val="132433"/>
                </a:solidFill>
                <a:latin typeface="Calibri"/>
                <a:ea typeface="Calibri"/>
                <a:cs typeface="Calibri"/>
              </a:defRPr>
            </a:pPr>
            <a:r>
              <a:rPr sz="1800" b="0">
                <a:solidFill>
                  <a:srgbClr val="132433"/>
                </a:solidFill>
                <a:latin typeface="Calibri"/>
                <a:ea typeface="Calibri"/>
                <a:cs typeface="Calibri"/>
              </a:rPr>
              <a:t>Early-warning evaluation receives less attention than post-change detection accuracy.</a:t>
            </a:r>
          </a:p>
          <a:p xmlns:a="http://schemas.openxmlformats.org/drawingml/2006/main">
            <a:pPr marL="254000" indent="-127000" algn="l">
              <a:spcAft>
                <a:spcPts val="1500"/>
              </a:spcAft>
              <a:buChar char="•"/>
              <a:defRPr sz="1800" b="0">
                <a:solidFill>
                  <a:srgbClr val="132433"/>
                </a:solidFill>
                <a:latin typeface="Calibri"/>
                <a:ea typeface="Calibri"/>
                <a:cs typeface="Calibri"/>
              </a:defRPr>
            </a:pPr>
            <a:r>
              <a:rPr sz="1800" b="0">
                <a:solidFill>
                  <a:srgbClr val="132433"/>
                </a:solidFill>
                <a:latin typeface="Calibri"/>
                <a:ea typeface="Calibri"/>
                <a:cs typeface="Calibri"/>
              </a:rPr>
              <a:t>Lead time, false alarms, missed drift and adaptation cost are rarely assessed together.</a:t>
            </a:r>
          </a:p>
          <a:p xmlns:a="http://schemas.openxmlformats.org/drawingml/2006/main">
            <a:pPr marL="254000" indent="-127000" algn="l">
              <a:spcAft>
                <a:spcPts val="1500"/>
              </a:spcAft>
              <a:buChar char="•"/>
              <a:defRPr sz="1800" b="0">
                <a:solidFill>
                  <a:srgbClr val="132433"/>
                </a:solidFill>
                <a:latin typeface="Calibri"/>
                <a:ea typeface="Calibri"/>
                <a:cs typeface="Calibri"/>
              </a:defRPr>
            </a:pPr>
            <a:r>
              <a:rPr sz="1800" b="0">
                <a:solidFill>
                  <a:srgbClr val="132433"/>
                </a:solidFill>
                <a:latin typeface="Calibri"/>
                <a:ea typeface="Calibri"/>
                <a:cs typeface="Calibri"/>
              </a:rPr>
              <a:t>Deep sequence models need direct comparison with transparent supervised baselines.</a:t>
            </a:r>
          </a:p>
          <a:p xmlns:a="http://schemas.openxmlformats.org/drawingml/2006/main">
            <a:pPr marL="254000" indent="-127000" algn="l">
              <a:spcAft>
                <a:spcPts val="1500"/>
              </a:spcAft>
              <a:buChar char="•"/>
              <a:defRPr sz="1800" b="0">
                <a:solidFill>
                  <a:srgbClr val="132433"/>
                </a:solidFill>
                <a:latin typeface="Calibri"/>
                <a:ea typeface="Calibri"/>
                <a:cs typeface="Calibri"/>
              </a:defRPr>
            </a:pPr>
            <a:r>
              <a:rPr sz="1800" b="0">
                <a:solidFill>
                  <a:srgbClr val="132433"/>
                </a:solidFill>
                <a:latin typeface="Calibri"/>
                <a:ea typeface="Calibri"/>
                <a:cs typeface="Calibri"/>
              </a:rPr>
              <a:t>Real datasets with reliable drift-event labels remain limited.</a:t>
            </a:r>
          </a:p>
        </p:txBody>
      </p:sp>
      <p:sp>
        <p:nvSpPr>
          <p:cNvPr id="8" name="">
            <a:extLst xmlns:a="http://schemas.openxmlformats.org/drawingml/2006/main">
              <a:ext uri="{FF2B5EF4-FFF2-40B4-BE49-F238E27FC236}">
                <a16:creationId xmlns:a16="http://schemas.microsoft.com/office/drawing/2014/main" id="{DC9DD2E2-D2C0-45F1-A8EA-B65056C4C822}"/>
              </a:ext>
            </a:extLst>
          </p:cNvPr>
          <p:cNvSpPr>
            <a:spLocks xmlns:a="http://schemas.openxmlformats.org/drawingml/2006/main" noGrp="1"/>
          </p:cNvSpPr>
          <p:nvPr/>
        </p:nvSpPr>
        <p:spPr>
          <a:xfrm xmlns:a="http://schemas.openxmlformats.org/drawingml/2006/main">
            <a:off x="7762875" y="1714500"/>
            <a:ext cx="3143250" cy="2952750"/>
          </a:xfrm>
          <a:prstGeom xmlns:a="http://schemas.openxmlformats.org/drawingml/2006/main" prst="roundRect">
            <a:avLst>
              <a:gd name="adj" fmla="val 2581"/>
            </a:avLst>
          </a:prstGeom>
          <a:solidFill xmlns:a="http://schemas.openxmlformats.org/drawingml/2006/main">
            <a:srgbClr val="0D2638"/>
          </a:solidFill>
          <a:ln xmlns:a="http://schemas.openxmlformats.org/drawingml/2006/main" w="9525">
            <a:solidFill>
              <a:srgbClr val="0D2638"/>
            </a:solidFill>
          </a:ln>
        </p:spPr>
      </p:sp>
      <p:sp>
        <p:nvSpPr>
          <p:cNvPr id="9" name="">
            <a:extLst xmlns:a="http://schemas.openxmlformats.org/drawingml/2006/main">
              <a:ext uri="{FF2B5EF4-FFF2-40B4-BE49-F238E27FC236}">
                <a16:creationId xmlns:a16="http://schemas.microsoft.com/office/drawing/2014/main" id="{1F4836DC-0A43-46DD-8476-B373C784B086}"/>
              </a:ext>
            </a:extLst>
          </p:cNvPr>
          <p:cNvSpPr>
            <a:spLocks xmlns:a="http://schemas.openxmlformats.org/drawingml/2006/main" noGrp="1"/>
          </p:cNvSpPr>
          <p:nvPr/>
        </p:nvSpPr>
        <p:spPr>
          <a:xfrm xmlns:a="http://schemas.openxmlformats.org/drawingml/2006/main">
            <a:off x="8096250" y="20764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725" b="1">
                <a:solidFill>
                  <a:srgbClr val="FFFFFF"/>
                </a:solidFill>
                <a:latin typeface="Calibri"/>
                <a:ea typeface="Calibri"/>
                <a:cs typeface="Calibri"/>
              </a:defRPr>
            </a:pPr>
            <a:r>
              <a:rPr sz="1725" b="1">
                <a:solidFill>
                  <a:srgbClr val="FFFFFF"/>
                </a:solidFill>
                <a:latin typeface="Calibri"/>
                <a:ea typeface="Calibri"/>
                <a:cs typeface="Calibri"/>
              </a:rPr>
              <a:t>DriftSentinel focus</a:t>
            </a:r>
          </a:p>
        </p:txBody>
      </p:sp>
      <p:sp>
        <p:nvSpPr>
          <p:cNvPr id="10" name="">
            <a:extLst xmlns:a="http://schemas.openxmlformats.org/drawingml/2006/main">
              <a:ext uri="{FF2B5EF4-FFF2-40B4-BE49-F238E27FC236}">
                <a16:creationId xmlns:a16="http://schemas.microsoft.com/office/drawing/2014/main" id="{A5CEE1F3-B43B-4977-983C-B3B110B22B64}"/>
              </a:ext>
            </a:extLst>
          </p:cNvPr>
          <p:cNvSpPr>
            <a:spLocks xmlns:a="http://schemas.openxmlformats.org/drawingml/2006/main" noGrp="1"/>
          </p:cNvSpPr>
          <p:nvPr/>
        </p:nvSpPr>
        <p:spPr>
          <a:xfrm xmlns:a="http://schemas.openxmlformats.org/drawingml/2006/main">
            <a:off x="8096250" y="27241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89286"/>
          </a:bodyPr>
          <a:lstStyle xmlns:a="http://schemas.openxmlformats.org/drawingml/2006/main"/>
          <a:p xmlns:a="http://schemas.openxmlformats.org/drawingml/2006/main">
            <a:pPr algn="ctr">
              <a:defRPr sz="2100" b="1">
                <a:solidFill>
                  <a:srgbClr val="27C7D1"/>
                </a:solidFill>
                <a:latin typeface="Calibri"/>
                <a:ea typeface="Calibri"/>
                <a:cs typeface="Calibri"/>
              </a:defRPr>
            </a:pPr>
            <a:r>
              <a:rPr sz="2100" b="1">
                <a:solidFill>
                  <a:srgbClr val="27C7D1"/>
                </a:solidFill>
                <a:latin typeface="Calibri"/>
                <a:ea typeface="Calibri"/>
                <a:cs typeface="Calibri"/>
              </a:rPr>
              <a:t>Predict first</a:t>
            </a:r>
          </a:p>
        </p:txBody>
      </p:sp>
      <p:sp>
        <p:nvSpPr>
          <p:cNvPr id="11" name="">
            <a:extLst xmlns:a="http://schemas.openxmlformats.org/drawingml/2006/main">
              <a:ext uri="{FF2B5EF4-FFF2-40B4-BE49-F238E27FC236}">
                <a16:creationId xmlns:a16="http://schemas.microsoft.com/office/drawing/2014/main" id="{78FE68FF-6118-4838-B69E-C55D5C4AD464}"/>
              </a:ext>
            </a:extLst>
          </p:cNvPr>
          <p:cNvSpPr>
            <a:spLocks xmlns:a="http://schemas.openxmlformats.org/drawingml/2006/main" noGrp="1"/>
          </p:cNvSpPr>
          <p:nvPr/>
        </p:nvSpPr>
        <p:spPr>
          <a:xfrm xmlns:a="http://schemas.openxmlformats.org/drawingml/2006/main">
            <a:off x="8096250" y="32385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89286"/>
          </a:bodyPr>
          <a:lstStyle xmlns:a="http://schemas.openxmlformats.org/drawingml/2006/main"/>
          <a:p xmlns:a="http://schemas.openxmlformats.org/drawingml/2006/main">
            <a:pPr algn="ctr">
              <a:defRPr sz="2100" b="1">
                <a:solidFill>
                  <a:srgbClr val="F1A33C"/>
                </a:solidFill>
                <a:latin typeface="Calibri"/>
                <a:ea typeface="Calibri"/>
                <a:cs typeface="Calibri"/>
              </a:defRPr>
            </a:pPr>
            <a:r>
              <a:rPr sz="2100" b="1">
                <a:solidFill>
                  <a:srgbClr val="F1A33C"/>
                </a:solidFill>
                <a:latin typeface="Calibri"/>
                <a:ea typeface="Calibri"/>
                <a:cs typeface="Calibri"/>
              </a:rPr>
              <a:t>Score strictly</a:t>
            </a:r>
          </a:p>
        </p:txBody>
      </p:sp>
      <p:sp>
        <p:nvSpPr>
          <p:cNvPr id="12" name="">
            <a:extLst xmlns:a="http://schemas.openxmlformats.org/drawingml/2006/main">
              <a:ext uri="{FF2B5EF4-FFF2-40B4-BE49-F238E27FC236}">
                <a16:creationId xmlns:a16="http://schemas.microsoft.com/office/drawing/2014/main" id="{2FD8E8FC-472F-40E9-A114-E4BFC38BCCB1}"/>
              </a:ext>
            </a:extLst>
          </p:cNvPr>
          <p:cNvSpPr>
            <a:spLocks xmlns:a="http://schemas.openxmlformats.org/drawingml/2006/main" noGrp="1"/>
          </p:cNvSpPr>
          <p:nvPr/>
        </p:nvSpPr>
        <p:spPr>
          <a:xfrm xmlns:a="http://schemas.openxmlformats.org/drawingml/2006/main">
            <a:off x="8096250" y="37528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89286"/>
          </a:bodyPr>
          <a:lstStyle xmlns:a="http://schemas.openxmlformats.org/drawingml/2006/main"/>
          <a:p xmlns:a="http://schemas.openxmlformats.org/drawingml/2006/main">
            <a:pPr algn="ctr">
              <a:defRPr sz="2100" b="1">
                <a:solidFill>
                  <a:srgbClr val="8FE0C0"/>
                </a:solidFill>
                <a:latin typeface="Calibri"/>
                <a:ea typeface="Calibri"/>
                <a:cs typeface="Calibri"/>
              </a:defRPr>
            </a:pPr>
            <a:r>
              <a:rPr sz="2100" b="1">
                <a:solidFill>
                  <a:srgbClr val="8FE0C0"/>
                </a:solidFill>
                <a:latin typeface="Calibri"/>
                <a:ea typeface="Calibri"/>
                <a:cs typeface="Calibri"/>
              </a:rPr>
              <a:t>Count the cost</a:t>
            </a:r>
          </a:p>
        </p:txBody>
      </p:sp>
      <p:sp>
        <p:nvSpPr>
          <p:cNvPr id="13" name="">
            <a:extLst xmlns:a="http://schemas.openxmlformats.org/drawingml/2006/main">
              <a:ext uri="{FF2B5EF4-FFF2-40B4-BE49-F238E27FC236}">
                <a16:creationId xmlns:a16="http://schemas.microsoft.com/office/drawing/2014/main" id="{046F23FE-473E-4A0B-81AC-195D145932ED}"/>
              </a:ext>
            </a:extLst>
          </p:cNvPr>
          <p:cNvSpPr>
            <a:spLocks xmlns:a="http://schemas.openxmlformats.org/drawingml/2006/main" noGrp="1"/>
          </p:cNvSpPr>
          <p:nvPr/>
        </p:nvSpPr>
        <p:spPr>
          <a:xfrm xmlns:a="http://schemas.openxmlformats.org/drawingml/2006/main">
            <a:off x="7639050" y="4953000"/>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96491"/>
          </a:bodyPr>
          <a:lstStyle xmlns:a="http://schemas.openxmlformats.org/drawingml/2006/main"/>
          <a:p xmlns:a="http://schemas.openxmlformats.org/drawingml/2006/main">
            <a:pPr algn="ctr">
              <a:defRPr sz="1425" b="1">
                <a:solidFill>
                  <a:srgbClr val="132433"/>
                </a:solidFill>
                <a:latin typeface="Calibri"/>
                <a:ea typeface="Calibri"/>
                <a:cs typeface="Calibri"/>
              </a:defRPr>
            </a:pPr>
            <a:r>
              <a:rPr sz="1425" b="1">
                <a:solidFill>
                  <a:srgbClr val="132433"/>
                </a:solidFill>
                <a:latin typeface="Calibri"/>
                <a:ea typeface="Calibri"/>
                <a:cs typeface="Calibri"/>
              </a:rPr>
              <a:t>A five-batch prediction horizon must use the same five-batch warning window.</a:t>
            </a:r>
          </a:p>
        </p:txBody>
      </p:sp>
    </p:spTree>
    <p:extLst>
      <p:ext uri="{BB962C8B-B14F-4D97-AF65-F5344CB8AC3E}">
        <p14:creationId xmlns:p14="http://schemas.microsoft.com/office/powerpoint/2010/main" val="1432211876"/>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DFF5067-A857-41E9-BBCA-A2260C8B4B5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7C7D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6DCA32-83C2-4083-BCE6-DF082A6E3343}"/>
              </a:ext>
            </a:extLst>
          </p:cNvPr>
          <p:cNvSpPr>
            <a:spLocks xmlns:a="http://schemas.openxmlformats.org/drawingml/2006/main" noGrp="1"/>
          </p:cNvSpPr>
          <p:nvPr/>
        </p:nvSpPr>
        <p:spPr>
          <a:xfrm xmlns:a="http://schemas.openxmlformats.org/drawingml/2006/main">
            <a:off x="609600" y="2667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75" b="1">
                <a:solidFill>
                  <a:srgbClr val="0E8A92"/>
                </a:solidFill>
                <a:latin typeface="Calibri"/>
                <a:ea typeface="Calibri"/>
                <a:cs typeface="Calibri"/>
              </a:defRPr>
            </a:pPr>
            <a:r>
              <a:rPr sz="975" b="1">
                <a:solidFill>
                  <a:srgbClr val="0E8A92"/>
                </a:solidFill>
                <a:latin typeface="Calibri"/>
                <a:ea typeface="Calibri"/>
                <a:cs typeface="Calibri"/>
              </a:rPr>
              <a:t>RESEARCH PLAN</a:t>
            </a:r>
          </a:p>
        </p:txBody>
      </p:sp>
      <p:sp>
        <p:nvSpPr>
          <p:cNvPr id="3" name="">
            <a:extLst xmlns:a="http://schemas.openxmlformats.org/drawingml/2006/main">
              <a:ext uri="{FF2B5EF4-FFF2-40B4-BE49-F238E27FC236}">
                <a16:creationId xmlns:a16="http://schemas.microsoft.com/office/drawing/2014/main" id="{62138B56-7562-4653-B67A-77F9D0DC8C18}"/>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2550" b="1">
                <a:solidFill>
                  <a:srgbClr val="132433"/>
                </a:solidFill>
                <a:latin typeface="Calibri"/>
                <a:ea typeface="Calibri"/>
                <a:cs typeface="Calibri"/>
              </a:defRPr>
            </a:pPr>
            <a:r>
              <a:rPr sz="2550" b="1">
                <a:solidFill>
                  <a:srgbClr val="132433"/>
                </a:solidFill>
                <a:latin typeface="Calibri"/>
                <a:ea typeface="Calibri"/>
                <a:cs typeface="Calibri"/>
              </a:rPr>
              <a:t>Objectives</a:t>
            </a:r>
          </a:p>
        </p:txBody>
      </p:sp>
      <p:sp>
        <p:nvSpPr>
          <p:cNvPr id="4" name="">
            <a:extLst xmlns:a="http://schemas.openxmlformats.org/drawingml/2006/main">
              <a:ext uri="{FF2B5EF4-FFF2-40B4-BE49-F238E27FC236}">
                <a16:creationId xmlns:a16="http://schemas.microsoft.com/office/drawing/2014/main" id="{8E39A2BC-ED3C-4E55-8A38-499F24357677}"/>
              </a:ext>
            </a:extLst>
          </p:cNvPr>
          <p:cNvSpPr>
            <a:spLocks xmlns:a="http://schemas.openxmlformats.org/drawingml/2006/main" noGrp="1"/>
          </p:cNvSpPr>
          <p:nvPr/>
        </p:nvSpPr>
        <p:spPr>
          <a:xfrm xmlns:a="http://schemas.openxmlformats.org/drawingml/2006/main">
            <a:off x="11334750" y="62674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r">
              <a:defRPr sz="975" b="0">
                <a:solidFill>
                  <a:srgbClr val="5C6B77"/>
                </a:solidFill>
                <a:latin typeface="Calibri"/>
                <a:ea typeface="Calibri"/>
                <a:cs typeface="Calibri"/>
              </a:defRPr>
            </a:pPr>
            <a:r>
              <a:rPr sz="975" b="0">
                <a:solidFill>
                  <a:srgbClr val="5C6B77"/>
                </a:solidFill>
                <a:latin typeface="Calibri"/>
                <a:ea typeface="Calibri"/>
                <a:cs typeface="Calibri"/>
              </a:rPr>
              <a:t>05</a:t>
            </a:r>
          </a:p>
        </p:txBody>
      </p:sp>
      <p:sp>
        <p:nvSpPr>
          <p:cNvPr id="5" name="">
            <a:extLst xmlns:a="http://schemas.openxmlformats.org/drawingml/2006/main">
              <a:ext uri="{FF2B5EF4-FFF2-40B4-BE49-F238E27FC236}">
                <a16:creationId xmlns:a16="http://schemas.microsoft.com/office/drawing/2014/main" id="{DE8AABF9-4083-4F98-AA8E-2CD51F0EFB2D}"/>
              </a:ext>
            </a:extLst>
          </p:cNvPr>
          <p:cNvSpPr>
            <a:spLocks xmlns:a="http://schemas.openxmlformats.org/drawingml/2006/main" noGrp="1"/>
          </p:cNvSpPr>
          <p:nvPr/>
        </p:nvSpPr>
        <p:spPr>
          <a:xfrm xmlns:a="http://schemas.openxmlformats.org/drawingml/2006/main">
            <a:off x="609600" y="62674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00" b="0">
                <a:solidFill>
                  <a:srgbClr val="5C6B77"/>
                </a:solidFill>
                <a:latin typeface="Calibri"/>
                <a:ea typeface="Calibri"/>
                <a:cs typeface="Calibri"/>
              </a:defRPr>
            </a:pPr>
            <a:r>
              <a:rPr sz="900" b="0">
                <a:solidFill>
                  <a:srgbClr val="5C6B77"/>
                </a:solidFill>
                <a:latin typeface="Calibri"/>
                <a:ea typeface="Calibri"/>
                <a:cs typeface="Calibri"/>
              </a:rPr>
              <a:t>DriftSentinel  |  Review 2</a:t>
            </a:r>
          </a:p>
        </p:txBody>
      </p:sp>
      <p:sp>
        <p:nvSpPr>
          <p:cNvPr id="6" name="">
            <a:extLst xmlns:a="http://schemas.openxmlformats.org/drawingml/2006/main">
              <a:ext uri="{FF2B5EF4-FFF2-40B4-BE49-F238E27FC236}">
                <a16:creationId xmlns:a16="http://schemas.microsoft.com/office/drawing/2014/main" id="{4D9DD20F-E11D-4E07-97C4-350BD93FD3B4}"/>
              </a:ext>
            </a:extLst>
          </p:cNvPr>
          <p:cNvSpPr>
            <a:spLocks xmlns:a="http://schemas.openxmlformats.org/drawingml/2006/main" noGrp="1"/>
          </p:cNvSpPr>
          <p:nvPr/>
        </p:nvSpPr>
        <p:spPr>
          <a:xfrm xmlns:a="http://schemas.openxmlformats.org/drawingml/2006/main">
            <a:off x="800100" y="13811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950" b="1">
                <a:solidFill>
                  <a:srgbClr val="27C7D1"/>
                </a:solidFill>
                <a:latin typeface="Calibri"/>
                <a:ea typeface="Calibri"/>
                <a:cs typeface="Calibri"/>
              </a:defRPr>
            </a:pPr>
            <a:r>
              <a:rPr sz="1950" b="1">
                <a:solidFill>
                  <a:srgbClr val="27C7D1"/>
                </a:solidFill>
                <a:latin typeface="Calibri"/>
                <a:ea typeface="Calibri"/>
                <a:cs typeface="Calibri"/>
              </a:rPr>
              <a:t>01</a:t>
            </a:r>
          </a:p>
        </p:txBody>
      </p:sp>
      <p:sp>
        <p:nvSpPr>
          <p:cNvPr id="7" name="">
            <a:extLst xmlns:a="http://schemas.openxmlformats.org/drawingml/2006/main">
              <a:ext uri="{FF2B5EF4-FFF2-40B4-BE49-F238E27FC236}">
                <a16:creationId xmlns:a16="http://schemas.microsoft.com/office/drawing/2014/main" id="{E1DDDE41-20FB-4910-AEF1-D3C38EC75C5C}"/>
              </a:ext>
            </a:extLst>
          </p:cNvPr>
          <p:cNvSpPr>
            <a:spLocks xmlns:a="http://schemas.openxmlformats.org/drawingml/2006/main" noGrp="1"/>
          </p:cNvSpPr>
          <p:nvPr/>
        </p:nvSpPr>
        <p:spPr>
          <a:xfrm xmlns:a="http://schemas.openxmlformats.org/drawingml/2006/main">
            <a:off x="1524000" y="1381125"/>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725" b="1">
                <a:solidFill>
                  <a:srgbClr val="132433"/>
                </a:solidFill>
                <a:latin typeface="Calibri"/>
                <a:ea typeface="Calibri"/>
                <a:cs typeface="Calibri"/>
              </a:defRPr>
            </a:pPr>
            <a:r>
              <a:rPr sz="1725" b="1">
                <a:solidFill>
                  <a:srgbClr val="132433"/>
                </a:solidFill>
                <a:latin typeface="Calibri"/>
                <a:ea typeface="Calibri"/>
                <a:cs typeface="Calibri"/>
              </a:rPr>
              <a:t>Build</a:t>
            </a:r>
          </a:p>
        </p:txBody>
      </p:sp>
      <p:sp>
        <p:nvSpPr>
          <p:cNvPr id="8" name="">
            <a:extLst xmlns:a="http://schemas.openxmlformats.org/drawingml/2006/main">
              <a:ext uri="{FF2B5EF4-FFF2-40B4-BE49-F238E27FC236}">
                <a16:creationId xmlns:a16="http://schemas.microsoft.com/office/drawing/2014/main" id="{0E41E80C-D1E2-4360-BA40-36D4CF38263D}"/>
              </a:ext>
            </a:extLst>
          </p:cNvPr>
          <p:cNvSpPr>
            <a:spLocks xmlns:a="http://schemas.openxmlformats.org/drawingml/2006/main" noGrp="1"/>
          </p:cNvSpPr>
          <p:nvPr/>
        </p:nvSpPr>
        <p:spPr>
          <a:xfrm xmlns:a="http://schemas.openxmlformats.org/drawingml/2006/main">
            <a:off x="3143250" y="1381125"/>
            <a:ext cx="800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0">
                <a:solidFill>
                  <a:srgbClr val="5C6B77"/>
                </a:solidFill>
                <a:latin typeface="Calibri"/>
                <a:ea typeface="Calibri"/>
                <a:cs typeface="Calibri"/>
              </a:defRPr>
            </a:pPr>
            <a:r>
              <a:rPr sz="1575" b="0">
                <a:solidFill>
                  <a:srgbClr val="5C6B77"/>
                </a:solidFill>
                <a:latin typeface="Calibri"/>
                <a:ea typeface="Calibri"/>
                <a:cs typeface="Calibri"/>
              </a:rPr>
              <a:t>Rolling-window distribution, PSI and confidence features</a:t>
            </a:r>
          </a:p>
        </p:txBody>
      </p:sp>
      <p:sp>
        <p:nvSpPr>
          <p:cNvPr id="9" name="">
            <a:extLst xmlns:a="http://schemas.openxmlformats.org/drawingml/2006/main">
              <a:ext uri="{FF2B5EF4-FFF2-40B4-BE49-F238E27FC236}">
                <a16:creationId xmlns:a16="http://schemas.microsoft.com/office/drawing/2014/main" id="{9EB2CBD5-DE66-479F-B9B8-3558945EE393}"/>
              </a:ext>
            </a:extLst>
          </p:cNvPr>
          <p:cNvSpPr>
            <a:spLocks xmlns:a="http://schemas.openxmlformats.org/drawingml/2006/main" noGrp="1"/>
          </p:cNvSpPr>
          <p:nvPr/>
        </p:nvSpPr>
        <p:spPr>
          <a:xfrm xmlns:a="http://schemas.openxmlformats.org/drawingml/2006/main">
            <a:off x="1524000" y="1905000"/>
            <a:ext cx="9334500" cy="0"/>
          </a:xfrm>
          <a:prstGeom xmlns:a="http://schemas.openxmlformats.org/drawingml/2006/main" prst="line">
            <a:avLst/>
          </a:prstGeom>
          <a:ln xmlns:a="http://schemas.openxmlformats.org/drawingml/2006/main" w="9525">
            <a:solidFill>
              <a:srgbClr val="C9D4DC"/>
            </a:solidFill>
          </a:ln>
        </p:spPr>
      </p:sp>
      <p:sp>
        <p:nvSpPr>
          <p:cNvPr id="10" name="">
            <a:extLst xmlns:a="http://schemas.openxmlformats.org/drawingml/2006/main">
              <a:ext uri="{FF2B5EF4-FFF2-40B4-BE49-F238E27FC236}">
                <a16:creationId xmlns:a16="http://schemas.microsoft.com/office/drawing/2014/main" id="{0D15B86A-C1D5-47D3-90E1-15025069F625}"/>
              </a:ext>
            </a:extLst>
          </p:cNvPr>
          <p:cNvSpPr>
            <a:spLocks xmlns:a="http://schemas.openxmlformats.org/drawingml/2006/main" noGrp="1"/>
          </p:cNvSpPr>
          <p:nvPr/>
        </p:nvSpPr>
        <p:spPr>
          <a:xfrm xmlns:a="http://schemas.openxmlformats.org/drawingml/2006/main">
            <a:off x="800100" y="212407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950" b="1">
                <a:solidFill>
                  <a:srgbClr val="27C7D1"/>
                </a:solidFill>
                <a:latin typeface="Calibri"/>
                <a:ea typeface="Calibri"/>
                <a:cs typeface="Calibri"/>
              </a:defRPr>
            </a:pPr>
            <a:r>
              <a:rPr sz="1950" b="1">
                <a:solidFill>
                  <a:srgbClr val="27C7D1"/>
                </a:solidFill>
                <a:latin typeface="Calibri"/>
                <a:ea typeface="Calibri"/>
                <a:cs typeface="Calibri"/>
              </a:rPr>
              <a:t>02</a:t>
            </a:r>
          </a:p>
        </p:txBody>
      </p:sp>
      <p:sp>
        <p:nvSpPr>
          <p:cNvPr id="11" name="">
            <a:extLst xmlns:a="http://schemas.openxmlformats.org/drawingml/2006/main">
              <a:ext uri="{FF2B5EF4-FFF2-40B4-BE49-F238E27FC236}">
                <a16:creationId xmlns:a16="http://schemas.microsoft.com/office/drawing/2014/main" id="{B87AB468-98D7-4C8D-AA5B-2CE77909A19F}"/>
              </a:ext>
            </a:extLst>
          </p:cNvPr>
          <p:cNvSpPr>
            <a:spLocks xmlns:a="http://schemas.openxmlformats.org/drawingml/2006/main" noGrp="1"/>
          </p:cNvSpPr>
          <p:nvPr/>
        </p:nvSpPr>
        <p:spPr>
          <a:xfrm xmlns:a="http://schemas.openxmlformats.org/drawingml/2006/main">
            <a:off x="1524000" y="2124075"/>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725" b="1">
                <a:solidFill>
                  <a:srgbClr val="132433"/>
                </a:solidFill>
                <a:latin typeface="Calibri"/>
                <a:ea typeface="Calibri"/>
                <a:cs typeface="Calibri"/>
              </a:defRPr>
            </a:pPr>
            <a:r>
              <a:rPr sz="1725" b="1">
                <a:solidFill>
                  <a:srgbClr val="132433"/>
                </a:solidFill>
                <a:latin typeface="Calibri"/>
                <a:ea typeface="Calibri"/>
                <a:cs typeface="Calibri"/>
              </a:rPr>
              <a:t>Predict</a:t>
            </a:r>
          </a:p>
        </p:txBody>
      </p:sp>
      <p:sp>
        <p:nvSpPr>
          <p:cNvPr id="12" name="">
            <a:extLst xmlns:a="http://schemas.openxmlformats.org/drawingml/2006/main">
              <a:ext uri="{FF2B5EF4-FFF2-40B4-BE49-F238E27FC236}">
                <a16:creationId xmlns:a16="http://schemas.microsoft.com/office/drawing/2014/main" id="{3CAFBBAF-E138-4B0E-A109-80FB3F91C6F7}"/>
              </a:ext>
            </a:extLst>
          </p:cNvPr>
          <p:cNvSpPr>
            <a:spLocks xmlns:a="http://schemas.openxmlformats.org/drawingml/2006/main" noGrp="1"/>
          </p:cNvSpPr>
          <p:nvPr/>
        </p:nvSpPr>
        <p:spPr>
          <a:xfrm xmlns:a="http://schemas.openxmlformats.org/drawingml/2006/main">
            <a:off x="3143250" y="2124075"/>
            <a:ext cx="800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0">
                <a:solidFill>
                  <a:srgbClr val="5C6B77"/>
                </a:solidFill>
                <a:latin typeface="Calibri"/>
                <a:ea typeface="Calibri"/>
                <a:cs typeface="Calibri"/>
              </a:defRPr>
            </a:pPr>
            <a:r>
              <a:rPr sz="1575" b="0">
                <a:solidFill>
                  <a:srgbClr val="5C6B77"/>
                </a:solidFill>
                <a:latin typeface="Calibri"/>
                <a:ea typeface="Calibri"/>
                <a:cs typeface="Calibri"/>
              </a:rPr>
              <a:t>Drift onset within the next five batches</a:t>
            </a:r>
          </a:p>
        </p:txBody>
      </p:sp>
      <p:sp>
        <p:nvSpPr>
          <p:cNvPr id="13" name="">
            <a:extLst xmlns:a="http://schemas.openxmlformats.org/drawingml/2006/main">
              <a:ext uri="{FF2B5EF4-FFF2-40B4-BE49-F238E27FC236}">
                <a16:creationId xmlns:a16="http://schemas.microsoft.com/office/drawing/2014/main" id="{6C833786-B160-41DC-BB81-74533DD1CC78}"/>
              </a:ext>
            </a:extLst>
          </p:cNvPr>
          <p:cNvSpPr>
            <a:spLocks xmlns:a="http://schemas.openxmlformats.org/drawingml/2006/main" noGrp="1"/>
          </p:cNvSpPr>
          <p:nvPr/>
        </p:nvSpPr>
        <p:spPr>
          <a:xfrm xmlns:a="http://schemas.openxmlformats.org/drawingml/2006/main">
            <a:off x="1524000" y="2647950"/>
            <a:ext cx="9334500" cy="0"/>
          </a:xfrm>
          <a:prstGeom xmlns:a="http://schemas.openxmlformats.org/drawingml/2006/main" prst="line">
            <a:avLst/>
          </a:prstGeom>
          <a:ln xmlns:a="http://schemas.openxmlformats.org/drawingml/2006/main" w="9525">
            <a:solidFill>
              <a:srgbClr val="C9D4DC"/>
            </a:solidFill>
          </a:ln>
        </p:spPr>
      </p:sp>
      <p:sp>
        <p:nvSpPr>
          <p:cNvPr id="14" name="">
            <a:extLst xmlns:a="http://schemas.openxmlformats.org/drawingml/2006/main">
              <a:ext uri="{FF2B5EF4-FFF2-40B4-BE49-F238E27FC236}">
                <a16:creationId xmlns:a16="http://schemas.microsoft.com/office/drawing/2014/main" id="{0492E270-AC68-4854-B559-116701390714}"/>
              </a:ext>
            </a:extLst>
          </p:cNvPr>
          <p:cNvSpPr>
            <a:spLocks xmlns:a="http://schemas.openxmlformats.org/drawingml/2006/main" noGrp="1"/>
          </p:cNvSpPr>
          <p:nvPr/>
        </p:nvSpPr>
        <p:spPr>
          <a:xfrm xmlns:a="http://schemas.openxmlformats.org/drawingml/2006/main">
            <a:off x="800100" y="28670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950" b="1">
                <a:solidFill>
                  <a:srgbClr val="27C7D1"/>
                </a:solidFill>
                <a:latin typeface="Calibri"/>
                <a:ea typeface="Calibri"/>
                <a:cs typeface="Calibri"/>
              </a:defRPr>
            </a:pPr>
            <a:r>
              <a:rPr sz="1950" b="1">
                <a:solidFill>
                  <a:srgbClr val="27C7D1"/>
                </a:solidFill>
                <a:latin typeface="Calibri"/>
                <a:ea typeface="Calibri"/>
                <a:cs typeface="Calibri"/>
              </a:rPr>
              <a:t>03</a:t>
            </a:r>
          </a:p>
        </p:txBody>
      </p:sp>
      <p:sp>
        <p:nvSpPr>
          <p:cNvPr id="15" name="">
            <a:extLst xmlns:a="http://schemas.openxmlformats.org/drawingml/2006/main">
              <a:ext uri="{FF2B5EF4-FFF2-40B4-BE49-F238E27FC236}">
                <a16:creationId xmlns:a16="http://schemas.microsoft.com/office/drawing/2014/main" id="{2956141B-E995-4409-A57F-47882DA45A10}"/>
              </a:ext>
            </a:extLst>
          </p:cNvPr>
          <p:cNvSpPr>
            <a:spLocks xmlns:a="http://schemas.openxmlformats.org/drawingml/2006/main" noGrp="1"/>
          </p:cNvSpPr>
          <p:nvPr/>
        </p:nvSpPr>
        <p:spPr>
          <a:xfrm xmlns:a="http://schemas.openxmlformats.org/drawingml/2006/main">
            <a:off x="1524000" y="2867025"/>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725" b="1">
                <a:solidFill>
                  <a:srgbClr val="132433"/>
                </a:solidFill>
                <a:latin typeface="Calibri"/>
                <a:ea typeface="Calibri"/>
                <a:cs typeface="Calibri"/>
              </a:defRPr>
            </a:pPr>
            <a:r>
              <a:rPr sz="1725" b="1">
                <a:solidFill>
                  <a:srgbClr val="132433"/>
                </a:solidFill>
                <a:latin typeface="Calibri"/>
                <a:ea typeface="Calibri"/>
                <a:cs typeface="Calibri"/>
              </a:rPr>
              <a:t>Compare</a:t>
            </a:r>
          </a:p>
        </p:txBody>
      </p:sp>
      <p:sp>
        <p:nvSpPr>
          <p:cNvPr id="16" name="">
            <a:extLst xmlns:a="http://schemas.openxmlformats.org/drawingml/2006/main">
              <a:ext uri="{FF2B5EF4-FFF2-40B4-BE49-F238E27FC236}">
                <a16:creationId xmlns:a16="http://schemas.microsoft.com/office/drawing/2014/main" id="{99F3EE1E-1F6C-4B55-AECC-EB4DFC32A42C}"/>
              </a:ext>
            </a:extLst>
          </p:cNvPr>
          <p:cNvSpPr>
            <a:spLocks xmlns:a="http://schemas.openxmlformats.org/drawingml/2006/main" noGrp="1"/>
          </p:cNvSpPr>
          <p:nvPr/>
        </p:nvSpPr>
        <p:spPr>
          <a:xfrm xmlns:a="http://schemas.openxmlformats.org/drawingml/2006/main">
            <a:off x="3143250" y="2867025"/>
            <a:ext cx="800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0">
                <a:solidFill>
                  <a:srgbClr val="5C6B77"/>
                </a:solidFill>
                <a:latin typeface="Calibri"/>
                <a:ea typeface="Calibri"/>
                <a:cs typeface="Calibri"/>
              </a:defRPr>
            </a:pPr>
            <a:r>
              <a:rPr sz="1575" b="0">
                <a:solidFill>
                  <a:srgbClr val="5C6B77"/>
                </a:solidFill>
                <a:latin typeface="Calibri"/>
                <a:ea typeface="Calibri"/>
                <a:cs typeface="Calibri"/>
              </a:rPr>
              <a:t>Logistic Regression, GRU, LSTM and Transformer</a:t>
            </a:r>
          </a:p>
        </p:txBody>
      </p:sp>
      <p:sp>
        <p:nvSpPr>
          <p:cNvPr id="17" name="">
            <a:extLst xmlns:a="http://schemas.openxmlformats.org/drawingml/2006/main">
              <a:ext uri="{FF2B5EF4-FFF2-40B4-BE49-F238E27FC236}">
                <a16:creationId xmlns:a16="http://schemas.microsoft.com/office/drawing/2014/main" id="{C816594A-AE0D-430E-89E0-9318310A442C}"/>
              </a:ext>
            </a:extLst>
          </p:cNvPr>
          <p:cNvSpPr>
            <a:spLocks xmlns:a="http://schemas.openxmlformats.org/drawingml/2006/main" noGrp="1"/>
          </p:cNvSpPr>
          <p:nvPr/>
        </p:nvSpPr>
        <p:spPr>
          <a:xfrm xmlns:a="http://schemas.openxmlformats.org/drawingml/2006/main">
            <a:off x="1524000" y="3390900"/>
            <a:ext cx="9334500" cy="0"/>
          </a:xfrm>
          <a:prstGeom xmlns:a="http://schemas.openxmlformats.org/drawingml/2006/main" prst="line">
            <a:avLst/>
          </a:prstGeom>
          <a:ln xmlns:a="http://schemas.openxmlformats.org/drawingml/2006/main" w="9525">
            <a:solidFill>
              <a:srgbClr val="C9D4DC"/>
            </a:solidFill>
          </a:ln>
        </p:spPr>
      </p:sp>
      <p:sp>
        <p:nvSpPr>
          <p:cNvPr id="18" name="">
            <a:extLst xmlns:a="http://schemas.openxmlformats.org/drawingml/2006/main">
              <a:ext uri="{FF2B5EF4-FFF2-40B4-BE49-F238E27FC236}">
                <a16:creationId xmlns:a16="http://schemas.microsoft.com/office/drawing/2014/main" id="{D087CEC0-C99C-4A8B-888A-B358E76D7050}"/>
              </a:ext>
            </a:extLst>
          </p:cNvPr>
          <p:cNvSpPr>
            <a:spLocks xmlns:a="http://schemas.openxmlformats.org/drawingml/2006/main" noGrp="1"/>
          </p:cNvSpPr>
          <p:nvPr/>
        </p:nvSpPr>
        <p:spPr>
          <a:xfrm xmlns:a="http://schemas.openxmlformats.org/drawingml/2006/main">
            <a:off x="800100" y="360997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950" b="1">
                <a:solidFill>
                  <a:srgbClr val="27C7D1"/>
                </a:solidFill>
                <a:latin typeface="Calibri"/>
                <a:ea typeface="Calibri"/>
                <a:cs typeface="Calibri"/>
              </a:defRPr>
            </a:pPr>
            <a:r>
              <a:rPr sz="1950" b="1">
                <a:solidFill>
                  <a:srgbClr val="27C7D1"/>
                </a:solidFill>
                <a:latin typeface="Calibri"/>
                <a:ea typeface="Calibri"/>
                <a:cs typeface="Calibri"/>
              </a:rPr>
              <a:t>04</a:t>
            </a:r>
          </a:p>
        </p:txBody>
      </p:sp>
      <p:sp>
        <p:nvSpPr>
          <p:cNvPr id="19" name="">
            <a:extLst xmlns:a="http://schemas.openxmlformats.org/drawingml/2006/main">
              <a:ext uri="{FF2B5EF4-FFF2-40B4-BE49-F238E27FC236}">
                <a16:creationId xmlns:a16="http://schemas.microsoft.com/office/drawing/2014/main" id="{D025A9FB-0ADA-4DCE-A030-EAEE09D62CEC}"/>
              </a:ext>
            </a:extLst>
          </p:cNvPr>
          <p:cNvSpPr>
            <a:spLocks xmlns:a="http://schemas.openxmlformats.org/drawingml/2006/main" noGrp="1"/>
          </p:cNvSpPr>
          <p:nvPr/>
        </p:nvSpPr>
        <p:spPr>
          <a:xfrm xmlns:a="http://schemas.openxmlformats.org/drawingml/2006/main">
            <a:off x="1524000" y="3609975"/>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725" b="1">
                <a:solidFill>
                  <a:srgbClr val="132433"/>
                </a:solidFill>
                <a:latin typeface="Calibri"/>
                <a:ea typeface="Calibri"/>
                <a:cs typeface="Calibri"/>
              </a:defRPr>
            </a:pPr>
            <a:r>
              <a:rPr sz="1725" b="1">
                <a:solidFill>
                  <a:srgbClr val="132433"/>
                </a:solidFill>
                <a:latin typeface="Calibri"/>
                <a:ea typeface="Calibri"/>
                <a:cs typeface="Calibri"/>
              </a:rPr>
              <a:t>Benchmark</a:t>
            </a:r>
          </a:p>
        </p:txBody>
      </p:sp>
      <p:sp>
        <p:nvSpPr>
          <p:cNvPr id="20" name="">
            <a:extLst xmlns:a="http://schemas.openxmlformats.org/drawingml/2006/main">
              <a:ext uri="{FF2B5EF4-FFF2-40B4-BE49-F238E27FC236}">
                <a16:creationId xmlns:a16="http://schemas.microsoft.com/office/drawing/2014/main" id="{5714390A-A6E1-4033-B097-0F51299EF97E}"/>
              </a:ext>
            </a:extLst>
          </p:cNvPr>
          <p:cNvSpPr>
            <a:spLocks xmlns:a="http://schemas.openxmlformats.org/drawingml/2006/main" noGrp="1"/>
          </p:cNvSpPr>
          <p:nvPr/>
        </p:nvSpPr>
        <p:spPr>
          <a:xfrm xmlns:a="http://schemas.openxmlformats.org/drawingml/2006/main">
            <a:off x="3143250" y="3609975"/>
            <a:ext cx="800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0">
                <a:solidFill>
                  <a:srgbClr val="5C6B77"/>
                </a:solidFill>
                <a:latin typeface="Calibri"/>
                <a:ea typeface="Calibri"/>
                <a:cs typeface="Calibri"/>
              </a:defRPr>
            </a:pPr>
            <a:r>
              <a:rPr sz="1575" b="0">
                <a:solidFill>
                  <a:srgbClr val="5C6B77"/>
                </a:solidFill>
                <a:latin typeface="Calibri"/>
                <a:ea typeface="Calibri"/>
                <a:cs typeface="Calibri"/>
              </a:rPr>
              <a:t>ADWIN, DDM and KSWIN reactive alarms</a:t>
            </a:r>
          </a:p>
        </p:txBody>
      </p:sp>
      <p:sp>
        <p:nvSpPr>
          <p:cNvPr id="21" name="">
            <a:extLst xmlns:a="http://schemas.openxmlformats.org/drawingml/2006/main">
              <a:ext uri="{FF2B5EF4-FFF2-40B4-BE49-F238E27FC236}">
                <a16:creationId xmlns:a16="http://schemas.microsoft.com/office/drawing/2014/main" id="{D2957943-5476-4CEB-B9D0-F3D52AC14BE9}"/>
              </a:ext>
            </a:extLst>
          </p:cNvPr>
          <p:cNvSpPr>
            <a:spLocks xmlns:a="http://schemas.openxmlformats.org/drawingml/2006/main" noGrp="1"/>
          </p:cNvSpPr>
          <p:nvPr/>
        </p:nvSpPr>
        <p:spPr>
          <a:xfrm xmlns:a="http://schemas.openxmlformats.org/drawingml/2006/main">
            <a:off x="1524000" y="4133850"/>
            <a:ext cx="9334500" cy="0"/>
          </a:xfrm>
          <a:prstGeom xmlns:a="http://schemas.openxmlformats.org/drawingml/2006/main" prst="line">
            <a:avLst/>
          </a:prstGeom>
          <a:ln xmlns:a="http://schemas.openxmlformats.org/drawingml/2006/main" w="9525">
            <a:solidFill>
              <a:srgbClr val="C9D4DC"/>
            </a:solidFill>
          </a:ln>
        </p:spPr>
      </p:sp>
      <p:sp>
        <p:nvSpPr>
          <p:cNvPr id="22" name="">
            <a:extLst xmlns:a="http://schemas.openxmlformats.org/drawingml/2006/main">
              <a:ext uri="{FF2B5EF4-FFF2-40B4-BE49-F238E27FC236}">
                <a16:creationId xmlns:a16="http://schemas.microsoft.com/office/drawing/2014/main" id="{24A2ED30-3FD4-4B9C-B474-6561633F91C9}"/>
              </a:ext>
            </a:extLst>
          </p:cNvPr>
          <p:cNvSpPr>
            <a:spLocks xmlns:a="http://schemas.openxmlformats.org/drawingml/2006/main" noGrp="1"/>
          </p:cNvSpPr>
          <p:nvPr/>
        </p:nvSpPr>
        <p:spPr>
          <a:xfrm xmlns:a="http://schemas.openxmlformats.org/drawingml/2006/main">
            <a:off x="800100" y="43529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950" b="1">
                <a:solidFill>
                  <a:srgbClr val="27C7D1"/>
                </a:solidFill>
                <a:latin typeface="Calibri"/>
                <a:ea typeface="Calibri"/>
                <a:cs typeface="Calibri"/>
              </a:defRPr>
            </a:pPr>
            <a:r>
              <a:rPr sz="1950" b="1">
                <a:solidFill>
                  <a:srgbClr val="27C7D1"/>
                </a:solidFill>
                <a:latin typeface="Calibri"/>
                <a:ea typeface="Calibri"/>
                <a:cs typeface="Calibri"/>
              </a:rPr>
              <a:t>05</a:t>
            </a:r>
          </a:p>
        </p:txBody>
      </p:sp>
      <p:sp>
        <p:nvSpPr>
          <p:cNvPr id="23" name="">
            <a:extLst xmlns:a="http://schemas.openxmlformats.org/drawingml/2006/main">
              <a:ext uri="{FF2B5EF4-FFF2-40B4-BE49-F238E27FC236}">
                <a16:creationId xmlns:a16="http://schemas.microsoft.com/office/drawing/2014/main" id="{C1C54E91-BFD3-4EA7-80DC-F5F9BDF71D2C}"/>
              </a:ext>
            </a:extLst>
          </p:cNvPr>
          <p:cNvSpPr>
            <a:spLocks xmlns:a="http://schemas.openxmlformats.org/drawingml/2006/main" noGrp="1"/>
          </p:cNvSpPr>
          <p:nvPr/>
        </p:nvSpPr>
        <p:spPr>
          <a:xfrm xmlns:a="http://schemas.openxmlformats.org/drawingml/2006/main">
            <a:off x="1524000" y="4352925"/>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725" b="1">
                <a:solidFill>
                  <a:srgbClr val="132433"/>
                </a:solidFill>
                <a:latin typeface="Calibri"/>
                <a:ea typeface="Calibri"/>
                <a:cs typeface="Calibri"/>
              </a:defRPr>
            </a:pPr>
            <a:r>
              <a:rPr sz="1725" b="1">
                <a:solidFill>
                  <a:srgbClr val="132433"/>
                </a:solidFill>
                <a:latin typeface="Calibri"/>
                <a:ea typeface="Calibri"/>
                <a:cs typeface="Calibri"/>
              </a:rPr>
              <a:t>Evaluate</a:t>
            </a:r>
          </a:p>
        </p:txBody>
      </p:sp>
      <p:sp>
        <p:nvSpPr>
          <p:cNvPr id="24" name="">
            <a:extLst xmlns:a="http://schemas.openxmlformats.org/drawingml/2006/main">
              <a:ext uri="{FF2B5EF4-FFF2-40B4-BE49-F238E27FC236}">
                <a16:creationId xmlns:a16="http://schemas.microsoft.com/office/drawing/2014/main" id="{F8B564BC-42B3-4E54-8274-08A8D3C6E403}"/>
              </a:ext>
            </a:extLst>
          </p:cNvPr>
          <p:cNvSpPr>
            <a:spLocks xmlns:a="http://schemas.openxmlformats.org/drawingml/2006/main" noGrp="1"/>
          </p:cNvSpPr>
          <p:nvPr/>
        </p:nvSpPr>
        <p:spPr>
          <a:xfrm xmlns:a="http://schemas.openxmlformats.org/drawingml/2006/main">
            <a:off x="3143250" y="4352925"/>
            <a:ext cx="800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0">
                <a:solidFill>
                  <a:srgbClr val="5C6B77"/>
                </a:solidFill>
                <a:latin typeface="Calibri"/>
                <a:ea typeface="Calibri"/>
                <a:cs typeface="Calibri"/>
              </a:defRPr>
            </a:pPr>
            <a:r>
              <a:rPr sz="1575" b="0">
                <a:solidFill>
                  <a:srgbClr val="5C6B77"/>
                </a:solidFill>
                <a:latin typeface="Calibri"/>
                <a:ea typeface="Calibri"/>
                <a:cs typeface="Calibri"/>
              </a:rPr>
              <a:t>Lead time, coverage, FAR, misses, recovery and adaptation cost</a:t>
            </a:r>
          </a:p>
        </p:txBody>
      </p:sp>
      <p:sp>
        <p:nvSpPr>
          <p:cNvPr id="25" name="">
            <a:extLst xmlns:a="http://schemas.openxmlformats.org/drawingml/2006/main">
              <a:ext uri="{FF2B5EF4-FFF2-40B4-BE49-F238E27FC236}">
                <a16:creationId xmlns:a16="http://schemas.microsoft.com/office/drawing/2014/main" id="{E3CF0AE4-4516-43DB-9150-D236395621E3}"/>
              </a:ext>
            </a:extLst>
          </p:cNvPr>
          <p:cNvSpPr>
            <a:spLocks xmlns:a="http://schemas.openxmlformats.org/drawingml/2006/main" noGrp="1"/>
          </p:cNvSpPr>
          <p:nvPr/>
        </p:nvSpPr>
        <p:spPr>
          <a:xfrm xmlns:a="http://schemas.openxmlformats.org/drawingml/2006/main">
            <a:off x="1524000" y="4876800"/>
            <a:ext cx="9334500" cy="0"/>
          </a:xfrm>
          <a:prstGeom xmlns:a="http://schemas.openxmlformats.org/drawingml/2006/main" prst="line">
            <a:avLst/>
          </a:prstGeom>
          <a:ln xmlns:a="http://schemas.openxmlformats.org/drawingml/2006/main" w="9525">
            <a:solidFill>
              <a:srgbClr val="C9D4DC"/>
            </a:solidFill>
          </a:ln>
        </p:spPr>
      </p:sp>
      <p:sp>
        <p:nvSpPr>
          <p:cNvPr id="26" name="">
            <a:extLst xmlns:a="http://schemas.openxmlformats.org/drawingml/2006/main">
              <a:ext uri="{FF2B5EF4-FFF2-40B4-BE49-F238E27FC236}">
                <a16:creationId xmlns:a16="http://schemas.microsoft.com/office/drawing/2014/main" id="{72DB7D01-604A-4672-A3AE-DB34F3FC8114}"/>
              </a:ext>
            </a:extLst>
          </p:cNvPr>
          <p:cNvSpPr>
            <a:spLocks xmlns:a="http://schemas.openxmlformats.org/drawingml/2006/main" noGrp="1"/>
          </p:cNvSpPr>
          <p:nvPr/>
        </p:nvSpPr>
        <p:spPr>
          <a:xfrm xmlns:a="http://schemas.openxmlformats.org/drawingml/2006/main">
            <a:off x="800100" y="509587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950" b="1">
                <a:solidFill>
                  <a:srgbClr val="27C7D1"/>
                </a:solidFill>
                <a:latin typeface="Calibri"/>
                <a:ea typeface="Calibri"/>
                <a:cs typeface="Calibri"/>
              </a:defRPr>
            </a:pPr>
            <a:r>
              <a:rPr sz="1950" b="1">
                <a:solidFill>
                  <a:srgbClr val="27C7D1"/>
                </a:solidFill>
                <a:latin typeface="Calibri"/>
                <a:ea typeface="Calibri"/>
                <a:cs typeface="Calibri"/>
              </a:rPr>
              <a:t>06</a:t>
            </a:r>
          </a:p>
        </p:txBody>
      </p:sp>
      <p:sp>
        <p:nvSpPr>
          <p:cNvPr id="27" name="">
            <a:extLst xmlns:a="http://schemas.openxmlformats.org/drawingml/2006/main">
              <a:ext uri="{FF2B5EF4-FFF2-40B4-BE49-F238E27FC236}">
                <a16:creationId xmlns:a16="http://schemas.microsoft.com/office/drawing/2014/main" id="{81794AEC-7E5A-4815-B63C-5EEFBB60B252}"/>
              </a:ext>
            </a:extLst>
          </p:cNvPr>
          <p:cNvSpPr>
            <a:spLocks xmlns:a="http://schemas.openxmlformats.org/drawingml/2006/main" noGrp="1"/>
          </p:cNvSpPr>
          <p:nvPr/>
        </p:nvSpPr>
        <p:spPr>
          <a:xfrm xmlns:a="http://schemas.openxmlformats.org/drawingml/2006/main">
            <a:off x="1524000" y="5095875"/>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725" b="1">
                <a:solidFill>
                  <a:srgbClr val="132433"/>
                </a:solidFill>
                <a:latin typeface="Calibri"/>
                <a:ea typeface="Calibri"/>
                <a:cs typeface="Calibri"/>
              </a:defRPr>
            </a:pPr>
            <a:r>
              <a:rPr sz="1725" b="1">
                <a:solidFill>
                  <a:srgbClr val="132433"/>
                </a:solidFill>
                <a:latin typeface="Calibri"/>
                <a:ea typeface="Calibri"/>
                <a:cs typeface="Calibri"/>
              </a:rPr>
              <a:t>Deliver</a:t>
            </a:r>
          </a:p>
        </p:txBody>
      </p:sp>
      <p:sp>
        <p:nvSpPr>
          <p:cNvPr id="28" name="">
            <a:extLst xmlns:a="http://schemas.openxmlformats.org/drawingml/2006/main">
              <a:ext uri="{FF2B5EF4-FFF2-40B4-BE49-F238E27FC236}">
                <a16:creationId xmlns:a16="http://schemas.microsoft.com/office/drawing/2014/main" id="{F2A9533A-8E68-47B2-8DF1-0DA92E62C611}"/>
              </a:ext>
            </a:extLst>
          </p:cNvPr>
          <p:cNvSpPr>
            <a:spLocks xmlns:a="http://schemas.openxmlformats.org/drawingml/2006/main" noGrp="1"/>
          </p:cNvSpPr>
          <p:nvPr/>
        </p:nvSpPr>
        <p:spPr>
          <a:xfrm xmlns:a="http://schemas.openxmlformats.org/drawingml/2006/main">
            <a:off x="3143250" y="5095875"/>
            <a:ext cx="800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0">
                <a:solidFill>
                  <a:srgbClr val="5C6B77"/>
                </a:solidFill>
                <a:latin typeface="Calibri"/>
                <a:ea typeface="Calibri"/>
                <a:cs typeface="Calibri"/>
              </a:defRPr>
            </a:pPr>
            <a:r>
              <a:rPr sz="1575" b="0">
                <a:solidFill>
                  <a:srgbClr val="5C6B77"/>
                </a:solidFill>
                <a:latin typeface="Calibri"/>
                <a:ea typeface="Calibri"/>
                <a:cs typeface="Calibri"/>
              </a:rPr>
              <a:t>Reproducible pipeline, tests, CI and interactive dashboard</a:t>
            </a:r>
          </a:p>
        </p:txBody>
      </p:sp>
      <p:sp>
        <p:nvSpPr>
          <p:cNvPr id="29" name="">
            <a:extLst xmlns:a="http://schemas.openxmlformats.org/drawingml/2006/main">
              <a:ext uri="{FF2B5EF4-FFF2-40B4-BE49-F238E27FC236}">
                <a16:creationId xmlns:a16="http://schemas.microsoft.com/office/drawing/2014/main" id="{8B7C200F-24FD-440A-9AAB-42ACBA34CFED}"/>
              </a:ext>
            </a:extLst>
          </p:cNvPr>
          <p:cNvSpPr>
            <a:spLocks xmlns:a="http://schemas.openxmlformats.org/drawingml/2006/main" noGrp="1"/>
          </p:cNvSpPr>
          <p:nvPr/>
        </p:nvSpPr>
        <p:spPr>
          <a:xfrm xmlns:a="http://schemas.openxmlformats.org/drawingml/2006/main">
            <a:off x="1524000" y="5619750"/>
            <a:ext cx="9334500" cy="0"/>
          </a:xfrm>
          <a:prstGeom xmlns:a="http://schemas.openxmlformats.org/drawingml/2006/main" prst="line">
            <a:avLst/>
          </a:prstGeom>
          <a:ln xmlns:a="http://schemas.openxmlformats.org/drawingml/2006/main" w="9525">
            <a:solidFill>
              <a:srgbClr val="C9D4DC"/>
            </a:solidFill>
          </a:ln>
        </p:spPr>
      </p:sp>
    </p:spTree>
    <p:extLst>
      <p:ext uri="{BB962C8B-B14F-4D97-AF65-F5344CB8AC3E}">
        <p14:creationId xmlns:p14="http://schemas.microsoft.com/office/powerpoint/2010/main" val="1749009010"/>
      </p:ext>
    </p:extLst>
  </p:cSld>
</p:sld>
</file>

<file path=ppt/slides/slide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875E135B-5929-4868-802C-5C80F8158B4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7C7D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F72538-884C-4535-9B43-C0113B090714}"/>
              </a:ext>
            </a:extLst>
          </p:cNvPr>
          <p:cNvSpPr>
            <a:spLocks xmlns:a="http://schemas.openxmlformats.org/drawingml/2006/main" noGrp="1"/>
          </p:cNvSpPr>
          <p:nvPr/>
        </p:nvSpPr>
        <p:spPr>
          <a:xfrm xmlns:a="http://schemas.openxmlformats.org/drawingml/2006/main">
            <a:off x="609600" y="2667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75" b="1">
                <a:solidFill>
                  <a:srgbClr val="0E8A92"/>
                </a:solidFill>
                <a:latin typeface="Calibri"/>
                <a:ea typeface="Calibri"/>
                <a:cs typeface="Calibri"/>
              </a:defRPr>
            </a:pPr>
            <a:r>
              <a:rPr sz="975" b="1">
                <a:solidFill>
                  <a:srgbClr val="0E8A92"/>
                </a:solidFill>
                <a:latin typeface="Calibri"/>
                <a:ea typeface="Calibri"/>
                <a:cs typeface="Calibri"/>
              </a:rPr>
              <a:t>SYSTEM FLOW</a:t>
            </a:r>
          </a:p>
        </p:txBody>
      </p:sp>
      <p:sp>
        <p:nvSpPr>
          <p:cNvPr id="3" name="">
            <a:extLst xmlns:a="http://schemas.openxmlformats.org/drawingml/2006/main">
              <a:ext uri="{FF2B5EF4-FFF2-40B4-BE49-F238E27FC236}">
                <a16:creationId xmlns:a16="http://schemas.microsoft.com/office/drawing/2014/main" id="{CA36A91A-E741-4FFA-955E-DF4C73BBC643}"/>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2550" b="1">
                <a:solidFill>
                  <a:srgbClr val="132433"/>
                </a:solidFill>
                <a:latin typeface="Calibri"/>
                <a:ea typeface="Calibri"/>
                <a:cs typeface="Calibri"/>
              </a:defRPr>
            </a:pPr>
            <a:r>
              <a:rPr sz="2550" b="1">
                <a:solidFill>
                  <a:srgbClr val="132433"/>
                </a:solidFill>
                <a:latin typeface="Calibri"/>
                <a:ea typeface="Calibri"/>
                <a:cs typeface="Calibri"/>
              </a:rPr>
              <a:t>Proposed Design and Methodology</a:t>
            </a:r>
          </a:p>
        </p:txBody>
      </p:sp>
      <p:sp>
        <p:nvSpPr>
          <p:cNvPr id="4" name="">
            <a:extLst xmlns:a="http://schemas.openxmlformats.org/drawingml/2006/main">
              <a:ext uri="{FF2B5EF4-FFF2-40B4-BE49-F238E27FC236}">
                <a16:creationId xmlns:a16="http://schemas.microsoft.com/office/drawing/2014/main" id="{3DD6CE10-C8C2-42BF-92F0-9A0E334A4CC9}"/>
              </a:ext>
            </a:extLst>
          </p:cNvPr>
          <p:cNvSpPr>
            <a:spLocks xmlns:a="http://schemas.openxmlformats.org/drawingml/2006/main" noGrp="1"/>
          </p:cNvSpPr>
          <p:nvPr/>
        </p:nvSpPr>
        <p:spPr>
          <a:xfrm xmlns:a="http://schemas.openxmlformats.org/drawingml/2006/main">
            <a:off x="11334750" y="62674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r">
              <a:defRPr sz="975" b="0">
                <a:solidFill>
                  <a:srgbClr val="5C6B77"/>
                </a:solidFill>
                <a:latin typeface="Calibri"/>
                <a:ea typeface="Calibri"/>
                <a:cs typeface="Calibri"/>
              </a:defRPr>
            </a:pPr>
            <a:r>
              <a:rPr sz="975" b="0">
                <a:solidFill>
                  <a:srgbClr val="5C6B77"/>
                </a:solidFill>
                <a:latin typeface="Calibri"/>
                <a:ea typeface="Calibri"/>
                <a:cs typeface="Calibri"/>
              </a:rPr>
              <a:t>06</a:t>
            </a:r>
          </a:p>
        </p:txBody>
      </p:sp>
      <p:sp>
        <p:nvSpPr>
          <p:cNvPr id="5" name="">
            <a:extLst xmlns:a="http://schemas.openxmlformats.org/drawingml/2006/main">
              <a:ext uri="{FF2B5EF4-FFF2-40B4-BE49-F238E27FC236}">
                <a16:creationId xmlns:a16="http://schemas.microsoft.com/office/drawing/2014/main" id="{50D477FA-255B-4561-B336-22CBDAD1514B}"/>
              </a:ext>
            </a:extLst>
          </p:cNvPr>
          <p:cNvSpPr>
            <a:spLocks xmlns:a="http://schemas.openxmlformats.org/drawingml/2006/main" noGrp="1"/>
          </p:cNvSpPr>
          <p:nvPr/>
        </p:nvSpPr>
        <p:spPr>
          <a:xfrm xmlns:a="http://schemas.openxmlformats.org/drawingml/2006/main">
            <a:off x="552450" y="1524000"/>
            <a:ext cx="15240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C9D4DC"/>
            </a:solidFill>
          </a:ln>
        </p:spPr>
      </p:sp>
      <p:sp>
        <p:nvSpPr>
          <p:cNvPr id="6" name="">
            <a:extLst xmlns:a="http://schemas.openxmlformats.org/drawingml/2006/main">
              <a:ext uri="{FF2B5EF4-FFF2-40B4-BE49-F238E27FC236}">
                <a16:creationId xmlns:a16="http://schemas.microsoft.com/office/drawing/2014/main" id="{30E4107E-918A-4112-8EFE-8662B7379FF9}"/>
              </a:ext>
            </a:extLst>
          </p:cNvPr>
          <p:cNvSpPr>
            <a:spLocks xmlns:a="http://schemas.openxmlformats.org/drawingml/2006/main" noGrp="1"/>
          </p:cNvSpPr>
          <p:nvPr/>
        </p:nvSpPr>
        <p:spPr>
          <a:xfrm xmlns:a="http://schemas.openxmlformats.org/drawingml/2006/main">
            <a:off x="647700" y="1666875"/>
            <a:ext cx="133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275" b="1">
                <a:solidFill>
                  <a:srgbClr val="132433"/>
                </a:solidFill>
                <a:latin typeface="Calibri"/>
                <a:ea typeface="Calibri"/>
                <a:cs typeface="Calibri"/>
              </a:defRPr>
            </a:pPr>
            <a:r>
              <a:rPr sz="1275" b="1">
                <a:solidFill>
                  <a:srgbClr val="132433"/>
                </a:solidFill>
                <a:latin typeface="Calibri"/>
                <a:ea typeface="Calibri"/>
                <a:cs typeface="Calibri"/>
              </a:rPr>
              <a:t>Raw stream</a:t>
            </a:r>
          </a:p>
        </p:txBody>
      </p:sp>
      <p:sp>
        <p:nvSpPr>
          <p:cNvPr id="7" name="">
            <a:extLst xmlns:a="http://schemas.openxmlformats.org/drawingml/2006/main">
              <a:ext uri="{FF2B5EF4-FFF2-40B4-BE49-F238E27FC236}">
                <a16:creationId xmlns:a16="http://schemas.microsoft.com/office/drawing/2014/main" id="{F9289E17-9A70-4AF3-9EB3-AEDA680CEFC9}"/>
              </a:ext>
            </a:extLst>
          </p:cNvPr>
          <p:cNvSpPr>
            <a:spLocks xmlns:a="http://schemas.openxmlformats.org/drawingml/2006/main" noGrp="1"/>
          </p:cNvSpPr>
          <p:nvPr/>
        </p:nvSpPr>
        <p:spPr>
          <a:xfrm xmlns:a="http://schemas.openxmlformats.org/drawingml/2006/main">
            <a:off x="2286000" y="1524000"/>
            <a:ext cx="15240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C9D4DC"/>
            </a:solidFill>
          </a:ln>
        </p:spPr>
      </p:sp>
      <p:sp>
        <p:nvSpPr>
          <p:cNvPr id="8" name="">
            <a:extLst xmlns:a="http://schemas.openxmlformats.org/drawingml/2006/main">
              <a:ext uri="{FF2B5EF4-FFF2-40B4-BE49-F238E27FC236}">
                <a16:creationId xmlns:a16="http://schemas.microsoft.com/office/drawing/2014/main" id="{76E70A9A-D2AB-4601-A2D3-1B8A634B5FBA}"/>
              </a:ext>
            </a:extLst>
          </p:cNvPr>
          <p:cNvSpPr>
            <a:spLocks xmlns:a="http://schemas.openxmlformats.org/drawingml/2006/main" noGrp="1"/>
          </p:cNvSpPr>
          <p:nvPr/>
        </p:nvSpPr>
        <p:spPr>
          <a:xfrm xmlns:a="http://schemas.openxmlformats.org/drawingml/2006/main">
            <a:off x="2381250" y="1666875"/>
            <a:ext cx="133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275" b="1">
                <a:solidFill>
                  <a:srgbClr val="132433"/>
                </a:solidFill>
                <a:latin typeface="Calibri"/>
                <a:ea typeface="Calibri"/>
                <a:cs typeface="Calibri"/>
              </a:defRPr>
            </a:pPr>
            <a:r>
              <a:rPr sz="1275" b="1">
                <a:solidFill>
                  <a:srgbClr val="132433"/>
                </a:solidFill>
                <a:latin typeface="Calibri"/>
                <a:ea typeface="Calibri"/>
                <a:cs typeface="Calibri"/>
              </a:rPr>
              <a:t>Online classifier</a:t>
            </a:r>
          </a:p>
        </p:txBody>
      </p:sp>
      <p:cxnSp>
        <p:nvCxnSpPr>
          <p:cNvPr id="49" name=""/>
          <p:cNvCxnSpPr>
            <a:stCxn xmlns:a="http://schemas.openxmlformats.org/drawingml/2006/main" id="5" idx="3"/>
            <a:endCxn xmlns:a="http://schemas.openxmlformats.org/drawingml/2006/main" id="7" idx="1"/>
          </p:cNvCxnSpPr>
          <p:nvPr/>
        </p:nvCxnSpPr>
        <p:spPr>
          <a:xfrm xmlns:a="http://schemas.openxmlformats.org/drawingml/2006/main">
            <a:off x="2076450" y="1962150"/>
            <a:ext cx="209550" cy="0"/>
          </a:xfrm>
          <a:prstGeom xmlns:a="http://schemas.openxmlformats.org/drawingml/2006/main" prst="straightConnector1">
            <a:avLst/>
          </a:prstGeom>
          <a:ln xmlns:a="http://schemas.openxmlformats.org/drawingml/2006/main" w="19050">
            <a:solidFill>
              <a:srgbClr val="0E8A92"/>
            </a:solidFill>
            <a:tailEnd type="arrow" w="sm" len="sm"/>
          </a:ln>
        </p:spPr>
      </p:cxnSp>
      <p:sp>
        <p:nvSpPr>
          <p:cNvPr id="10" name="">
            <a:extLst xmlns:a="http://schemas.openxmlformats.org/drawingml/2006/main">
              <a:ext uri="{FF2B5EF4-FFF2-40B4-BE49-F238E27FC236}">
                <a16:creationId xmlns:a16="http://schemas.microsoft.com/office/drawing/2014/main" id="{69F33B72-3A59-48B0-8475-9BC06DCDB50F}"/>
              </a:ext>
            </a:extLst>
          </p:cNvPr>
          <p:cNvSpPr>
            <a:spLocks xmlns:a="http://schemas.openxmlformats.org/drawingml/2006/main" noGrp="1"/>
          </p:cNvSpPr>
          <p:nvPr/>
        </p:nvSpPr>
        <p:spPr>
          <a:xfrm xmlns:a="http://schemas.openxmlformats.org/drawingml/2006/main">
            <a:off x="4019550" y="1524000"/>
            <a:ext cx="15240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C9D4DC"/>
            </a:solidFill>
          </a:ln>
        </p:spPr>
      </p:sp>
      <p:sp>
        <p:nvSpPr>
          <p:cNvPr id="11" name="">
            <a:extLst xmlns:a="http://schemas.openxmlformats.org/drawingml/2006/main">
              <a:ext uri="{FF2B5EF4-FFF2-40B4-BE49-F238E27FC236}">
                <a16:creationId xmlns:a16="http://schemas.microsoft.com/office/drawing/2014/main" id="{7964265C-2FB9-47DA-A319-8CB15D6F8C98}"/>
              </a:ext>
            </a:extLst>
          </p:cNvPr>
          <p:cNvSpPr>
            <a:spLocks xmlns:a="http://schemas.openxmlformats.org/drawingml/2006/main" noGrp="1"/>
          </p:cNvSpPr>
          <p:nvPr/>
        </p:nvSpPr>
        <p:spPr>
          <a:xfrm xmlns:a="http://schemas.openxmlformats.org/drawingml/2006/main">
            <a:off x="4114800" y="1666875"/>
            <a:ext cx="133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94771"/>
          </a:bodyPr>
          <a:lstStyle xmlns:a="http://schemas.openxmlformats.org/drawingml/2006/main"/>
          <a:p xmlns:a="http://schemas.openxmlformats.org/drawingml/2006/main">
            <a:pPr algn="ctr">
              <a:defRPr sz="1275" b="1">
                <a:solidFill>
                  <a:srgbClr val="132433"/>
                </a:solidFill>
                <a:latin typeface="Calibri"/>
                <a:ea typeface="Calibri"/>
                <a:cs typeface="Calibri"/>
              </a:defRPr>
            </a:pPr>
            <a:r>
              <a:rPr sz="1275" b="1">
                <a:solidFill>
                  <a:srgbClr val="132433"/>
                </a:solidFill>
                <a:latin typeface="Calibri"/>
                <a:ea typeface="Calibri"/>
                <a:cs typeface="Calibri"/>
              </a:rPr>
              <a:t>Rolling features</a:t>
            </a:r>
          </a:p>
          <a:p xmlns:a="http://schemas.openxmlformats.org/drawingml/2006/main">
            <a:pPr algn="ctr">
              <a:defRPr sz="1275" b="1">
                <a:solidFill>
                  <a:srgbClr val="132433"/>
                </a:solidFill>
                <a:latin typeface="Calibri"/>
                <a:ea typeface="Calibri"/>
                <a:cs typeface="Calibri"/>
              </a:defRPr>
            </a:pPr>
            <a:r>
              <a:rPr sz="1275" b="1">
                <a:solidFill>
                  <a:srgbClr val="132433"/>
                </a:solidFill>
                <a:latin typeface="Calibri"/>
                <a:ea typeface="Calibri"/>
                <a:cs typeface="Calibri"/>
              </a:rPr>
              <a:t>PSI and confidence</a:t>
            </a:r>
          </a:p>
        </p:txBody>
      </p:sp>
      <p:cxnSp>
        <p:nvCxnSpPr>
          <p:cNvPr id="52" name=""/>
          <p:cNvCxnSpPr>
            <a:stCxn xmlns:a="http://schemas.openxmlformats.org/drawingml/2006/main" id="7" idx="3"/>
            <a:endCxn xmlns:a="http://schemas.openxmlformats.org/drawingml/2006/main" id="10" idx="1"/>
          </p:cNvCxnSpPr>
          <p:nvPr/>
        </p:nvCxnSpPr>
        <p:spPr>
          <a:xfrm xmlns:a="http://schemas.openxmlformats.org/drawingml/2006/main">
            <a:off x="3810000" y="1962150"/>
            <a:ext cx="209550" cy="0"/>
          </a:xfrm>
          <a:prstGeom xmlns:a="http://schemas.openxmlformats.org/drawingml/2006/main" prst="straightConnector1">
            <a:avLst/>
          </a:prstGeom>
          <a:ln xmlns:a="http://schemas.openxmlformats.org/drawingml/2006/main" w="19050">
            <a:solidFill>
              <a:srgbClr val="0E8A92"/>
            </a:solidFill>
            <a:tailEnd type="arrow" w="sm" len="sm"/>
          </a:ln>
        </p:spPr>
      </p:cxnSp>
      <p:sp>
        <p:nvSpPr>
          <p:cNvPr id="13" name="">
            <a:extLst xmlns:a="http://schemas.openxmlformats.org/drawingml/2006/main">
              <a:ext uri="{FF2B5EF4-FFF2-40B4-BE49-F238E27FC236}">
                <a16:creationId xmlns:a16="http://schemas.microsoft.com/office/drawing/2014/main" id="{E8E75134-C230-4DB5-AB13-6956D72E5CA1}"/>
              </a:ext>
            </a:extLst>
          </p:cNvPr>
          <p:cNvSpPr>
            <a:spLocks xmlns:a="http://schemas.openxmlformats.org/drawingml/2006/main" noGrp="1"/>
          </p:cNvSpPr>
          <p:nvPr/>
        </p:nvSpPr>
        <p:spPr>
          <a:xfrm xmlns:a="http://schemas.openxmlformats.org/drawingml/2006/main">
            <a:off x="5753100" y="1524000"/>
            <a:ext cx="15240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C9D4DC"/>
            </a:solidFill>
          </a:ln>
        </p:spPr>
      </p:sp>
      <p:sp>
        <p:nvSpPr>
          <p:cNvPr id="14" name="">
            <a:extLst xmlns:a="http://schemas.openxmlformats.org/drawingml/2006/main">
              <a:ext uri="{FF2B5EF4-FFF2-40B4-BE49-F238E27FC236}">
                <a16:creationId xmlns:a16="http://schemas.microsoft.com/office/drawing/2014/main" id="{409BB4C2-A1D1-4272-A5C4-F6DBD568153D}"/>
              </a:ext>
            </a:extLst>
          </p:cNvPr>
          <p:cNvSpPr>
            <a:spLocks xmlns:a="http://schemas.openxmlformats.org/drawingml/2006/main" noGrp="1"/>
          </p:cNvSpPr>
          <p:nvPr/>
        </p:nvSpPr>
        <p:spPr>
          <a:xfrm xmlns:a="http://schemas.openxmlformats.org/drawingml/2006/main">
            <a:off x="5848350" y="1666875"/>
            <a:ext cx="133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275" b="1">
                <a:solidFill>
                  <a:srgbClr val="132433"/>
                </a:solidFill>
                <a:latin typeface="Calibri"/>
                <a:ea typeface="Calibri"/>
                <a:cs typeface="Calibri"/>
              </a:defRPr>
            </a:pPr>
            <a:r>
              <a:rPr sz="1275" b="1">
                <a:solidFill>
                  <a:srgbClr val="132433"/>
                </a:solidFill>
                <a:latin typeface="Calibri"/>
                <a:ea typeface="Calibri"/>
                <a:cs typeface="Calibri"/>
              </a:rPr>
              <a:t>Sequence builder</a:t>
            </a:r>
          </a:p>
        </p:txBody>
      </p:sp>
      <p:cxnSp>
        <p:nvCxnSpPr>
          <p:cNvPr id="55" name=""/>
          <p:cNvCxnSpPr>
            <a:stCxn xmlns:a="http://schemas.openxmlformats.org/drawingml/2006/main" id="10" idx="3"/>
            <a:endCxn xmlns:a="http://schemas.openxmlformats.org/drawingml/2006/main" id="13" idx="1"/>
          </p:cNvCxnSpPr>
          <p:nvPr/>
        </p:nvCxnSpPr>
        <p:spPr>
          <a:xfrm xmlns:a="http://schemas.openxmlformats.org/drawingml/2006/main">
            <a:off x="5543550" y="1962150"/>
            <a:ext cx="209550" cy="0"/>
          </a:xfrm>
          <a:prstGeom xmlns:a="http://schemas.openxmlformats.org/drawingml/2006/main" prst="straightConnector1">
            <a:avLst/>
          </a:prstGeom>
          <a:ln xmlns:a="http://schemas.openxmlformats.org/drawingml/2006/main" w="19050">
            <a:solidFill>
              <a:srgbClr val="0E8A92"/>
            </a:solidFill>
            <a:tailEnd type="arrow" w="sm" len="sm"/>
          </a:ln>
        </p:spPr>
      </p:cxnSp>
      <p:sp>
        <p:nvSpPr>
          <p:cNvPr id="16" name="">
            <a:extLst xmlns:a="http://schemas.openxmlformats.org/drawingml/2006/main">
              <a:ext uri="{FF2B5EF4-FFF2-40B4-BE49-F238E27FC236}">
                <a16:creationId xmlns:a16="http://schemas.microsoft.com/office/drawing/2014/main" id="{FCB5A81B-893D-4F5B-ABDD-942A69BABC62}"/>
              </a:ext>
            </a:extLst>
          </p:cNvPr>
          <p:cNvSpPr>
            <a:spLocks xmlns:a="http://schemas.openxmlformats.org/drawingml/2006/main" noGrp="1"/>
          </p:cNvSpPr>
          <p:nvPr/>
        </p:nvSpPr>
        <p:spPr>
          <a:xfrm xmlns:a="http://schemas.openxmlformats.org/drawingml/2006/main">
            <a:off x="7486650" y="1524000"/>
            <a:ext cx="1905000" cy="876300"/>
          </a:xfrm>
          <a:prstGeom xmlns:a="http://schemas.openxmlformats.org/drawingml/2006/main" prst="roundRect">
            <a:avLst>
              <a:gd name="adj" fmla="val 8696"/>
            </a:avLst>
          </a:prstGeom>
          <a:solidFill xmlns:a="http://schemas.openxmlformats.org/drawingml/2006/main">
            <a:srgbClr val="DDF4F3"/>
          </a:solidFill>
          <a:ln xmlns:a="http://schemas.openxmlformats.org/drawingml/2006/main" w="9525">
            <a:solidFill>
              <a:srgbClr val="0E8A92"/>
            </a:solidFill>
          </a:ln>
        </p:spPr>
      </p:sp>
      <p:sp>
        <p:nvSpPr>
          <p:cNvPr id="17" name="">
            <a:extLst xmlns:a="http://schemas.openxmlformats.org/drawingml/2006/main">
              <a:ext uri="{FF2B5EF4-FFF2-40B4-BE49-F238E27FC236}">
                <a16:creationId xmlns:a16="http://schemas.microsoft.com/office/drawing/2014/main" id="{6D2476FE-5EDE-4E4A-82F6-739E66E471F0}"/>
              </a:ext>
            </a:extLst>
          </p:cNvPr>
          <p:cNvSpPr>
            <a:spLocks xmlns:a="http://schemas.openxmlformats.org/drawingml/2006/main" noGrp="1"/>
          </p:cNvSpPr>
          <p:nvPr/>
        </p:nvSpPr>
        <p:spPr>
          <a:xfrm xmlns:a="http://schemas.openxmlformats.org/drawingml/2006/main">
            <a:off x="7581900" y="1666875"/>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275" b="1">
                <a:solidFill>
                  <a:srgbClr val="132433"/>
                </a:solidFill>
                <a:latin typeface="Calibri"/>
                <a:ea typeface="Calibri"/>
                <a:cs typeface="Calibri"/>
              </a:defRPr>
            </a:pPr>
            <a:r>
              <a:rPr sz="1275" b="1">
                <a:solidFill>
                  <a:srgbClr val="132433"/>
                </a:solidFill>
                <a:latin typeface="Calibri"/>
                <a:ea typeface="Calibri"/>
                <a:cs typeface="Calibri"/>
              </a:rPr>
              <a:t>LR / GRU / LSTM /</a:t>
            </a:r>
          </a:p>
          <a:p xmlns:a="http://schemas.openxmlformats.org/drawingml/2006/main">
            <a:pPr algn="ctr">
              <a:defRPr sz="1275" b="1">
                <a:solidFill>
                  <a:srgbClr val="132433"/>
                </a:solidFill>
                <a:latin typeface="Calibri"/>
                <a:ea typeface="Calibri"/>
                <a:cs typeface="Calibri"/>
              </a:defRPr>
            </a:pPr>
            <a:r>
              <a:rPr sz="1275" b="1">
                <a:solidFill>
                  <a:srgbClr val="132433"/>
                </a:solidFill>
                <a:latin typeface="Calibri"/>
                <a:ea typeface="Calibri"/>
                <a:cs typeface="Calibri"/>
              </a:rPr>
              <a:t>Transformer</a:t>
            </a:r>
          </a:p>
        </p:txBody>
      </p:sp>
      <p:cxnSp>
        <p:nvCxnSpPr>
          <p:cNvPr id="58" name=""/>
          <p:cNvCxnSpPr>
            <a:stCxn xmlns:a="http://schemas.openxmlformats.org/drawingml/2006/main" id="13" idx="3"/>
            <a:endCxn xmlns:a="http://schemas.openxmlformats.org/drawingml/2006/main" id="16" idx="1"/>
          </p:cNvCxnSpPr>
          <p:nvPr/>
        </p:nvCxnSpPr>
        <p:spPr>
          <a:xfrm xmlns:a="http://schemas.openxmlformats.org/drawingml/2006/main">
            <a:off x="7277100" y="1962150"/>
            <a:ext cx="209550" cy="0"/>
          </a:xfrm>
          <a:prstGeom xmlns:a="http://schemas.openxmlformats.org/drawingml/2006/main" prst="straightConnector1">
            <a:avLst/>
          </a:prstGeom>
          <a:ln xmlns:a="http://schemas.openxmlformats.org/drawingml/2006/main" w="19050">
            <a:solidFill>
              <a:srgbClr val="0E8A92"/>
            </a:solidFill>
            <a:tailEnd type="arrow" w="sm" len="sm"/>
          </a:ln>
        </p:spPr>
      </p:cxnSp>
      <p:sp>
        <p:nvSpPr>
          <p:cNvPr id="19" name="">
            <a:extLst xmlns:a="http://schemas.openxmlformats.org/drawingml/2006/main">
              <a:ext uri="{FF2B5EF4-FFF2-40B4-BE49-F238E27FC236}">
                <a16:creationId xmlns:a16="http://schemas.microsoft.com/office/drawing/2014/main" id="{1624416D-5E65-4C6B-814E-952CA3847C3E}"/>
              </a:ext>
            </a:extLst>
          </p:cNvPr>
          <p:cNvSpPr>
            <a:spLocks xmlns:a="http://schemas.openxmlformats.org/drawingml/2006/main" noGrp="1"/>
          </p:cNvSpPr>
          <p:nvPr/>
        </p:nvSpPr>
        <p:spPr>
          <a:xfrm xmlns:a="http://schemas.openxmlformats.org/drawingml/2006/main">
            <a:off x="9658350" y="1524000"/>
            <a:ext cx="15240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C9D4DC"/>
            </a:solidFill>
          </a:ln>
        </p:spPr>
      </p:sp>
      <p:sp>
        <p:nvSpPr>
          <p:cNvPr id="20" name="">
            <a:extLst xmlns:a="http://schemas.openxmlformats.org/drawingml/2006/main">
              <a:ext uri="{FF2B5EF4-FFF2-40B4-BE49-F238E27FC236}">
                <a16:creationId xmlns:a16="http://schemas.microsoft.com/office/drawing/2014/main" id="{4AB30D67-5FB3-4D72-A1F9-24DE0D198C17}"/>
              </a:ext>
            </a:extLst>
          </p:cNvPr>
          <p:cNvSpPr>
            <a:spLocks xmlns:a="http://schemas.openxmlformats.org/drawingml/2006/main" noGrp="1"/>
          </p:cNvSpPr>
          <p:nvPr/>
        </p:nvSpPr>
        <p:spPr>
          <a:xfrm xmlns:a="http://schemas.openxmlformats.org/drawingml/2006/main">
            <a:off x="9753600" y="1666875"/>
            <a:ext cx="133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275" b="1">
                <a:solidFill>
                  <a:srgbClr val="132433"/>
                </a:solidFill>
                <a:latin typeface="Calibri"/>
                <a:ea typeface="Calibri"/>
                <a:cs typeface="Calibri"/>
              </a:defRPr>
            </a:pPr>
            <a:r>
              <a:rPr sz="1275" b="1">
                <a:solidFill>
                  <a:srgbClr val="132433"/>
                </a:solidFill>
                <a:latin typeface="Calibri"/>
                <a:ea typeface="Calibri"/>
                <a:cs typeface="Calibri"/>
              </a:rPr>
              <a:t>Drift probability</a:t>
            </a:r>
          </a:p>
        </p:txBody>
      </p:sp>
      <p:cxnSp>
        <p:nvCxnSpPr>
          <p:cNvPr id="61" name=""/>
          <p:cNvCxnSpPr>
            <a:stCxn xmlns:a="http://schemas.openxmlformats.org/drawingml/2006/main" id="16" idx="3"/>
            <a:endCxn xmlns:a="http://schemas.openxmlformats.org/drawingml/2006/main" id="19" idx="1"/>
          </p:cNvCxnSpPr>
          <p:nvPr/>
        </p:nvCxnSpPr>
        <p:spPr>
          <a:xfrm xmlns:a="http://schemas.openxmlformats.org/drawingml/2006/main">
            <a:off x="9391650" y="1962150"/>
            <a:ext cx="266700" cy="0"/>
          </a:xfrm>
          <a:prstGeom xmlns:a="http://schemas.openxmlformats.org/drawingml/2006/main" prst="straightConnector1">
            <a:avLst/>
          </a:prstGeom>
          <a:ln xmlns:a="http://schemas.openxmlformats.org/drawingml/2006/main" w="19050">
            <a:solidFill>
              <a:srgbClr val="0E8A92"/>
            </a:solidFill>
            <a:tailEnd type="arrow" w="sm" len="sm"/>
          </a:ln>
        </p:spPr>
      </p:cxnSp>
      <p:sp>
        <p:nvSpPr>
          <p:cNvPr id="22" name="">
            <a:extLst xmlns:a="http://schemas.openxmlformats.org/drawingml/2006/main">
              <a:ext uri="{FF2B5EF4-FFF2-40B4-BE49-F238E27FC236}">
                <a16:creationId xmlns:a16="http://schemas.microsoft.com/office/drawing/2014/main" id="{ECF58FEB-00CA-440D-9F13-6BCE824DA1D5}"/>
              </a:ext>
            </a:extLst>
          </p:cNvPr>
          <p:cNvSpPr>
            <a:spLocks xmlns:a="http://schemas.openxmlformats.org/drawingml/2006/main" noGrp="1"/>
          </p:cNvSpPr>
          <p:nvPr/>
        </p:nvSpPr>
        <p:spPr>
          <a:xfrm xmlns:a="http://schemas.openxmlformats.org/drawingml/2006/main">
            <a:off x="8572500" y="3238500"/>
            <a:ext cx="180975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C9D4DC"/>
            </a:solidFill>
          </a:ln>
        </p:spPr>
      </p:sp>
      <p:sp>
        <p:nvSpPr>
          <p:cNvPr id="23" name="">
            <a:extLst xmlns:a="http://schemas.openxmlformats.org/drawingml/2006/main">
              <a:ext uri="{FF2B5EF4-FFF2-40B4-BE49-F238E27FC236}">
                <a16:creationId xmlns:a16="http://schemas.microsoft.com/office/drawing/2014/main" id="{33EADACB-DC0F-4228-97DF-B2016FBB5017}"/>
              </a:ext>
            </a:extLst>
          </p:cNvPr>
          <p:cNvSpPr>
            <a:spLocks xmlns:a="http://schemas.openxmlformats.org/drawingml/2006/main" noGrp="1"/>
          </p:cNvSpPr>
          <p:nvPr/>
        </p:nvSpPr>
        <p:spPr>
          <a:xfrm xmlns:a="http://schemas.openxmlformats.org/drawingml/2006/main">
            <a:off x="8705850" y="3390900"/>
            <a:ext cx="1543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97222"/>
          </a:bodyPr>
          <a:lstStyle xmlns:a="http://schemas.openxmlformats.org/drawingml/2006/main"/>
          <a:p xmlns:a="http://schemas.openxmlformats.org/drawingml/2006/main">
            <a:pPr algn="ctr">
              <a:defRPr sz="1350" b="1">
                <a:solidFill>
                  <a:srgbClr val="132433"/>
                </a:solidFill>
                <a:latin typeface="Calibri"/>
                <a:ea typeface="Calibri"/>
                <a:cs typeface="Calibri"/>
              </a:defRPr>
            </a:pPr>
            <a:r>
              <a:rPr sz="1350" b="1">
                <a:solidFill>
                  <a:srgbClr val="132433"/>
                </a:solidFill>
                <a:latin typeface="Calibri"/>
                <a:ea typeface="Calibri"/>
                <a:cs typeface="Calibri"/>
              </a:rPr>
              <a:t>Validation threshold</a:t>
            </a:r>
          </a:p>
        </p:txBody>
      </p:sp>
      <p:sp>
        <p:nvSpPr>
          <p:cNvPr id="24" name="">
            <a:extLst xmlns:a="http://schemas.openxmlformats.org/drawingml/2006/main">
              <a:ext uri="{FF2B5EF4-FFF2-40B4-BE49-F238E27FC236}">
                <a16:creationId xmlns:a16="http://schemas.microsoft.com/office/drawing/2014/main" id="{FD9799E3-7ED0-4D3A-95F0-4A972F3829DF}"/>
              </a:ext>
            </a:extLst>
          </p:cNvPr>
          <p:cNvSpPr>
            <a:spLocks xmlns:a="http://schemas.openxmlformats.org/drawingml/2006/main" noGrp="1"/>
          </p:cNvSpPr>
          <p:nvPr/>
        </p:nvSpPr>
        <p:spPr>
          <a:xfrm xmlns:a="http://schemas.openxmlformats.org/drawingml/2006/main">
            <a:off x="6286500" y="3238500"/>
            <a:ext cx="1714500" cy="742950"/>
          </a:xfrm>
          <a:prstGeom xmlns:a="http://schemas.openxmlformats.org/drawingml/2006/main" prst="roundRect">
            <a:avLst>
              <a:gd name="adj" fmla="val 10256"/>
            </a:avLst>
          </a:prstGeom>
          <a:solidFill xmlns:a="http://schemas.openxmlformats.org/drawingml/2006/main">
            <a:srgbClr val="DDF4F3"/>
          </a:solidFill>
          <a:ln xmlns:a="http://schemas.openxmlformats.org/drawingml/2006/main" w="9525">
            <a:solidFill>
              <a:srgbClr val="0E8A92"/>
            </a:solidFill>
          </a:ln>
        </p:spPr>
      </p:sp>
      <p:sp>
        <p:nvSpPr>
          <p:cNvPr id="25" name="">
            <a:extLst xmlns:a="http://schemas.openxmlformats.org/drawingml/2006/main">
              <a:ext uri="{FF2B5EF4-FFF2-40B4-BE49-F238E27FC236}">
                <a16:creationId xmlns:a16="http://schemas.microsoft.com/office/drawing/2014/main" id="{619DDBC2-4E52-4F4F-9508-9C64C8D0BD17}"/>
              </a:ext>
            </a:extLst>
          </p:cNvPr>
          <p:cNvSpPr>
            <a:spLocks xmlns:a="http://schemas.openxmlformats.org/drawingml/2006/main" noGrp="1"/>
          </p:cNvSpPr>
          <p:nvPr/>
        </p:nvSpPr>
        <p:spPr>
          <a:xfrm xmlns:a="http://schemas.openxmlformats.org/drawingml/2006/main">
            <a:off x="6438900" y="3390900"/>
            <a:ext cx="1409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500" b="1">
                <a:solidFill>
                  <a:srgbClr val="0E8A92"/>
                </a:solidFill>
                <a:latin typeface="Calibri"/>
                <a:ea typeface="Calibri"/>
                <a:cs typeface="Calibri"/>
              </a:defRPr>
            </a:pPr>
            <a:r>
              <a:rPr sz="1500" b="1">
                <a:solidFill>
                  <a:srgbClr val="0E8A92"/>
                </a:solidFill>
                <a:latin typeface="Calibri"/>
                <a:ea typeface="Calibri"/>
                <a:cs typeface="Calibri"/>
              </a:rPr>
              <a:t>Early warning</a:t>
            </a:r>
          </a:p>
        </p:txBody>
      </p:sp>
      <p:sp>
        <p:nvSpPr>
          <p:cNvPr id="26" name="">
            <a:extLst xmlns:a="http://schemas.openxmlformats.org/drawingml/2006/main">
              <a:ext uri="{FF2B5EF4-FFF2-40B4-BE49-F238E27FC236}">
                <a16:creationId xmlns:a16="http://schemas.microsoft.com/office/drawing/2014/main" id="{1E735E6C-05F6-4ADC-91A1-A712B904286F}"/>
              </a:ext>
            </a:extLst>
          </p:cNvPr>
          <p:cNvSpPr>
            <a:spLocks xmlns:a="http://schemas.openxmlformats.org/drawingml/2006/main" noGrp="1"/>
          </p:cNvSpPr>
          <p:nvPr/>
        </p:nvSpPr>
        <p:spPr>
          <a:xfrm xmlns:a="http://schemas.openxmlformats.org/drawingml/2006/main">
            <a:off x="3790950" y="3238500"/>
            <a:ext cx="1905000" cy="742950"/>
          </a:xfrm>
          <a:prstGeom xmlns:a="http://schemas.openxmlformats.org/drawingml/2006/main" prst="roundRect">
            <a:avLst>
              <a:gd name="adj" fmla="val 10256"/>
            </a:avLst>
          </a:prstGeom>
          <a:solidFill xmlns:a="http://schemas.openxmlformats.org/drawingml/2006/main">
            <a:srgbClr val="FFF3DD"/>
          </a:solidFill>
          <a:ln xmlns:a="http://schemas.openxmlformats.org/drawingml/2006/main" w="9525">
            <a:solidFill>
              <a:srgbClr val="F1A33C"/>
            </a:solidFill>
          </a:ln>
        </p:spPr>
      </p:sp>
      <p:sp>
        <p:nvSpPr>
          <p:cNvPr id="27" name="">
            <a:extLst xmlns:a="http://schemas.openxmlformats.org/drawingml/2006/main">
              <a:ext uri="{FF2B5EF4-FFF2-40B4-BE49-F238E27FC236}">
                <a16:creationId xmlns:a16="http://schemas.microsoft.com/office/drawing/2014/main" id="{A7EF8793-2F0F-4C0F-B0DC-805FA8C062EA}"/>
              </a:ext>
            </a:extLst>
          </p:cNvPr>
          <p:cNvSpPr>
            <a:spLocks xmlns:a="http://schemas.openxmlformats.org/drawingml/2006/main" noGrp="1"/>
          </p:cNvSpPr>
          <p:nvPr/>
        </p:nvSpPr>
        <p:spPr>
          <a:xfrm xmlns:a="http://schemas.openxmlformats.org/drawingml/2006/main">
            <a:off x="3952875" y="3333750"/>
            <a:ext cx="1581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350" b="1">
                <a:solidFill>
                  <a:srgbClr val="132433"/>
                </a:solidFill>
                <a:latin typeface="Calibri"/>
                <a:ea typeface="Calibri"/>
                <a:cs typeface="Calibri"/>
              </a:defRPr>
            </a:pPr>
            <a:r>
              <a:rPr sz="1350" b="1">
                <a:solidFill>
                  <a:srgbClr val="132433"/>
                </a:solidFill>
                <a:latin typeface="Calibri"/>
                <a:ea typeface="Calibri"/>
                <a:cs typeface="Calibri"/>
              </a:rPr>
              <a:t>Alert-triggered</a:t>
            </a:r>
          </a:p>
          <a:p xmlns:a="http://schemas.openxmlformats.org/drawingml/2006/main">
            <a:pPr algn="ctr">
              <a:defRPr sz="1350" b="1">
                <a:solidFill>
                  <a:srgbClr val="132433"/>
                </a:solidFill>
                <a:latin typeface="Calibri"/>
                <a:ea typeface="Calibri"/>
                <a:cs typeface="Calibri"/>
              </a:defRPr>
            </a:pPr>
            <a:r>
              <a:rPr sz="1350" b="1">
                <a:solidFill>
                  <a:srgbClr val="132433"/>
                </a:solidFill>
                <a:latin typeface="Calibri"/>
                <a:ea typeface="Calibri"/>
                <a:cs typeface="Calibri"/>
              </a:rPr>
              <a:t>adaptation</a:t>
            </a:r>
          </a:p>
        </p:txBody>
      </p:sp>
      <p:sp>
        <p:nvSpPr>
          <p:cNvPr id="28" name="">
            <a:extLst xmlns:a="http://schemas.openxmlformats.org/drawingml/2006/main">
              <a:ext uri="{FF2B5EF4-FFF2-40B4-BE49-F238E27FC236}">
                <a16:creationId xmlns:a16="http://schemas.microsoft.com/office/drawing/2014/main" id="{1EB86ACB-69A3-4C70-A2ED-C5B1F839F346}"/>
              </a:ext>
            </a:extLst>
          </p:cNvPr>
          <p:cNvSpPr>
            <a:spLocks xmlns:a="http://schemas.openxmlformats.org/drawingml/2006/main" noGrp="1"/>
          </p:cNvSpPr>
          <p:nvPr/>
        </p:nvSpPr>
        <p:spPr>
          <a:xfrm xmlns:a="http://schemas.openxmlformats.org/drawingml/2006/main">
            <a:off x="1143000" y="3238500"/>
            <a:ext cx="2095500" cy="742950"/>
          </a:xfrm>
          <a:prstGeom xmlns:a="http://schemas.openxmlformats.org/drawingml/2006/main" prst="roundRect">
            <a:avLst>
              <a:gd name="adj" fmla="val 10256"/>
            </a:avLst>
          </a:prstGeom>
          <a:solidFill xmlns:a="http://schemas.openxmlformats.org/drawingml/2006/main">
            <a:srgbClr val="0D2638"/>
          </a:solidFill>
          <a:ln xmlns:a="http://schemas.openxmlformats.org/drawingml/2006/main" w="9525">
            <a:solidFill>
              <a:srgbClr val="0D2638"/>
            </a:solidFill>
          </a:ln>
        </p:spPr>
      </p:sp>
      <p:sp>
        <p:nvSpPr>
          <p:cNvPr id="29" name="">
            <a:extLst xmlns:a="http://schemas.openxmlformats.org/drawingml/2006/main">
              <a:ext uri="{FF2B5EF4-FFF2-40B4-BE49-F238E27FC236}">
                <a16:creationId xmlns:a16="http://schemas.microsoft.com/office/drawing/2014/main" id="{30DBE001-B030-48AD-8FC6-A9D9EB720E1C}"/>
              </a:ext>
            </a:extLst>
          </p:cNvPr>
          <p:cNvSpPr>
            <a:spLocks xmlns:a="http://schemas.openxmlformats.org/drawingml/2006/main" noGrp="1"/>
          </p:cNvSpPr>
          <p:nvPr/>
        </p:nvSpPr>
        <p:spPr>
          <a:xfrm xmlns:a="http://schemas.openxmlformats.org/drawingml/2006/main">
            <a:off x="1333500" y="33337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350" b="1">
                <a:solidFill>
                  <a:srgbClr val="FFFFFF"/>
                </a:solidFill>
                <a:latin typeface="Calibri"/>
                <a:ea typeface="Calibri"/>
                <a:cs typeface="Calibri"/>
              </a:defRPr>
            </a:pPr>
            <a:r>
              <a:rPr sz="1350" b="1">
                <a:solidFill>
                  <a:srgbClr val="FFFFFF"/>
                </a:solidFill>
                <a:latin typeface="Calibri"/>
                <a:ea typeface="Calibri"/>
                <a:cs typeface="Calibri"/>
              </a:rPr>
              <a:t>Event and recovery</a:t>
            </a:r>
          </a:p>
          <a:p xmlns:a="http://schemas.openxmlformats.org/drawingml/2006/main">
            <a:pPr algn="ctr">
              <a:defRPr sz="1350" b="1">
                <a:solidFill>
                  <a:srgbClr val="FFFFFF"/>
                </a:solidFill>
                <a:latin typeface="Calibri"/>
                <a:ea typeface="Calibri"/>
                <a:cs typeface="Calibri"/>
              </a:defRPr>
            </a:pPr>
            <a:r>
              <a:rPr sz="1350" b="1">
                <a:solidFill>
                  <a:srgbClr val="FFFFFF"/>
                </a:solidFill>
                <a:latin typeface="Calibri"/>
                <a:ea typeface="Calibri"/>
                <a:cs typeface="Calibri"/>
              </a:rPr>
              <a:t>evaluation</a:t>
            </a:r>
          </a:p>
        </p:txBody>
      </p:sp>
      <p:cxnSp>
        <p:nvCxnSpPr>
          <p:cNvPr id="70" name=""/>
          <p:cNvCxnSpPr>
            <a:stCxn xmlns:a="http://schemas.openxmlformats.org/drawingml/2006/main" id="19" idx="2"/>
            <a:endCxn xmlns:a="http://schemas.openxmlformats.org/drawingml/2006/main" id="22" idx="0"/>
          </p:cNvCxnSpPr>
          <p:nvPr/>
        </p:nvCxnSpPr>
        <p:spPr>
          <a:xfrm xmlns:a="http://schemas.openxmlformats.org/drawingml/2006/main" flipH="1">
            <a:off x="9477375" y="2400300"/>
            <a:ext cx="942975" cy="838200"/>
          </a:xfrm>
          <a:prstGeom xmlns:a="http://schemas.openxmlformats.org/drawingml/2006/main" prst="bentConnector4">
            <a:avLst>
              <a:gd name="adj1" fmla="val 0"/>
              <a:gd name="adj2" fmla="val 50000"/>
            </a:avLst>
          </a:prstGeom>
          <a:ln xmlns:a="http://schemas.openxmlformats.org/drawingml/2006/main" w="19050">
            <a:solidFill>
              <a:srgbClr val="0E8A92"/>
            </a:solidFill>
            <a:tailEnd type="arrow" w="sm" len="sm"/>
          </a:ln>
        </p:spPr>
      </p:cxnSp>
      <p:cxnSp>
        <p:nvCxnSpPr>
          <p:cNvPr id="71" name=""/>
          <p:cNvCxnSpPr>
            <a:stCxn xmlns:a="http://schemas.openxmlformats.org/drawingml/2006/main" id="22" idx="1"/>
            <a:endCxn xmlns:a="http://schemas.openxmlformats.org/drawingml/2006/main" id="24" idx="3"/>
          </p:cNvCxnSpPr>
          <p:nvPr/>
        </p:nvCxnSpPr>
        <p:spPr>
          <a:xfrm xmlns:a="http://schemas.openxmlformats.org/drawingml/2006/main" flipH="1">
            <a:off x="8001000" y="3609975"/>
            <a:ext cx="571500" cy="0"/>
          </a:xfrm>
          <a:prstGeom xmlns:a="http://schemas.openxmlformats.org/drawingml/2006/main" prst="straightConnector1">
            <a:avLst/>
          </a:prstGeom>
          <a:ln xmlns:a="http://schemas.openxmlformats.org/drawingml/2006/main" w="19050">
            <a:solidFill>
              <a:srgbClr val="0E8A92"/>
            </a:solidFill>
            <a:tailEnd type="arrow" w="sm" len="sm"/>
          </a:ln>
        </p:spPr>
      </p:cxnSp>
      <p:cxnSp>
        <p:nvCxnSpPr>
          <p:cNvPr id="72" name=""/>
          <p:cNvCxnSpPr>
            <a:stCxn xmlns:a="http://schemas.openxmlformats.org/drawingml/2006/main" id="24" idx="1"/>
            <a:endCxn xmlns:a="http://schemas.openxmlformats.org/drawingml/2006/main" id="26" idx="3"/>
          </p:cNvCxnSpPr>
          <p:nvPr/>
        </p:nvCxnSpPr>
        <p:spPr>
          <a:xfrm xmlns:a="http://schemas.openxmlformats.org/drawingml/2006/main" flipH="1">
            <a:off x="5695950" y="3609975"/>
            <a:ext cx="590550" cy="0"/>
          </a:xfrm>
          <a:prstGeom xmlns:a="http://schemas.openxmlformats.org/drawingml/2006/main" prst="straightConnector1">
            <a:avLst/>
          </a:prstGeom>
          <a:ln xmlns:a="http://schemas.openxmlformats.org/drawingml/2006/main" w="19050">
            <a:solidFill>
              <a:srgbClr val="F1A33C"/>
            </a:solidFill>
            <a:tailEnd type="arrow" w="sm" len="sm"/>
          </a:ln>
        </p:spPr>
      </p:cxnSp>
      <p:cxnSp>
        <p:nvCxnSpPr>
          <p:cNvPr id="73" name=""/>
          <p:cNvCxnSpPr>
            <a:stCxn xmlns:a="http://schemas.openxmlformats.org/drawingml/2006/main" id="26" idx="1"/>
            <a:endCxn xmlns:a="http://schemas.openxmlformats.org/drawingml/2006/main" id="28" idx="3"/>
          </p:cNvCxnSpPr>
          <p:nvPr/>
        </p:nvCxnSpPr>
        <p:spPr>
          <a:xfrm xmlns:a="http://schemas.openxmlformats.org/drawingml/2006/main" flipH="1">
            <a:off x="3238500" y="3609975"/>
            <a:ext cx="552450" cy="0"/>
          </a:xfrm>
          <a:prstGeom xmlns:a="http://schemas.openxmlformats.org/drawingml/2006/main" prst="straightConnector1">
            <a:avLst/>
          </a:prstGeom>
          <a:ln xmlns:a="http://schemas.openxmlformats.org/drawingml/2006/main" w="19050">
            <a:solidFill>
              <a:srgbClr val="0E8A92"/>
            </a:solidFill>
            <a:tailEnd type="arrow" w="sm" len="sm"/>
          </a:ln>
        </p:spPr>
      </p:cxnSp>
      <p:sp>
        <p:nvSpPr>
          <p:cNvPr id="34" name="">
            <a:extLst xmlns:a="http://schemas.openxmlformats.org/drawingml/2006/main">
              <a:ext uri="{FF2B5EF4-FFF2-40B4-BE49-F238E27FC236}">
                <a16:creationId xmlns:a16="http://schemas.microsoft.com/office/drawing/2014/main" id="{42A1CCFA-BA26-46A0-9076-7D5578B7589F}"/>
              </a:ext>
            </a:extLst>
          </p:cNvPr>
          <p:cNvSpPr>
            <a:spLocks xmlns:a="http://schemas.openxmlformats.org/drawingml/2006/main" noGrp="1"/>
          </p:cNvSpPr>
          <p:nvPr/>
        </p:nvSpPr>
        <p:spPr>
          <a:xfrm xmlns:a="http://schemas.openxmlformats.org/drawingml/2006/main">
            <a:off x="2238375" y="4810125"/>
            <a:ext cx="285750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CF3F4B"/>
            </a:solidFill>
          </a:ln>
        </p:spPr>
      </p:sp>
      <p:sp>
        <p:nvSpPr>
          <p:cNvPr id="35" name="">
            <a:extLst xmlns:a="http://schemas.openxmlformats.org/drawingml/2006/main">
              <a:ext uri="{FF2B5EF4-FFF2-40B4-BE49-F238E27FC236}">
                <a16:creationId xmlns:a16="http://schemas.microsoft.com/office/drawing/2014/main" id="{95EF3DD8-CC4A-4538-813A-985EFA85F26A}"/>
              </a:ext>
            </a:extLst>
          </p:cNvPr>
          <p:cNvSpPr>
            <a:spLocks xmlns:a="http://schemas.openxmlformats.org/drawingml/2006/main" noGrp="1"/>
          </p:cNvSpPr>
          <p:nvPr/>
        </p:nvSpPr>
        <p:spPr>
          <a:xfrm xmlns:a="http://schemas.openxmlformats.org/drawingml/2006/main">
            <a:off x="2400300" y="49149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275" b="1">
                <a:solidFill>
                  <a:srgbClr val="CF3F4B"/>
                </a:solidFill>
                <a:latin typeface="Calibri"/>
                <a:ea typeface="Calibri"/>
                <a:cs typeface="Calibri"/>
              </a:defRPr>
            </a:pPr>
            <a:r>
              <a:rPr sz="1275" b="1">
                <a:solidFill>
                  <a:srgbClr val="CF3F4B"/>
                </a:solidFill>
                <a:latin typeface="Calibri"/>
                <a:ea typeface="Calibri"/>
                <a:cs typeface="Calibri"/>
              </a:rPr>
              <a:t>ADWIN / DDM / KSWIN</a:t>
            </a:r>
          </a:p>
          <a:p xmlns:a="http://schemas.openxmlformats.org/drawingml/2006/main">
            <a:pPr algn="ctr">
              <a:defRPr sz="1275" b="1">
                <a:solidFill>
                  <a:srgbClr val="CF3F4B"/>
                </a:solidFill>
                <a:latin typeface="Calibri"/>
                <a:ea typeface="Calibri"/>
                <a:cs typeface="Calibri"/>
              </a:defRPr>
            </a:pPr>
            <a:r>
              <a:rPr sz="1275" b="1">
                <a:solidFill>
                  <a:srgbClr val="CF3F4B"/>
                </a:solidFill>
                <a:latin typeface="Calibri"/>
                <a:ea typeface="Calibri"/>
                <a:cs typeface="Calibri"/>
              </a:rPr>
              <a:t>reactive baselines</a:t>
            </a:r>
          </a:p>
        </p:txBody>
      </p:sp>
      <p:cxnSp>
        <p:nvCxnSpPr>
          <p:cNvPr id="76" name=""/>
          <p:cNvCxnSpPr>
            <a:stCxn xmlns:a="http://schemas.openxmlformats.org/drawingml/2006/main" id="7" idx="2"/>
            <a:endCxn xmlns:a="http://schemas.openxmlformats.org/drawingml/2006/main" id="34" idx="0"/>
          </p:cNvCxnSpPr>
          <p:nvPr/>
        </p:nvCxnSpPr>
        <p:spPr>
          <a:xfrm xmlns:a="http://schemas.openxmlformats.org/drawingml/2006/main">
            <a:off x="3048000" y="2400300"/>
            <a:ext cx="619125" cy="2409825"/>
          </a:xfrm>
          <a:prstGeom xmlns:a="http://schemas.openxmlformats.org/drawingml/2006/main" prst="bentConnector4">
            <a:avLst>
              <a:gd name="adj1" fmla="val 0"/>
              <a:gd name="adj2" fmla="val 9486"/>
            </a:avLst>
          </a:prstGeom>
          <a:ln xmlns:a="http://schemas.openxmlformats.org/drawingml/2006/main" w="19050">
            <a:solidFill>
              <a:srgbClr val="CF3F4B"/>
            </a:solidFill>
            <a:tailEnd type="arrow" w="sm" len="sm"/>
          </a:ln>
        </p:spPr>
      </p:cxnSp>
      <p:cxnSp>
        <p:nvCxnSpPr>
          <p:cNvPr id="77" name=""/>
          <p:cNvCxnSpPr>
            <a:stCxn xmlns:a="http://schemas.openxmlformats.org/drawingml/2006/main" id="34" idx="1"/>
            <a:endCxn xmlns:a="http://schemas.openxmlformats.org/drawingml/2006/main" id="28" idx="2"/>
          </p:cNvCxnSpPr>
          <p:nvPr/>
        </p:nvCxnSpPr>
        <p:spPr>
          <a:xfrm xmlns:a="http://schemas.openxmlformats.org/drawingml/2006/main" flipH="1" flipV="1">
            <a:off x="2009775" y="3981450"/>
            <a:ext cx="228600" cy="1162050"/>
          </a:xfrm>
          <a:prstGeom xmlns:a="http://schemas.openxmlformats.org/drawingml/2006/main" prst="bentConnector4">
            <a:avLst/>
          </a:prstGeom>
          <a:ln xmlns:a="http://schemas.openxmlformats.org/drawingml/2006/main" w="19050">
            <a:solidFill>
              <a:srgbClr val="CF3F4B"/>
            </a:solidFill>
            <a:tailEnd type="arrow" w="sm" len="sm"/>
          </a:ln>
        </p:spPr>
      </p:cxnSp>
      <p:sp>
        <p:nvSpPr>
          <p:cNvPr id="38" name="">
            <a:extLst xmlns:a="http://schemas.openxmlformats.org/drawingml/2006/main">
              <a:ext uri="{FF2B5EF4-FFF2-40B4-BE49-F238E27FC236}">
                <a16:creationId xmlns:a16="http://schemas.microsoft.com/office/drawing/2014/main" id="{8423AB8A-A294-40FA-8DD8-B8C951A4FB10}"/>
              </a:ext>
            </a:extLst>
          </p:cNvPr>
          <p:cNvSpPr>
            <a:spLocks xmlns:a="http://schemas.openxmlformats.org/drawingml/2006/main" noGrp="1"/>
          </p:cNvSpPr>
          <p:nvPr/>
        </p:nvSpPr>
        <p:spPr>
          <a:xfrm xmlns:a="http://schemas.openxmlformats.org/drawingml/2006/main">
            <a:off x="6905625" y="476250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125" b="1">
                <a:solidFill>
                  <a:srgbClr val="0E8A92"/>
                </a:solidFill>
                <a:latin typeface="Calibri"/>
                <a:ea typeface="Calibri"/>
                <a:cs typeface="Calibri"/>
              </a:defRPr>
            </a:pPr>
            <a:r>
              <a:rPr sz="1125" b="1">
                <a:solidFill>
                  <a:srgbClr val="0E8A92"/>
                </a:solidFill>
                <a:latin typeface="Calibri"/>
                <a:ea typeface="Calibri"/>
                <a:cs typeface="Calibri"/>
              </a:rPr>
              <a:t>Scientific contract</a:t>
            </a:r>
          </a:p>
        </p:txBody>
      </p:sp>
      <p:sp>
        <p:nvSpPr>
          <p:cNvPr id="39" name="">
            <a:extLst xmlns:a="http://schemas.openxmlformats.org/drawingml/2006/main">
              <a:ext uri="{FF2B5EF4-FFF2-40B4-BE49-F238E27FC236}">
                <a16:creationId xmlns:a16="http://schemas.microsoft.com/office/drawing/2014/main" id="{9D177830-73FD-49FB-A01D-DF3B6625333E}"/>
              </a:ext>
            </a:extLst>
          </p:cNvPr>
          <p:cNvSpPr>
            <a:spLocks xmlns:a="http://schemas.openxmlformats.org/drawingml/2006/main" noGrp="1"/>
          </p:cNvSpPr>
          <p:nvPr/>
        </p:nvSpPr>
        <p:spPr>
          <a:xfrm xmlns:a="http://schemas.openxmlformats.org/drawingml/2006/main">
            <a:off x="6905625" y="504825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425" b="1">
                <a:solidFill>
                  <a:srgbClr val="132433"/>
                </a:solidFill>
                <a:latin typeface="Calibri"/>
                <a:ea typeface="Calibri"/>
                <a:cs typeface="Calibri"/>
              </a:defRPr>
            </a:pPr>
            <a:r>
              <a:rPr sz="1425" b="1">
                <a:solidFill>
                  <a:srgbClr val="132433"/>
                </a:solidFill>
                <a:latin typeface="Calibri"/>
                <a:ea typeface="Calibri"/>
                <a:cs typeface="Calibri"/>
              </a:rPr>
              <a:t>target(t)=1 for onset in (t,t+5]</a:t>
            </a:r>
          </a:p>
        </p:txBody>
      </p:sp>
      <p:sp>
        <p:nvSpPr>
          <p:cNvPr id="40" name="">
            <a:extLst xmlns:a="http://schemas.openxmlformats.org/drawingml/2006/main">
              <a:ext uri="{FF2B5EF4-FFF2-40B4-BE49-F238E27FC236}">
                <a16:creationId xmlns:a16="http://schemas.microsoft.com/office/drawing/2014/main" id="{90F73AB4-D27C-4F16-A116-66E58BEEFFF0}"/>
              </a:ext>
            </a:extLst>
          </p:cNvPr>
          <p:cNvSpPr>
            <a:spLocks xmlns:a="http://schemas.openxmlformats.org/drawingml/2006/main" noGrp="1"/>
          </p:cNvSpPr>
          <p:nvPr/>
        </p:nvSpPr>
        <p:spPr>
          <a:xfrm xmlns:a="http://schemas.openxmlformats.org/drawingml/2006/main">
            <a:off x="6905625" y="53530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425" b="1">
                <a:solidFill>
                  <a:srgbClr val="132433"/>
                </a:solidFill>
                <a:latin typeface="Calibri"/>
                <a:ea typeface="Calibri"/>
                <a:cs typeface="Calibri"/>
              </a:defRPr>
            </a:pPr>
            <a:r>
              <a:rPr sz="1425" b="1">
                <a:solidFill>
                  <a:srgbClr val="132433"/>
                </a:solidFill>
                <a:latin typeface="Calibri"/>
                <a:ea typeface="Calibri"/>
                <a:cs typeface="Calibri"/>
              </a:rPr>
              <a:t>valid warning window = [onset-5, onset)</a:t>
            </a:r>
          </a:p>
        </p:txBody>
      </p:sp>
    </p:spTree>
    <p:extLst>
      <p:ext uri="{BB962C8B-B14F-4D97-AF65-F5344CB8AC3E}">
        <p14:creationId xmlns:p14="http://schemas.microsoft.com/office/powerpoint/2010/main" val="832811033"/>
      </p:ext>
    </p:extLst>
  </p:cSld>
</p:sld>
</file>

<file path=ppt/slides/slide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03D9CCD-1D6D-4D59-908B-D9A4F0E2CC2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7C7D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D02372-DDD9-4B65-B21A-3DE4DFEE15AC}"/>
              </a:ext>
            </a:extLst>
          </p:cNvPr>
          <p:cNvSpPr>
            <a:spLocks xmlns:a="http://schemas.openxmlformats.org/drawingml/2006/main" noGrp="1"/>
          </p:cNvSpPr>
          <p:nvPr/>
        </p:nvSpPr>
        <p:spPr>
          <a:xfrm xmlns:a="http://schemas.openxmlformats.org/drawingml/2006/main">
            <a:off x="609600" y="2667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75" b="1">
                <a:solidFill>
                  <a:srgbClr val="0E8A92"/>
                </a:solidFill>
                <a:latin typeface="Calibri"/>
                <a:ea typeface="Calibri"/>
                <a:cs typeface="Calibri"/>
              </a:defRPr>
            </a:pPr>
            <a:r>
              <a:rPr sz="975" b="1">
                <a:solidFill>
                  <a:srgbClr val="0E8A92"/>
                </a:solidFill>
                <a:latin typeface="Calibri"/>
                <a:ea typeface="Calibri"/>
                <a:cs typeface="Calibri"/>
              </a:rPr>
              <a:t>BENCHMARK</a:t>
            </a:r>
          </a:p>
        </p:txBody>
      </p:sp>
      <p:sp>
        <p:nvSpPr>
          <p:cNvPr id="3" name="">
            <a:extLst xmlns:a="http://schemas.openxmlformats.org/drawingml/2006/main">
              <a:ext uri="{FF2B5EF4-FFF2-40B4-BE49-F238E27FC236}">
                <a16:creationId xmlns:a16="http://schemas.microsoft.com/office/drawing/2014/main" id="{977C83A1-8984-46B2-B915-FB58295898D9}"/>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2550" b="1">
                <a:solidFill>
                  <a:srgbClr val="132433"/>
                </a:solidFill>
                <a:latin typeface="Calibri"/>
                <a:ea typeface="Calibri"/>
                <a:cs typeface="Calibri"/>
              </a:defRPr>
            </a:pPr>
            <a:r>
              <a:rPr sz="2550" b="1">
                <a:solidFill>
                  <a:srgbClr val="132433"/>
                </a:solidFill>
                <a:latin typeface="Calibri"/>
                <a:ea typeface="Calibri"/>
                <a:cs typeface="Calibri"/>
              </a:rPr>
              <a:t>Dataset</a:t>
            </a:r>
          </a:p>
        </p:txBody>
      </p:sp>
      <p:sp>
        <p:nvSpPr>
          <p:cNvPr id="4" name="">
            <a:extLst xmlns:a="http://schemas.openxmlformats.org/drawingml/2006/main">
              <a:ext uri="{FF2B5EF4-FFF2-40B4-BE49-F238E27FC236}">
                <a16:creationId xmlns:a16="http://schemas.microsoft.com/office/drawing/2014/main" id="{81A103C2-3B66-4083-A11A-0CFE83E919C6}"/>
              </a:ext>
            </a:extLst>
          </p:cNvPr>
          <p:cNvSpPr>
            <a:spLocks xmlns:a="http://schemas.openxmlformats.org/drawingml/2006/main" noGrp="1"/>
          </p:cNvSpPr>
          <p:nvPr/>
        </p:nvSpPr>
        <p:spPr>
          <a:xfrm xmlns:a="http://schemas.openxmlformats.org/drawingml/2006/main">
            <a:off x="11334750" y="62674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r">
              <a:defRPr sz="975" b="0">
                <a:solidFill>
                  <a:srgbClr val="5C6B77"/>
                </a:solidFill>
                <a:latin typeface="Calibri"/>
                <a:ea typeface="Calibri"/>
                <a:cs typeface="Calibri"/>
              </a:defRPr>
            </a:pPr>
            <a:r>
              <a:rPr sz="975" b="0">
                <a:solidFill>
                  <a:srgbClr val="5C6B77"/>
                </a:solidFill>
                <a:latin typeface="Calibri"/>
                <a:ea typeface="Calibri"/>
                <a:cs typeface="Calibri"/>
              </a:rPr>
              <a:t>07</a:t>
            </a:r>
          </a:p>
        </p:txBody>
      </p:sp>
      <p:sp>
        <p:nvSpPr>
          <p:cNvPr id="5" name="">
            <a:extLst xmlns:a="http://schemas.openxmlformats.org/drawingml/2006/main">
              <a:ext uri="{FF2B5EF4-FFF2-40B4-BE49-F238E27FC236}">
                <a16:creationId xmlns:a16="http://schemas.microsoft.com/office/drawing/2014/main" id="{0169053B-57C9-4BDF-9132-79057E6A2995}"/>
              </a:ext>
            </a:extLst>
          </p:cNvPr>
          <p:cNvSpPr>
            <a:spLocks xmlns:a="http://schemas.openxmlformats.org/drawingml/2006/main" noGrp="1"/>
          </p:cNvSpPr>
          <p:nvPr/>
        </p:nvSpPr>
        <p:spPr>
          <a:xfrm xmlns:a="http://schemas.openxmlformats.org/drawingml/2006/main">
            <a:off x="609600" y="62674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00" b="0">
                <a:solidFill>
                  <a:srgbClr val="5C6B77"/>
                </a:solidFill>
                <a:latin typeface="Calibri"/>
                <a:ea typeface="Calibri"/>
                <a:cs typeface="Calibri"/>
              </a:defRPr>
            </a:pPr>
            <a:r>
              <a:rPr sz="900" b="0">
                <a:solidFill>
                  <a:srgbClr val="5C6B77"/>
                </a:solidFill>
                <a:latin typeface="Calibri"/>
                <a:ea typeface="Calibri"/>
                <a:cs typeface="Calibri"/>
              </a:rPr>
              <a:t>DriftSentinel  |  Review 2</a:t>
            </a:r>
          </a:p>
        </p:txBody>
      </p:sp>
      <p:graphicFrame>
        <p:nvGraphicFramePr>
          <p:cNvPr id="15" name=""/>
          <p:cNvGraphicFramePr/>
          <p:nvPr/>
        </p:nvGraphicFramePr>
        <p:xfrm>
          <a:off xmlns:a="http://schemas.openxmlformats.org/drawingml/2006/main" x="609600" y="1381125"/>
          <a:ext xmlns:a="http://schemas.openxmlformats.org/drawingml/2006/main" cx="10953750" cy="2857500"/>
        </p:xfrm>
        <a:graphic xmlns:a="http://schemas.openxmlformats.org/drawingml/2006/main">
          <a:graphicData uri="http://schemas.openxmlformats.org/drawingml/2006/table">
            <a:tbl>
              <a:tblPr/>
              <a:tblGrid>
                <a:gridCol w="2000250"/>
                <a:gridCol w="2095500"/>
                <a:gridCol w="952500"/>
                <a:gridCol w="1905000"/>
                <a:gridCol w="4000500"/>
              </a:tblGrid>
              <a:tr h="476250">
                <a:tc>
                  <a:txBody>
                    <a:bodyPr/>
                    <a:lstStyle/>
                    <a:p>
                      <a:r>
                        <a:t>Dataset</a:t>
                      </a:r>
                    </a:p>
                  </a:txBody>
                  <a:tcPr marL="91440" marR="91440" marT="45720" marB="45720"/>
                </a:tc>
                <a:tc>
                  <a:txBody>
                    <a:bodyPr/>
                    <a:lstStyle/>
                    <a:p>
                      <a:r>
                        <a:t>Source</a:t>
                      </a:r>
                    </a:p>
                  </a:txBody>
                  <a:tcPr marL="91440" marR="91440" marT="45720" marB="45720"/>
                </a:tc>
                <a:tc>
                  <a:txBody>
                    <a:bodyPr/>
                    <a:lstStyle/>
                    <a:p>
                      <a:r>
                        <a:t>Events</a:t>
                      </a:r>
                    </a:p>
                  </a:txBody>
                  <a:tcPr marL="91440" marR="91440" marT="45720" marB="45720"/>
                </a:tc>
                <a:tc>
                  <a:txBody>
                    <a:bodyPr/>
                    <a:lstStyle/>
                    <a:p>
                      <a:r>
                        <a:t>Usage</a:t>
                      </a:r>
                    </a:p>
                  </a:txBody>
                  <a:tcPr marL="91440" marR="91440" marT="45720" marB="45720"/>
                </a:tc>
                <a:tc>
                  <a:txBody>
                    <a:bodyPr/>
                    <a:lstStyle/>
                    <a:p>
                      <a:r>
                        <a:t>Notes</a:t>
                      </a:r>
                    </a:p>
                  </a:txBody>
                  <a:tcPr marL="91440" marR="91440" marT="45720" marB="45720"/>
                </a:tc>
              </a:tr>
              <a:tr h="590550">
                <a:tc>
                  <a:txBody>
                    <a:bodyPr/>
                    <a:lstStyle/>
                    <a:p>
                      <a:r>
                        <a:t>SEA abrupt</a:t>
                      </a:r>
                    </a:p>
                  </a:txBody>
                  <a:tcPr marL="91440" marR="91440" marT="45720" marB="45720"/>
                </a:tc>
                <a:tc>
                  <a:txBody>
                    <a:bodyPr/>
                    <a:lstStyle/>
                    <a:p>
                      <a:r>
                        <a:t>Deterministic generator</a:t>
                      </a:r>
                    </a:p>
                  </a:txBody>
                  <a:tcPr marL="91440" marR="91440" marT="45720" marB="45720"/>
                </a:tc>
                <a:tc>
                  <a:txBody>
                    <a:bodyPr/>
                    <a:lstStyle/>
                    <a:p>
                      <a:r>
                        <a:t>10</a:t>
                      </a:r>
                    </a:p>
                  </a:txBody>
                  <a:tcPr marL="91440" marR="91440" marT="45720" marB="45720"/>
                </a:tc>
                <a:tc>
                  <a:txBody>
                    <a:bodyPr/>
                    <a:lstStyle/>
                    <a:p>
                      <a:r>
                        <a:t>Event benchmark</a:t>
                      </a:r>
                    </a:p>
                  </a:txBody>
                  <a:tcPr marL="91440" marR="91440" marT="45720" marB="45720"/>
                </a:tc>
                <a:tc>
                  <a:txBody>
                    <a:bodyPr/>
                    <a:lstStyle/>
                    <a:p>
                      <a:r>
                        <a:t>Exact abrupt onsets; 6/2/2 events</a:t>
                      </a:r>
                    </a:p>
                  </a:txBody>
                  <a:tcPr marL="91440" marR="91440" marT="45720" marB="45720"/>
                </a:tc>
              </a:tr>
              <a:tr h="590550">
                <a:tc>
                  <a:txBody>
                    <a:bodyPr/>
                    <a:lstStyle/>
                    <a:p>
                      <a:r>
                        <a:t>SEA gradual</a:t>
                      </a:r>
                    </a:p>
                  </a:txBody>
                  <a:tcPr marL="91440" marR="91440" marT="45720" marB="45720"/>
                </a:tc>
                <a:tc>
                  <a:txBody>
                    <a:bodyPr/>
                    <a:lstStyle/>
                    <a:p>
                      <a:r>
                        <a:t>Deterministic generator</a:t>
                      </a:r>
                    </a:p>
                  </a:txBody>
                  <a:tcPr marL="91440" marR="91440" marT="45720" marB="45720"/>
                </a:tc>
                <a:tc>
                  <a:txBody>
                    <a:bodyPr/>
                    <a:lstStyle/>
                    <a:p>
                      <a:r>
                        <a:t>10</a:t>
                      </a:r>
                    </a:p>
                  </a:txBody>
                  <a:tcPr marL="91440" marR="91440" marT="45720" marB="45720"/>
                </a:tc>
                <a:tc>
                  <a:txBody>
                    <a:bodyPr/>
                    <a:lstStyle/>
                    <a:p>
                      <a:r>
                        <a:t>Event benchmark</a:t>
                      </a:r>
                    </a:p>
                  </a:txBody>
                  <a:tcPr marL="91440" marR="91440" marT="45720" marB="45720"/>
                </a:tc>
                <a:tc>
                  <a:txBody>
                    <a:bodyPr/>
                    <a:lstStyle/>
                    <a:p>
                      <a:r>
                        <a:t>Exact transition anchors; 6/2/2 events</a:t>
                      </a:r>
                    </a:p>
                  </a:txBody>
                  <a:tcPr marL="91440" marR="91440" marT="45720" marB="45720"/>
                </a:tc>
              </a:tr>
              <a:tr h="590550">
                <a:tc>
                  <a:txBody>
                    <a:bodyPr/>
                    <a:lstStyle/>
                    <a:p>
                      <a:r>
                        <a:t>INSECTS abrupt-balanced</a:t>
                      </a:r>
                    </a:p>
                  </a:txBody>
                  <a:tcPr marL="91440" marR="91440" marT="45720" marB="45720"/>
                </a:tc>
                <a:tc>
                  <a:txBody>
                    <a:bodyPr/>
                    <a:lstStyle/>
                    <a:p>
                      <a:r>
                        <a:t>Verified mirror of Souza et al.</a:t>
                      </a:r>
                    </a:p>
                  </a:txBody>
                  <a:tcPr marL="91440" marR="91440" marT="45720" marB="45720"/>
                </a:tc>
                <a:tc>
                  <a:txBody>
                    <a:bodyPr/>
                    <a:lstStyle/>
                    <a:p>
                      <a:r>
                        <a:t>5</a:t>
                      </a:r>
                    </a:p>
                  </a:txBody>
                  <a:tcPr marL="91440" marR="91440" marT="45720" marB="45720"/>
                </a:tc>
                <a:tc>
                  <a:txBody>
                    <a:bodyPr/>
                    <a:lstStyle/>
                    <a:p>
                      <a:r>
                        <a:t>Real event benchmark</a:t>
                      </a:r>
                    </a:p>
                  </a:txBody>
                  <a:tcPr marL="91440" marR="91440" marT="45720" marB="45720"/>
                </a:tc>
                <a:tc>
                  <a:txBody>
                    <a:bodyPr/>
                    <a:lstStyle/>
                    <a:p>
                      <a:r>
                        <a:t>52,848 rows; 33 features; 6 classes</a:t>
                      </a:r>
                    </a:p>
                  </a:txBody>
                  <a:tcPr marL="91440" marR="91440" marT="45720" marB="45720"/>
                </a:tc>
              </a:tr>
              <a:tr h="590550">
                <a:tc>
                  <a:txBody>
                    <a:bodyPr/>
                    <a:lstStyle/>
                    <a:p>
                      <a:r>
                        <a:t>Elec2</a:t>
                      </a:r>
                    </a:p>
                  </a:txBody>
                  <a:tcPr marL="91440" marR="91440" marT="45720" marB="45720"/>
                </a:tc>
                <a:tc>
                  <a:txBody>
                    <a:bodyPr/>
                    <a:lstStyle/>
                    <a:p>
                      <a:r>
                        <a:t>River</a:t>
                      </a:r>
                    </a:p>
                  </a:txBody>
                  <a:tcPr marL="91440" marR="91440" marT="45720" marB="45720"/>
                </a:tc>
                <a:tc>
                  <a:txBody>
                    <a:bodyPr/>
                    <a:lstStyle/>
                    <a:p>
                      <a:r>
                        <a:t>N/A</a:t>
                      </a:r>
                    </a:p>
                  </a:txBody>
                  <a:tcPr marL="91440" marR="91440" marT="45720" marB="45720"/>
                </a:tc>
                <a:tc>
                  <a:txBody>
                    <a:bodyPr/>
                    <a:lstStyle/>
                    <a:p>
                      <a:r>
                        <a:t>Provenance only</a:t>
                      </a:r>
                    </a:p>
                  </a:txBody>
                  <a:tcPr marL="91440" marR="91440" marT="45720" marB="45720"/>
                </a:tc>
                <a:tc>
                  <a:txBody>
                    <a:bodyPr/>
                    <a:lstStyle/>
                    <a:p>
                      <a:r>
                        <a:t>No authoritative onset truth; event evaluation invalid</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F82BB488-EC7A-461D-9F54-A1F804B53557}"/>
              </a:ext>
            </a:extLst>
          </p:cNvPr>
          <p:cNvSpPr>
            <a:spLocks xmlns:a="http://schemas.openxmlformats.org/drawingml/2006/main" noGrp="1"/>
          </p:cNvSpPr>
          <p:nvPr/>
        </p:nvSpPr>
        <p:spPr>
          <a:xfrm xmlns:a="http://schemas.openxmlformats.org/drawingml/2006/main">
            <a:off x="609600" y="4552950"/>
            <a:ext cx="10953750" cy="1190625"/>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C9D4DC"/>
            </a:solidFill>
          </a:ln>
        </p:spPr>
      </p:sp>
      <p:sp>
        <p:nvSpPr>
          <p:cNvPr id="8" name="">
            <a:extLst xmlns:a="http://schemas.openxmlformats.org/drawingml/2006/main">
              <a:ext uri="{FF2B5EF4-FFF2-40B4-BE49-F238E27FC236}">
                <a16:creationId xmlns:a16="http://schemas.microsoft.com/office/drawing/2014/main" id="{BAAF96E1-55B8-45B1-9DA3-97CF211E85D5}"/>
              </a:ext>
            </a:extLst>
          </p:cNvPr>
          <p:cNvSpPr>
            <a:spLocks xmlns:a="http://schemas.openxmlformats.org/drawingml/2006/main" noGrp="1"/>
          </p:cNvSpPr>
          <p:nvPr/>
        </p:nvSpPr>
        <p:spPr>
          <a:xfrm xmlns:a="http://schemas.openxmlformats.org/drawingml/2006/main">
            <a:off x="876300" y="47625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96097"/>
          </a:bodyPr>
          <a:lstStyle xmlns:a="http://schemas.openxmlformats.org/drawingml/2006/main"/>
          <a:p xmlns:a="http://schemas.openxmlformats.org/drawingml/2006/main">
            <a:pPr algn="l">
              <a:defRPr sz="1500" b="1">
                <a:solidFill>
                  <a:srgbClr val="0E8A92"/>
                </a:solidFill>
                <a:latin typeface="Calibri"/>
                <a:ea typeface="Calibri"/>
                <a:cs typeface="Calibri"/>
              </a:defRPr>
            </a:pPr>
            <a:r>
              <a:rPr sz="1500" b="1">
                <a:solidFill>
                  <a:srgbClr val="0E8A92"/>
                </a:solidFill>
                <a:latin typeface="Calibri"/>
                <a:ea typeface="Calibri"/>
                <a:cs typeface="Calibri"/>
              </a:rPr>
              <a:t>Proposal-to-benchmark change</a:t>
            </a:r>
          </a:p>
        </p:txBody>
      </p:sp>
      <p:sp>
        <p:nvSpPr>
          <p:cNvPr id="9" name="">
            <a:extLst xmlns:a="http://schemas.openxmlformats.org/drawingml/2006/main">
              <a:ext uri="{FF2B5EF4-FFF2-40B4-BE49-F238E27FC236}">
                <a16:creationId xmlns:a16="http://schemas.microsoft.com/office/drawing/2014/main" id="{42516C1E-1985-422C-8BD5-DD050CD305F1}"/>
              </a:ext>
            </a:extLst>
          </p:cNvPr>
          <p:cNvSpPr>
            <a:spLocks xmlns:a="http://schemas.openxmlformats.org/drawingml/2006/main" noGrp="1"/>
          </p:cNvSpPr>
          <p:nvPr/>
        </p:nvSpPr>
        <p:spPr>
          <a:xfrm xmlns:a="http://schemas.openxmlformats.org/drawingml/2006/main">
            <a:off x="876300" y="511492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94319"/>
          </a:bodyPr>
          <a:lstStyle xmlns:a="http://schemas.openxmlformats.org/drawingml/2006/main"/>
          <a:p xmlns:a="http://schemas.openxmlformats.org/drawingml/2006/main">
            <a:pPr algn="l">
              <a:defRPr sz="1350" b="0">
                <a:solidFill>
                  <a:srgbClr val="132433"/>
                </a:solidFill>
                <a:latin typeface="Calibri"/>
                <a:ea typeface="Calibri"/>
                <a:cs typeface="Calibri"/>
              </a:defRPr>
            </a:pPr>
            <a:r>
              <a:rPr sz="1350" b="0">
                <a:solidFill>
                  <a:srgbClr val="132433"/>
                </a:solidFill>
                <a:latin typeface="Calibri"/>
                <a:ea typeface="Calibri"/>
                <a:cs typeface="Calibri"/>
              </a:rPr>
              <a:t>The proposal listed Electricity, Airlines, Forest CoverType and USENET. Phase 1 contained Elec2, INSECTS abrupt-balanced and SEA. The final reproducible benchmark uses only the verified available streams and does not claim that Airlines, CoverType or USENET were evaluated.</a:t>
            </a:r>
          </a:p>
        </p:txBody>
      </p:sp>
    </p:spTree>
    <p:extLst>
      <p:ext uri="{BB962C8B-B14F-4D97-AF65-F5344CB8AC3E}">
        <p14:creationId xmlns:p14="http://schemas.microsoft.com/office/powerpoint/2010/main" val="1354319633"/>
      </p:ext>
    </p:extLst>
  </p:cSld>
</p:sld>
</file>

<file path=ppt/slides/slide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4C81C3C-F511-40A2-B29E-122C448EC7B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7C7D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BA5215-4EEB-40BD-B219-0D4ABDC18418}"/>
              </a:ext>
            </a:extLst>
          </p:cNvPr>
          <p:cNvSpPr>
            <a:spLocks xmlns:a="http://schemas.openxmlformats.org/drawingml/2006/main" noGrp="1"/>
          </p:cNvSpPr>
          <p:nvPr/>
        </p:nvSpPr>
        <p:spPr>
          <a:xfrm xmlns:a="http://schemas.openxmlformats.org/drawingml/2006/main">
            <a:off x="609600" y="2667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75" b="1">
                <a:solidFill>
                  <a:srgbClr val="0E8A92"/>
                </a:solidFill>
                <a:latin typeface="Calibri"/>
                <a:ea typeface="Calibri"/>
                <a:cs typeface="Calibri"/>
              </a:defRPr>
            </a:pPr>
            <a:r>
              <a:rPr sz="975" b="1">
                <a:solidFill>
                  <a:srgbClr val="0E8A92"/>
                </a:solidFill>
                <a:latin typeface="Calibri"/>
                <a:ea typeface="Calibri"/>
                <a:cs typeface="Calibri"/>
              </a:rPr>
              <a:t>MEASUREMENT</a:t>
            </a:r>
          </a:p>
        </p:txBody>
      </p:sp>
      <p:sp>
        <p:nvSpPr>
          <p:cNvPr id="3" name="">
            <a:extLst xmlns:a="http://schemas.openxmlformats.org/drawingml/2006/main">
              <a:ext uri="{FF2B5EF4-FFF2-40B4-BE49-F238E27FC236}">
                <a16:creationId xmlns:a16="http://schemas.microsoft.com/office/drawing/2014/main" id="{E2178848-1112-4333-989F-C99EA9E64825}"/>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2550" b="1">
                <a:solidFill>
                  <a:srgbClr val="132433"/>
                </a:solidFill>
                <a:latin typeface="Calibri"/>
                <a:ea typeface="Calibri"/>
                <a:cs typeface="Calibri"/>
              </a:defRPr>
            </a:pPr>
            <a:r>
              <a:rPr sz="2550" b="1">
                <a:solidFill>
                  <a:srgbClr val="132433"/>
                </a:solidFill>
                <a:latin typeface="Calibri"/>
                <a:ea typeface="Calibri"/>
                <a:cs typeface="Calibri"/>
              </a:rPr>
              <a:t>Evaluation Metrics</a:t>
            </a:r>
          </a:p>
        </p:txBody>
      </p:sp>
      <p:sp>
        <p:nvSpPr>
          <p:cNvPr id="4" name="">
            <a:extLst xmlns:a="http://schemas.openxmlformats.org/drawingml/2006/main">
              <a:ext uri="{FF2B5EF4-FFF2-40B4-BE49-F238E27FC236}">
                <a16:creationId xmlns:a16="http://schemas.microsoft.com/office/drawing/2014/main" id="{0CD7E3B9-2CB4-493B-93EB-F53AB19097DC}"/>
              </a:ext>
            </a:extLst>
          </p:cNvPr>
          <p:cNvSpPr>
            <a:spLocks xmlns:a="http://schemas.openxmlformats.org/drawingml/2006/main" noGrp="1"/>
          </p:cNvSpPr>
          <p:nvPr/>
        </p:nvSpPr>
        <p:spPr>
          <a:xfrm xmlns:a="http://schemas.openxmlformats.org/drawingml/2006/main">
            <a:off x="11334750" y="62674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r">
              <a:defRPr sz="975" b="0">
                <a:solidFill>
                  <a:srgbClr val="5C6B77"/>
                </a:solidFill>
                <a:latin typeface="Calibri"/>
                <a:ea typeface="Calibri"/>
                <a:cs typeface="Calibri"/>
              </a:defRPr>
            </a:pPr>
            <a:r>
              <a:rPr sz="975" b="0">
                <a:solidFill>
                  <a:srgbClr val="5C6B77"/>
                </a:solidFill>
                <a:latin typeface="Calibri"/>
                <a:ea typeface="Calibri"/>
                <a:cs typeface="Calibri"/>
              </a:rPr>
              <a:t>08</a:t>
            </a:r>
          </a:p>
        </p:txBody>
      </p:sp>
      <p:sp>
        <p:nvSpPr>
          <p:cNvPr id="5" name="">
            <a:extLst xmlns:a="http://schemas.openxmlformats.org/drawingml/2006/main">
              <a:ext uri="{FF2B5EF4-FFF2-40B4-BE49-F238E27FC236}">
                <a16:creationId xmlns:a16="http://schemas.microsoft.com/office/drawing/2014/main" id="{DFDACDFD-6275-4DC5-BB67-6D7C62759C50}"/>
              </a:ext>
            </a:extLst>
          </p:cNvPr>
          <p:cNvSpPr>
            <a:spLocks xmlns:a="http://schemas.openxmlformats.org/drawingml/2006/main" noGrp="1"/>
          </p:cNvSpPr>
          <p:nvPr/>
        </p:nvSpPr>
        <p:spPr>
          <a:xfrm xmlns:a="http://schemas.openxmlformats.org/drawingml/2006/main">
            <a:off x="609600" y="62674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00" b="0">
                <a:solidFill>
                  <a:srgbClr val="5C6B77"/>
                </a:solidFill>
                <a:latin typeface="Calibri"/>
                <a:ea typeface="Calibri"/>
                <a:cs typeface="Calibri"/>
              </a:defRPr>
            </a:pPr>
            <a:r>
              <a:rPr sz="900" b="0">
                <a:solidFill>
                  <a:srgbClr val="5C6B77"/>
                </a:solidFill>
                <a:latin typeface="Calibri"/>
                <a:ea typeface="Calibri"/>
                <a:cs typeface="Calibri"/>
              </a:rPr>
              <a:t>DriftSentinel  |  Review 2</a:t>
            </a:r>
          </a:p>
        </p:txBody>
      </p:sp>
      <p:sp>
        <p:nvSpPr>
          <p:cNvPr id="6" name="">
            <a:extLst xmlns:a="http://schemas.openxmlformats.org/drawingml/2006/main">
              <a:ext uri="{FF2B5EF4-FFF2-40B4-BE49-F238E27FC236}">
                <a16:creationId xmlns:a16="http://schemas.microsoft.com/office/drawing/2014/main" id="{75C5F886-9FD9-4482-86F4-1505AB5F941E}"/>
              </a:ext>
            </a:extLst>
          </p:cNvPr>
          <p:cNvSpPr>
            <a:spLocks xmlns:a="http://schemas.openxmlformats.org/drawingml/2006/main" noGrp="1"/>
          </p:cNvSpPr>
          <p:nvPr/>
        </p:nvSpPr>
        <p:spPr>
          <a:xfrm xmlns:a="http://schemas.openxmlformats.org/drawingml/2006/main">
            <a:off x="762000" y="138112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575" b="1">
                <a:solidFill>
                  <a:srgbClr val="0E8A92"/>
                </a:solidFill>
                <a:latin typeface="Calibri"/>
                <a:ea typeface="Calibri"/>
                <a:cs typeface="Calibri"/>
              </a:defRPr>
            </a:pPr>
            <a:r>
              <a:rPr sz="1575" b="1">
                <a:solidFill>
                  <a:srgbClr val="0E8A92"/>
                </a:solidFill>
                <a:latin typeface="Calibri"/>
                <a:ea typeface="Calibri"/>
                <a:cs typeface="Calibri"/>
              </a:rPr>
              <a:t>F1</a:t>
            </a:r>
          </a:p>
        </p:txBody>
      </p:sp>
      <p:sp>
        <p:nvSpPr>
          <p:cNvPr id="7" name="">
            <a:extLst xmlns:a="http://schemas.openxmlformats.org/drawingml/2006/main">
              <a:ext uri="{FF2B5EF4-FFF2-40B4-BE49-F238E27FC236}">
                <a16:creationId xmlns:a16="http://schemas.microsoft.com/office/drawing/2014/main" id="{CE673121-E22F-409F-9E8C-E6203FE296B9}"/>
              </a:ext>
            </a:extLst>
          </p:cNvPr>
          <p:cNvSpPr>
            <a:spLocks xmlns:a="http://schemas.openxmlformats.org/drawingml/2006/main" noGrp="1"/>
          </p:cNvSpPr>
          <p:nvPr/>
        </p:nvSpPr>
        <p:spPr>
          <a:xfrm xmlns:a="http://schemas.openxmlformats.org/drawingml/2006/main">
            <a:off x="762000" y="170497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94907"/>
          </a:bodyPr>
          <a:lstStyle xmlns:a="http://schemas.openxmlformats.org/drawingml/2006/main"/>
          <a:p xmlns:a="http://schemas.openxmlformats.org/drawingml/2006/main">
            <a:pPr algn="l">
              <a:defRPr sz="1350" b="0">
                <a:solidFill>
                  <a:srgbClr val="5C6B77"/>
                </a:solidFill>
                <a:latin typeface="Calibri"/>
                <a:ea typeface="Calibri"/>
                <a:cs typeface="Calibri"/>
              </a:defRPr>
            </a:pPr>
            <a:r>
              <a:rPr sz="1350" b="0">
                <a:solidFill>
                  <a:srgbClr val="5C6B77"/>
                </a:solidFill>
                <a:latin typeface="Calibri"/>
                <a:ea typeface="Calibri"/>
                <a:cs typeface="Calibri"/>
              </a:rPr>
              <a:t>Harmonic mean of precision and recall at the selected threshold</a:t>
            </a:r>
          </a:p>
        </p:txBody>
      </p:sp>
      <p:sp>
        <p:nvSpPr>
          <p:cNvPr id="8" name="">
            <a:extLst xmlns:a="http://schemas.openxmlformats.org/drawingml/2006/main">
              <a:ext uri="{FF2B5EF4-FFF2-40B4-BE49-F238E27FC236}">
                <a16:creationId xmlns:a16="http://schemas.microsoft.com/office/drawing/2014/main" id="{1BD01135-964E-4EA0-B7E7-802A98E2F2E2}"/>
              </a:ext>
            </a:extLst>
          </p:cNvPr>
          <p:cNvSpPr>
            <a:spLocks xmlns:a="http://schemas.openxmlformats.org/drawingml/2006/main" noGrp="1"/>
          </p:cNvSpPr>
          <p:nvPr/>
        </p:nvSpPr>
        <p:spPr>
          <a:xfrm xmlns:a="http://schemas.openxmlformats.org/drawingml/2006/main">
            <a:off x="762000" y="2200275"/>
            <a:ext cx="4619625" cy="0"/>
          </a:xfrm>
          <a:prstGeom xmlns:a="http://schemas.openxmlformats.org/drawingml/2006/main" prst="line">
            <a:avLst/>
          </a:prstGeom>
          <a:ln xmlns:a="http://schemas.openxmlformats.org/drawingml/2006/main" w="9525">
            <a:solidFill>
              <a:srgbClr val="C9D4DC"/>
            </a:solidFill>
          </a:ln>
        </p:spPr>
      </p:sp>
      <p:sp>
        <p:nvSpPr>
          <p:cNvPr id="9" name="">
            <a:extLst xmlns:a="http://schemas.openxmlformats.org/drawingml/2006/main">
              <a:ext uri="{FF2B5EF4-FFF2-40B4-BE49-F238E27FC236}">
                <a16:creationId xmlns:a16="http://schemas.microsoft.com/office/drawing/2014/main" id="{67A06C09-0868-4B8F-8FD1-5AD8858A31DE}"/>
              </a:ext>
            </a:extLst>
          </p:cNvPr>
          <p:cNvSpPr>
            <a:spLocks xmlns:a="http://schemas.openxmlformats.org/drawingml/2006/main" noGrp="1"/>
          </p:cNvSpPr>
          <p:nvPr/>
        </p:nvSpPr>
        <p:spPr>
          <a:xfrm xmlns:a="http://schemas.openxmlformats.org/drawingml/2006/main">
            <a:off x="762000" y="23145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575" b="1">
                <a:solidFill>
                  <a:srgbClr val="0E8A92"/>
                </a:solidFill>
                <a:latin typeface="Calibri"/>
                <a:ea typeface="Calibri"/>
                <a:cs typeface="Calibri"/>
              </a:defRPr>
            </a:pPr>
            <a:r>
              <a:rPr sz="1575" b="1">
                <a:solidFill>
                  <a:srgbClr val="0E8A92"/>
                </a:solidFill>
                <a:latin typeface="Calibri"/>
                <a:ea typeface="Calibri"/>
                <a:cs typeface="Calibri"/>
              </a:rPr>
              <a:t>PR-AUC</a:t>
            </a:r>
          </a:p>
        </p:txBody>
      </p:sp>
      <p:sp>
        <p:nvSpPr>
          <p:cNvPr id="10" name="">
            <a:extLst xmlns:a="http://schemas.openxmlformats.org/drawingml/2006/main">
              <a:ext uri="{FF2B5EF4-FFF2-40B4-BE49-F238E27FC236}">
                <a16:creationId xmlns:a16="http://schemas.microsoft.com/office/drawing/2014/main" id="{9839F57E-BD3C-47F8-965D-722DC03199AB}"/>
              </a:ext>
            </a:extLst>
          </p:cNvPr>
          <p:cNvSpPr>
            <a:spLocks xmlns:a="http://schemas.openxmlformats.org/drawingml/2006/main" noGrp="1"/>
          </p:cNvSpPr>
          <p:nvPr/>
        </p:nvSpPr>
        <p:spPr>
          <a:xfrm xmlns:a="http://schemas.openxmlformats.org/drawingml/2006/main">
            <a:off x="762000" y="263842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350" b="0">
                <a:solidFill>
                  <a:srgbClr val="5C6B77"/>
                </a:solidFill>
                <a:latin typeface="Calibri"/>
                <a:ea typeface="Calibri"/>
                <a:cs typeface="Calibri"/>
              </a:defRPr>
            </a:pPr>
            <a:r>
              <a:rPr sz="1350" b="0">
                <a:solidFill>
                  <a:srgbClr val="5C6B77"/>
                </a:solidFill>
                <a:latin typeface="Calibri"/>
                <a:ea typeface="Calibri"/>
                <a:cs typeface="Calibri"/>
              </a:rPr>
              <a:t>Probability ranking quality for predictive models only</a:t>
            </a:r>
          </a:p>
        </p:txBody>
      </p:sp>
      <p:sp>
        <p:nvSpPr>
          <p:cNvPr id="11" name="">
            <a:extLst xmlns:a="http://schemas.openxmlformats.org/drawingml/2006/main">
              <a:ext uri="{FF2B5EF4-FFF2-40B4-BE49-F238E27FC236}">
                <a16:creationId xmlns:a16="http://schemas.microsoft.com/office/drawing/2014/main" id="{D10C8579-B70B-4F10-8C02-D624F6DE75F1}"/>
              </a:ext>
            </a:extLst>
          </p:cNvPr>
          <p:cNvSpPr>
            <a:spLocks xmlns:a="http://schemas.openxmlformats.org/drawingml/2006/main" noGrp="1"/>
          </p:cNvSpPr>
          <p:nvPr/>
        </p:nvSpPr>
        <p:spPr>
          <a:xfrm xmlns:a="http://schemas.openxmlformats.org/drawingml/2006/main">
            <a:off x="762000" y="3133725"/>
            <a:ext cx="4619625" cy="0"/>
          </a:xfrm>
          <a:prstGeom xmlns:a="http://schemas.openxmlformats.org/drawingml/2006/main" prst="line">
            <a:avLst/>
          </a:prstGeom>
          <a:ln xmlns:a="http://schemas.openxmlformats.org/drawingml/2006/main" w="9525">
            <a:solidFill>
              <a:srgbClr val="C9D4DC"/>
            </a:solidFill>
          </a:ln>
        </p:spPr>
      </p:sp>
      <p:sp>
        <p:nvSpPr>
          <p:cNvPr id="12" name="">
            <a:extLst xmlns:a="http://schemas.openxmlformats.org/drawingml/2006/main">
              <a:ext uri="{FF2B5EF4-FFF2-40B4-BE49-F238E27FC236}">
                <a16:creationId xmlns:a16="http://schemas.microsoft.com/office/drawing/2014/main" id="{1D0155BB-5554-4F92-9B62-1C03F9AB21E3}"/>
              </a:ext>
            </a:extLst>
          </p:cNvPr>
          <p:cNvSpPr>
            <a:spLocks xmlns:a="http://schemas.openxmlformats.org/drawingml/2006/main" noGrp="1"/>
          </p:cNvSpPr>
          <p:nvPr/>
        </p:nvSpPr>
        <p:spPr>
          <a:xfrm xmlns:a="http://schemas.openxmlformats.org/drawingml/2006/main">
            <a:off x="762000" y="324802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575" b="1">
                <a:solidFill>
                  <a:srgbClr val="0E8A92"/>
                </a:solidFill>
                <a:latin typeface="Calibri"/>
                <a:ea typeface="Calibri"/>
                <a:cs typeface="Calibri"/>
              </a:defRPr>
            </a:pPr>
            <a:r>
              <a:rPr sz="1575" b="1">
                <a:solidFill>
                  <a:srgbClr val="0E8A92"/>
                </a:solidFill>
                <a:latin typeface="Calibri"/>
                <a:ea typeface="Calibri"/>
                <a:cs typeface="Calibri"/>
              </a:rPr>
              <a:t>Lead time</a:t>
            </a:r>
          </a:p>
        </p:txBody>
      </p:sp>
      <p:sp>
        <p:nvSpPr>
          <p:cNvPr id="13" name="">
            <a:extLst xmlns:a="http://schemas.openxmlformats.org/drawingml/2006/main">
              <a:ext uri="{FF2B5EF4-FFF2-40B4-BE49-F238E27FC236}">
                <a16:creationId xmlns:a16="http://schemas.microsoft.com/office/drawing/2014/main" id="{40AF9A42-416A-48FF-A493-159D95083E8C}"/>
              </a:ext>
            </a:extLst>
          </p:cNvPr>
          <p:cNvSpPr>
            <a:spLocks xmlns:a="http://schemas.openxmlformats.org/drawingml/2006/main" noGrp="1"/>
          </p:cNvSpPr>
          <p:nvPr/>
        </p:nvSpPr>
        <p:spPr>
          <a:xfrm xmlns:a="http://schemas.openxmlformats.org/drawingml/2006/main">
            <a:off x="762000" y="357187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350" b="0">
                <a:solidFill>
                  <a:srgbClr val="5C6B77"/>
                </a:solidFill>
                <a:latin typeface="Calibri"/>
                <a:ea typeface="Calibri"/>
                <a:cs typeface="Calibri"/>
              </a:defRPr>
            </a:pPr>
            <a:r>
              <a:rPr sz="1350" b="0">
                <a:solidFill>
                  <a:srgbClr val="5C6B77"/>
                </a:solidFill>
                <a:latin typeface="Calibri"/>
                <a:ea typeface="Calibri"/>
                <a:cs typeface="Calibri"/>
              </a:rPr>
              <a:t>Batches between first valid warning and onset</a:t>
            </a:r>
          </a:p>
        </p:txBody>
      </p:sp>
      <p:sp>
        <p:nvSpPr>
          <p:cNvPr id="14" name="">
            <a:extLst xmlns:a="http://schemas.openxmlformats.org/drawingml/2006/main">
              <a:ext uri="{FF2B5EF4-FFF2-40B4-BE49-F238E27FC236}">
                <a16:creationId xmlns:a16="http://schemas.microsoft.com/office/drawing/2014/main" id="{31D747CD-7902-40DC-856E-3A5725F1A1D5}"/>
              </a:ext>
            </a:extLst>
          </p:cNvPr>
          <p:cNvSpPr>
            <a:spLocks xmlns:a="http://schemas.openxmlformats.org/drawingml/2006/main" noGrp="1"/>
          </p:cNvSpPr>
          <p:nvPr/>
        </p:nvSpPr>
        <p:spPr>
          <a:xfrm xmlns:a="http://schemas.openxmlformats.org/drawingml/2006/main">
            <a:off x="762000" y="4067175"/>
            <a:ext cx="4619625" cy="0"/>
          </a:xfrm>
          <a:prstGeom xmlns:a="http://schemas.openxmlformats.org/drawingml/2006/main" prst="line">
            <a:avLst/>
          </a:prstGeom>
          <a:ln xmlns:a="http://schemas.openxmlformats.org/drawingml/2006/main" w="9525">
            <a:solidFill>
              <a:srgbClr val="C9D4DC"/>
            </a:solidFill>
          </a:ln>
        </p:spPr>
      </p:sp>
      <p:sp>
        <p:nvSpPr>
          <p:cNvPr id="15" name="">
            <a:extLst xmlns:a="http://schemas.openxmlformats.org/drawingml/2006/main">
              <a:ext uri="{FF2B5EF4-FFF2-40B4-BE49-F238E27FC236}">
                <a16:creationId xmlns:a16="http://schemas.microsoft.com/office/drawing/2014/main" id="{4724F3BD-DEB3-4D31-AA11-91C4B127DB28}"/>
              </a:ext>
            </a:extLst>
          </p:cNvPr>
          <p:cNvSpPr>
            <a:spLocks xmlns:a="http://schemas.openxmlformats.org/drawingml/2006/main" noGrp="1"/>
          </p:cNvSpPr>
          <p:nvPr/>
        </p:nvSpPr>
        <p:spPr>
          <a:xfrm xmlns:a="http://schemas.openxmlformats.org/drawingml/2006/main">
            <a:off x="762000" y="41814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575" b="1">
                <a:solidFill>
                  <a:srgbClr val="0E8A92"/>
                </a:solidFill>
                <a:latin typeface="Calibri"/>
                <a:ea typeface="Calibri"/>
                <a:cs typeface="Calibri"/>
              </a:defRPr>
            </a:pPr>
            <a:r>
              <a:rPr sz="1575" b="1">
                <a:solidFill>
                  <a:srgbClr val="0E8A92"/>
                </a:solidFill>
                <a:latin typeface="Calibri"/>
                <a:ea typeface="Calibri"/>
                <a:cs typeface="Calibri"/>
              </a:rPr>
              <a:t>Coverage</a:t>
            </a:r>
          </a:p>
        </p:txBody>
      </p:sp>
      <p:sp>
        <p:nvSpPr>
          <p:cNvPr id="16" name="">
            <a:extLst xmlns:a="http://schemas.openxmlformats.org/drawingml/2006/main">
              <a:ext uri="{FF2B5EF4-FFF2-40B4-BE49-F238E27FC236}">
                <a16:creationId xmlns:a16="http://schemas.microsoft.com/office/drawing/2014/main" id="{BF36D616-3189-487E-816D-DE16C1FA74CC}"/>
              </a:ext>
            </a:extLst>
          </p:cNvPr>
          <p:cNvSpPr>
            <a:spLocks xmlns:a="http://schemas.openxmlformats.org/drawingml/2006/main" noGrp="1"/>
          </p:cNvSpPr>
          <p:nvPr/>
        </p:nvSpPr>
        <p:spPr>
          <a:xfrm xmlns:a="http://schemas.openxmlformats.org/drawingml/2006/main">
            <a:off x="762000" y="450532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350" b="0">
                <a:solidFill>
                  <a:srgbClr val="5C6B77"/>
                </a:solidFill>
                <a:latin typeface="Calibri"/>
                <a:ea typeface="Calibri"/>
                <a:cs typeface="Calibri"/>
              </a:defRPr>
            </a:pPr>
            <a:r>
              <a:rPr sz="1350" b="0">
                <a:solidFill>
                  <a:srgbClr val="5C6B77"/>
                </a:solidFill>
                <a:latin typeface="Calibri"/>
                <a:ea typeface="Calibri"/>
                <a:cs typeface="Calibri"/>
              </a:rPr>
              <a:t>Fraction of drift events with a valid warning</a:t>
            </a:r>
          </a:p>
        </p:txBody>
      </p:sp>
      <p:sp>
        <p:nvSpPr>
          <p:cNvPr id="17" name="">
            <a:extLst xmlns:a="http://schemas.openxmlformats.org/drawingml/2006/main">
              <a:ext uri="{FF2B5EF4-FFF2-40B4-BE49-F238E27FC236}">
                <a16:creationId xmlns:a16="http://schemas.microsoft.com/office/drawing/2014/main" id="{A5D55C88-46D8-4A71-AA34-784301E0D202}"/>
              </a:ext>
            </a:extLst>
          </p:cNvPr>
          <p:cNvSpPr>
            <a:spLocks xmlns:a="http://schemas.openxmlformats.org/drawingml/2006/main" noGrp="1"/>
          </p:cNvSpPr>
          <p:nvPr/>
        </p:nvSpPr>
        <p:spPr>
          <a:xfrm xmlns:a="http://schemas.openxmlformats.org/drawingml/2006/main">
            <a:off x="762000" y="5000625"/>
            <a:ext cx="4619625" cy="0"/>
          </a:xfrm>
          <a:prstGeom xmlns:a="http://schemas.openxmlformats.org/drawingml/2006/main" prst="line">
            <a:avLst/>
          </a:prstGeom>
          <a:ln xmlns:a="http://schemas.openxmlformats.org/drawingml/2006/main" w="9525">
            <a:solidFill>
              <a:srgbClr val="C9D4DC"/>
            </a:solidFill>
          </a:ln>
        </p:spPr>
      </p:sp>
      <p:sp>
        <p:nvSpPr>
          <p:cNvPr id="18" name="">
            <a:extLst xmlns:a="http://schemas.openxmlformats.org/drawingml/2006/main">
              <a:ext uri="{FF2B5EF4-FFF2-40B4-BE49-F238E27FC236}">
                <a16:creationId xmlns:a16="http://schemas.microsoft.com/office/drawing/2014/main" id="{03166952-3BE8-42B9-A3A7-73575BE554DE}"/>
              </a:ext>
            </a:extLst>
          </p:cNvPr>
          <p:cNvSpPr>
            <a:spLocks xmlns:a="http://schemas.openxmlformats.org/drawingml/2006/main" noGrp="1"/>
          </p:cNvSpPr>
          <p:nvPr/>
        </p:nvSpPr>
        <p:spPr>
          <a:xfrm xmlns:a="http://schemas.openxmlformats.org/drawingml/2006/main">
            <a:off x="6477000" y="138112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575" b="1">
                <a:solidFill>
                  <a:srgbClr val="0E8A92"/>
                </a:solidFill>
                <a:latin typeface="Calibri"/>
                <a:ea typeface="Calibri"/>
                <a:cs typeface="Calibri"/>
              </a:defRPr>
            </a:pPr>
            <a:r>
              <a:rPr sz="1575" b="1">
                <a:solidFill>
                  <a:srgbClr val="0E8A92"/>
                </a:solidFill>
                <a:latin typeface="Calibri"/>
                <a:ea typeface="Calibri"/>
                <a:cs typeface="Calibri"/>
              </a:rPr>
              <a:t>Batch FAR</a:t>
            </a:r>
          </a:p>
        </p:txBody>
      </p:sp>
      <p:sp>
        <p:nvSpPr>
          <p:cNvPr id="19" name="">
            <a:extLst xmlns:a="http://schemas.openxmlformats.org/drawingml/2006/main">
              <a:ext uri="{FF2B5EF4-FFF2-40B4-BE49-F238E27FC236}">
                <a16:creationId xmlns:a16="http://schemas.microsoft.com/office/drawing/2014/main" id="{F8F8624B-7A14-47C5-B511-B8CA851454E1}"/>
              </a:ext>
            </a:extLst>
          </p:cNvPr>
          <p:cNvSpPr>
            <a:spLocks xmlns:a="http://schemas.openxmlformats.org/drawingml/2006/main" noGrp="1"/>
          </p:cNvSpPr>
          <p:nvPr/>
        </p:nvSpPr>
        <p:spPr>
          <a:xfrm xmlns:a="http://schemas.openxmlformats.org/drawingml/2006/main">
            <a:off x="6477000" y="170497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350" b="0">
                <a:solidFill>
                  <a:srgbClr val="5C6B77"/>
                </a:solidFill>
                <a:latin typeface="Calibri"/>
                <a:ea typeface="Calibri"/>
                <a:cs typeface="Calibri"/>
              </a:defRPr>
            </a:pPr>
            <a:r>
              <a:rPr sz="1350" b="0">
                <a:solidFill>
                  <a:srgbClr val="5C6B77"/>
                </a:solidFill>
                <a:latin typeface="Calibri"/>
                <a:ea typeface="Calibri"/>
                <a:cs typeface="Calibri"/>
              </a:rPr>
              <a:t>Alerts outside all valid warning windows</a:t>
            </a:r>
          </a:p>
        </p:txBody>
      </p:sp>
      <p:sp>
        <p:nvSpPr>
          <p:cNvPr id="20" name="">
            <a:extLst xmlns:a="http://schemas.openxmlformats.org/drawingml/2006/main">
              <a:ext uri="{FF2B5EF4-FFF2-40B4-BE49-F238E27FC236}">
                <a16:creationId xmlns:a16="http://schemas.microsoft.com/office/drawing/2014/main" id="{87EBAFD0-04A4-43F8-8B53-F49DF3761382}"/>
              </a:ext>
            </a:extLst>
          </p:cNvPr>
          <p:cNvSpPr>
            <a:spLocks xmlns:a="http://schemas.openxmlformats.org/drawingml/2006/main" noGrp="1"/>
          </p:cNvSpPr>
          <p:nvPr/>
        </p:nvSpPr>
        <p:spPr>
          <a:xfrm xmlns:a="http://schemas.openxmlformats.org/drawingml/2006/main">
            <a:off x="6477000" y="2200275"/>
            <a:ext cx="4619625" cy="0"/>
          </a:xfrm>
          <a:prstGeom xmlns:a="http://schemas.openxmlformats.org/drawingml/2006/main" prst="line">
            <a:avLst/>
          </a:prstGeom>
          <a:ln xmlns:a="http://schemas.openxmlformats.org/drawingml/2006/main" w="9525">
            <a:solidFill>
              <a:srgbClr val="C9D4DC"/>
            </a:solidFill>
          </a:ln>
        </p:spPr>
      </p:sp>
      <p:sp>
        <p:nvSpPr>
          <p:cNvPr id="21" name="">
            <a:extLst xmlns:a="http://schemas.openxmlformats.org/drawingml/2006/main">
              <a:ext uri="{FF2B5EF4-FFF2-40B4-BE49-F238E27FC236}">
                <a16:creationId xmlns:a16="http://schemas.microsoft.com/office/drawing/2014/main" id="{FED8DE85-369E-4EA0-9AE3-F28005D89A5A}"/>
              </a:ext>
            </a:extLst>
          </p:cNvPr>
          <p:cNvSpPr>
            <a:spLocks xmlns:a="http://schemas.openxmlformats.org/drawingml/2006/main" noGrp="1"/>
          </p:cNvSpPr>
          <p:nvPr/>
        </p:nvSpPr>
        <p:spPr>
          <a:xfrm xmlns:a="http://schemas.openxmlformats.org/drawingml/2006/main">
            <a:off x="6477000" y="23145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575" b="1">
                <a:solidFill>
                  <a:srgbClr val="0E8A92"/>
                </a:solidFill>
                <a:latin typeface="Calibri"/>
                <a:ea typeface="Calibri"/>
                <a:cs typeface="Calibri"/>
              </a:defRPr>
            </a:pPr>
            <a:r>
              <a:rPr sz="1575" b="1">
                <a:solidFill>
                  <a:srgbClr val="0E8A92"/>
                </a:solidFill>
                <a:latin typeface="Calibri"/>
                <a:ea typeface="Calibri"/>
                <a:cs typeface="Calibri"/>
              </a:rPr>
              <a:t>Missed drift</a:t>
            </a:r>
          </a:p>
        </p:txBody>
      </p:sp>
      <p:sp>
        <p:nvSpPr>
          <p:cNvPr id="22" name="">
            <a:extLst xmlns:a="http://schemas.openxmlformats.org/drawingml/2006/main">
              <a:ext uri="{FF2B5EF4-FFF2-40B4-BE49-F238E27FC236}">
                <a16:creationId xmlns:a16="http://schemas.microsoft.com/office/drawing/2014/main" id="{68075DCD-524F-4AEC-901F-585276F264DB}"/>
              </a:ext>
            </a:extLst>
          </p:cNvPr>
          <p:cNvSpPr>
            <a:spLocks xmlns:a="http://schemas.openxmlformats.org/drawingml/2006/main" noGrp="1"/>
          </p:cNvSpPr>
          <p:nvPr/>
        </p:nvSpPr>
        <p:spPr>
          <a:xfrm xmlns:a="http://schemas.openxmlformats.org/drawingml/2006/main">
            <a:off x="6477000" y="263842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350" b="0">
                <a:solidFill>
                  <a:srgbClr val="5C6B77"/>
                </a:solidFill>
                <a:latin typeface="Calibri"/>
                <a:ea typeface="Calibri"/>
                <a:cs typeface="Calibri"/>
              </a:defRPr>
            </a:pPr>
            <a:r>
              <a:rPr sz="1350" b="0">
                <a:solidFill>
                  <a:srgbClr val="5C6B77"/>
                </a:solidFill>
                <a:latin typeface="Calibri"/>
                <a:ea typeface="Calibri"/>
                <a:cs typeface="Calibri"/>
              </a:rPr>
              <a:t>One minus warning coverage</a:t>
            </a:r>
          </a:p>
        </p:txBody>
      </p:sp>
      <p:sp>
        <p:nvSpPr>
          <p:cNvPr id="23" name="">
            <a:extLst xmlns:a="http://schemas.openxmlformats.org/drawingml/2006/main">
              <a:ext uri="{FF2B5EF4-FFF2-40B4-BE49-F238E27FC236}">
                <a16:creationId xmlns:a16="http://schemas.microsoft.com/office/drawing/2014/main" id="{06F65A61-3D11-4FEE-BDB0-1CBAF78C0A53}"/>
              </a:ext>
            </a:extLst>
          </p:cNvPr>
          <p:cNvSpPr>
            <a:spLocks xmlns:a="http://schemas.openxmlformats.org/drawingml/2006/main" noGrp="1"/>
          </p:cNvSpPr>
          <p:nvPr/>
        </p:nvSpPr>
        <p:spPr>
          <a:xfrm xmlns:a="http://schemas.openxmlformats.org/drawingml/2006/main">
            <a:off x="6477000" y="3133725"/>
            <a:ext cx="4619625" cy="0"/>
          </a:xfrm>
          <a:prstGeom xmlns:a="http://schemas.openxmlformats.org/drawingml/2006/main" prst="line">
            <a:avLst/>
          </a:prstGeom>
          <a:ln xmlns:a="http://schemas.openxmlformats.org/drawingml/2006/main" w="9525">
            <a:solidFill>
              <a:srgbClr val="C9D4DC"/>
            </a:solidFill>
          </a:ln>
        </p:spPr>
      </p:sp>
      <p:sp>
        <p:nvSpPr>
          <p:cNvPr id="24" name="">
            <a:extLst xmlns:a="http://schemas.openxmlformats.org/drawingml/2006/main">
              <a:ext uri="{FF2B5EF4-FFF2-40B4-BE49-F238E27FC236}">
                <a16:creationId xmlns:a16="http://schemas.microsoft.com/office/drawing/2014/main" id="{28057429-7F7C-424A-AB3A-F66E5CB96BFC}"/>
              </a:ext>
            </a:extLst>
          </p:cNvPr>
          <p:cNvSpPr>
            <a:spLocks xmlns:a="http://schemas.openxmlformats.org/drawingml/2006/main" noGrp="1"/>
          </p:cNvSpPr>
          <p:nvPr/>
        </p:nvSpPr>
        <p:spPr>
          <a:xfrm xmlns:a="http://schemas.openxmlformats.org/drawingml/2006/main">
            <a:off x="6477000" y="324802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575" b="1">
                <a:solidFill>
                  <a:srgbClr val="0E8A92"/>
                </a:solidFill>
                <a:latin typeface="Calibri"/>
                <a:ea typeface="Calibri"/>
                <a:cs typeface="Calibri"/>
              </a:defRPr>
            </a:pPr>
            <a:r>
              <a:rPr sz="1575" b="1">
                <a:solidFill>
                  <a:srgbClr val="0E8A92"/>
                </a:solidFill>
                <a:latin typeface="Calibri"/>
                <a:ea typeface="Calibri"/>
                <a:cs typeface="Calibri"/>
              </a:rPr>
              <a:t>Recovery</a:t>
            </a:r>
          </a:p>
        </p:txBody>
      </p:sp>
      <p:sp>
        <p:nvSpPr>
          <p:cNvPr id="25" name="">
            <a:extLst xmlns:a="http://schemas.openxmlformats.org/drawingml/2006/main">
              <a:ext uri="{FF2B5EF4-FFF2-40B4-BE49-F238E27FC236}">
                <a16:creationId xmlns:a16="http://schemas.microsoft.com/office/drawing/2014/main" id="{B779F481-CBFB-49DB-8722-D289E5C98692}"/>
              </a:ext>
            </a:extLst>
          </p:cNvPr>
          <p:cNvSpPr>
            <a:spLocks xmlns:a="http://schemas.openxmlformats.org/drawingml/2006/main" noGrp="1"/>
          </p:cNvSpPr>
          <p:nvPr/>
        </p:nvSpPr>
        <p:spPr>
          <a:xfrm xmlns:a="http://schemas.openxmlformats.org/drawingml/2006/main">
            <a:off x="6477000" y="357187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350" b="0">
                <a:solidFill>
                  <a:srgbClr val="5C6B77"/>
                </a:solidFill>
                <a:latin typeface="Calibri"/>
                <a:ea typeface="Calibri"/>
                <a:cs typeface="Calibri"/>
              </a:defRPr>
            </a:pPr>
            <a:r>
              <a:rPr sz="1350" b="0">
                <a:solidFill>
                  <a:srgbClr val="5C6B77"/>
                </a:solidFill>
                <a:latin typeface="Calibri"/>
                <a:ea typeface="Calibri"/>
                <a:cs typeface="Calibri"/>
              </a:rPr>
              <a:t>Batches to regain 95% of pre-drift rolling accuracy</a:t>
            </a:r>
          </a:p>
        </p:txBody>
      </p:sp>
      <p:sp>
        <p:nvSpPr>
          <p:cNvPr id="26" name="">
            <a:extLst xmlns:a="http://schemas.openxmlformats.org/drawingml/2006/main">
              <a:ext uri="{FF2B5EF4-FFF2-40B4-BE49-F238E27FC236}">
                <a16:creationId xmlns:a16="http://schemas.microsoft.com/office/drawing/2014/main" id="{928A8F62-6754-449F-A8AA-D11BFCE1775F}"/>
              </a:ext>
            </a:extLst>
          </p:cNvPr>
          <p:cNvSpPr>
            <a:spLocks xmlns:a="http://schemas.openxmlformats.org/drawingml/2006/main" noGrp="1"/>
          </p:cNvSpPr>
          <p:nvPr/>
        </p:nvSpPr>
        <p:spPr>
          <a:xfrm xmlns:a="http://schemas.openxmlformats.org/drawingml/2006/main">
            <a:off x="6477000" y="4067175"/>
            <a:ext cx="4619625" cy="0"/>
          </a:xfrm>
          <a:prstGeom xmlns:a="http://schemas.openxmlformats.org/drawingml/2006/main" prst="line">
            <a:avLst/>
          </a:prstGeom>
          <a:ln xmlns:a="http://schemas.openxmlformats.org/drawingml/2006/main" w="9525">
            <a:solidFill>
              <a:srgbClr val="C9D4DC"/>
            </a:solidFill>
          </a:ln>
        </p:spPr>
      </p:sp>
      <p:sp>
        <p:nvSpPr>
          <p:cNvPr id="27" name="">
            <a:extLst xmlns:a="http://schemas.openxmlformats.org/drawingml/2006/main">
              <a:ext uri="{FF2B5EF4-FFF2-40B4-BE49-F238E27FC236}">
                <a16:creationId xmlns:a16="http://schemas.microsoft.com/office/drawing/2014/main" id="{F51F0303-9A63-4B9B-8867-C1DFF4748156}"/>
              </a:ext>
            </a:extLst>
          </p:cNvPr>
          <p:cNvSpPr>
            <a:spLocks xmlns:a="http://schemas.openxmlformats.org/drawingml/2006/main" noGrp="1"/>
          </p:cNvSpPr>
          <p:nvPr/>
        </p:nvSpPr>
        <p:spPr>
          <a:xfrm xmlns:a="http://schemas.openxmlformats.org/drawingml/2006/main">
            <a:off x="6477000" y="41814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575" b="1">
                <a:solidFill>
                  <a:srgbClr val="0E8A92"/>
                </a:solidFill>
                <a:latin typeface="Calibri"/>
                <a:ea typeface="Calibri"/>
                <a:cs typeface="Calibri"/>
              </a:defRPr>
            </a:pPr>
            <a:r>
              <a:rPr sz="1575" b="1">
                <a:solidFill>
                  <a:srgbClr val="0E8A92"/>
                </a:solidFill>
                <a:latin typeface="Calibri"/>
                <a:ea typeface="Calibri"/>
                <a:cs typeface="Calibri"/>
              </a:rPr>
              <a:t>Adaptation cost</a:t>
            </a:r>
          </a:p>
        </p:txBody>
      </p:sp>
      <p:sp>
        <p:nvSpPr>
          <p:cNvPr id="28" name="">
            <a:extLst xmlns:a="http://schemas.openxmlformats.org/drawingml/2006/main">
              <a:ext uri="{FF2B5EF4-FFF2-40B4-BE49-F238E27FC236}">
                <a16:creationId xmlns:a16="http://schemas.microsoft.com/office/drawing/2014/main" id="{3F437F45-55C2-404B-B8BA-98CDEAA82440}"/>
              </a:ext>
            </a:extLst>
          </p:cNvPr>
          <p:cNvSpPr>
            <a:spLocks xmlns:a="http://schemas.openxmlformats.org/drawingml/2006/main" noGrp="1"/>
          </p:cNvSpPr>
          <p:nvPr/>
        </p:nvSpPr>
        <p:spPr>
          <a:xfrm xmlns:a="http://schemas.openxmlformats.org/drawingml/2006/main">
            <a:off x="6477000" y="450532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350" b="0">
                <a:solidFill>
                  <a:srgbClr val="5C6B77"/>
                </a:solidFill>
                <a:latin typeface="Calibri"/>
                <a:ea typeface="Calibri"/>
                <a:cs typeface="Calibri"/>
              </a:defRPr>
            </a:pPr>
            <a:r>
              <a:rPr sz="1350" b="0">
                <a:solidFill>
                  <a:srgbClr val="5C6B77"/>
                </a:solidFill>
                <a:latin typeface="Calibri"/>
                <a:ea typeface="Calibri"/>
                <a:cs typeface="Calibri"/>
              </a:rPr>
              <a:t>Deduplicated resets per 100 evaluated batches</a:t>
            </a:r>
          </a:p>
        </p:txBody>
      </p:sp>
      <p:sp>
        <p:nvSpPr>
          <p:cNvPr id="29" name="">
            <a:extLst xmlns:a="http://schemas.openxmlformats.org/drawingml/2006/main">
              <a:ext uri="{FF2B5EF4-FFF2-40B4-BE49-F238E27FC236}">
                <a16:creationId xmlns:a16="http://schemas.microsoft.com/office/drawing/2014/main" id="{8D137EFB-D43F-42F2-879E-B308F6CFED05}"/>
              </a:ext>
            </a:extLst>
          </p:cNvPr>
          <p:cNvSpPr>
            <a:spLocks xmlns:a="http://schemas.openxmlformats.org/drawingml/2006/main" noGrp="1"/>
          </p:cNvSpPr>
          <p:nvPr/>
        </p:nvSpPr>
        <p:spPr>
          <a:xfrm xmlns:a="http://schemas.openxmlformats.org/drawingml/2006/main">
            <a:off x="6477000" y="5000625"/>
            <a:ext cx="4619625" cy="0"/>
          </a:xfrm>
          <a:prstGeom xmlns:a="http://schemas.openxmlformats.org/drawingml/2006/main" prst="line">
            <a:avLst/>
          </a:prstGeom>
          <a:ln xmlns:a="http://schemas.openxmlformats.org/drawingml/2006/main" w="9525">
            <a:solidFill>
              <a:srgbClr val="C9D4DC"/>
            </a:solidFill>
          </a:ln>
        </p:spPr>
      </p:sp>
      <p:sp>
        <p:nvSpPr>
          <p:cNvPr id="30" name="">
            <a:extLst xmlns:a="http://schemas.openxmlformats.org/drawingml/2006/main">
              <a:ext uri="{FF2B5EF4-FFF2-40B4-BE49-F238E27FC236}">
                <a16:creationId xmlns:a16="http://schemas.microsoft.com/office/drawing/2014/main" id="{E228F21E-8C28-4673-8F51-BB77751B1814}"/>
              </a:ext>
            </a:extLst>
          </p:cNvPr>
          <p:cNvSpPr>
            <a:spLocks xmlns:a="http://schemas.openxmlformats.org/drawingml/2006/main" noGrp="1"/>
          </p:cNvSpPr>
          <p:nvPr/>
        </p:nvSpPr>
        <p:spPr>
          <a:xfrm xmlns:a="http://schemas.openxmlformats.org/drawingml/2006/main">
            <a:off x="762000" y="5286375"/>
            <a:ext cx="10287000" cy="666750"/>
          </a:xfrm>
          <a:prstGeom xmlns:a="http://schemas.openxmlformats.org/drawingml/2006/main" prst="roundRect">
            <a:avLst>
              <a:gd name="adj" fmla="val 11429"/>
            </a:avLst>
          </a:prstGeom>
          <a:solidFill xmlns:a="http://schemas.openxmlformats.org/drawingml/2006/main">
            <a:srgbClr val="FFF3DD"/>
          </a:solidFill>
          <a:ln xmlns:a="http://schemas.openxmlformats.org/drawingml/2006/main" w="9525">
            <a:solidFill>
              <a:srgbClr val="F1A33C"/>
            </a:solidFill>
          </a:ln>
        </p:spPr>
      </p:sp>
      <p:sp>
        <p:nvSpPr>
          <p:cNvPr id="31" name="">
            <a:extLst xmlns:a="http://schemas.openxmlformats.org/drawingml/2006/main">
              <a:ext uri="{FF2B5EF4-FFF2-40B4-BE49-F238E27FC236}">
                <a16:creationId xmlns:a16="http://schemas.microsoft.com/office/drawing/2014/main" id="{E18079FC-EC3E-42A2-B2FA-8EC44731F74D}"/>
              </a:ext>
            </a:extLst>
          </p:cNvPr>
          <p:cNvSpPr>
            <a:spLocks xmlns:a="http://schemas.openxmlformats.org/drawingml/2006/main" noGrp="1"/>
          </p:cNvSpPr>
          <p:nvPr/>
        </p:nvSpPr>
        <p:spPr>
          <a:xfrm xmlns:a="http://schemas.openxmlformats.org/drawingml/2006/main">
            <a:off x="1047750" y="5429250"/>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99412"/>
          </a:bodyPr>
          <a:lstStyle xmlns:a="http://schemas.openxmlformats.org/drawingml/2006/main"/>
          <a:p xmlns:a="http://schemas.openxmlformats.org/drawingml/2006/main">
            <a:pPr algn="l">
              <a:defRPr sz="1575" b="1">
                <a:solidFill>
                  <a:srgbClr val="132433"/>
                </a:solidFill>
                <a:latin typeface="Calibri"/>
                <a:ea typeface="Calibri"/>
                <a:cs typeface="Calibri"/>
              </a:defRPr>
            </a:pPr>
            <a:r>
              <a:rPr sz="1575" b="1">
                <a:solidFill>
                  <a:srgbClr val="132433"/>
                </a:solidFill>
                <a:latin typeface="Calibri"/>
                <a:ea typeface="Calibri"/>
                <a:cs typeface="Calibri"/>
              </a:rPr>
              <a:t>ADWIN, DDM and KSWIN PR-AUC = N/A</a:t>
            </a:r>
          </a:p>
        </p:txBody>
      </p:sp>
      <p:sp>
        <p:nvSpPr>
          <p:cNvPr id="32" name="">
            <a:extLst xmlns:a="http://schemas.openxmlformats.org/drawingml/2006/main">
              <a:ext uri="{FF2B5EF4-FFF2-40B4-BE49-F238E27FC236}">
                <a16:creationId xmlns:a16="http://schemas.microsoft.com/office/drawing/2014/main" id="{B7A68D67-93DE-40FF-9649-F90AE7BDF9FE}"/>
              </a:ext>
            </a:extLst>
          </p:cNvPr>
          <p:cNvSpPr>
            <a:spLocks xmlns:a="http://schemas.openxmlformats.org/drawingml/2006/main" noGrp="1"/>
          </p:cNvSpPr>
          <p:nvPr/>
        </p:nvSpPr>
        <p:spPr>
          <a:xfrm xmlns:a="http://schemas.openxmlformats.org/drawingml/2006/main">
            <a:off x="4857750" y="5419725"/>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88235"/>
          </a:bodyPr>
          <a:lstStyle xmlns:a="http://schemas.openxmlformats.org/drawingml/2006/main"/>
          <a:p xmlns:a="http://schemas.openxmlformats.org/drawingml/2006/main">
            <a:pPr algn="l">
              <a:defRPr sz="1275" b="0">
                <a:solidFill>
                  <a:srgbClr val="132433"/>
                </a:solidFill>
                <a:latin typeface="Calibri"/>
                <a:ea typeface="Calibri"/>
                <a:cs typeface="Calibri"/>
              </a:defRPr>
            </a:pPr>
            <a:r>
              <a:rPr sz="1275" b="0">
                <a:solidFill>
                  <a:srgbClr val="132433"/>
                </a:solidFill>
                <a:latin typeface="Calibri"/>
                <a:ea typeface="Calibri"/>
                <a:cs typeface="Calibri"/>
              </a:rPr>
              <a:t>Only binary alarm flags are available, so no genuine continuous detector threshold curve exists.</a:t>
            </a:r>
          </a:p>
        </p:txBody>
      </p:sp>
    </p:spTree>
    <p:extLst>
      <p:ext uri="{BB962C8B-B14F-4D97-AF65-F5344CB8AC3E}">
        <p14:creationId xmlns:p14="http://schemas.microsoft.com/office/powerpoint/2010/main" val="1727303439"/>
      </p:ext>
    </p:extLst>
  </p:cSld>
</p:sld>
</file>

<file path=ppt/slides/slide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9146432-768D-4A6C-84F2-92FB5CC31C6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7C7D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693FB8-704A-4262-B1BD-4C03FB354986}"/>
              </a:ext>
            </a:extLst>
          </p:cNvPr>
          <p:cNvSpPr>
            <a:spLocks xmlns:a="http://schemas.openxmlformats.org/drawingml/2006/main" noGrp="1"/>
          </p:cNvSpPr>
          <p:nvPr/>
        </p:nvSpPr>
        <p:spPr>
          <a:xfrm xmlns:a="http://schemas.openxmlformats.org/drawingml/2006/main">
            <a:off x="609600" y="2667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75" b="1">
                <a:solidFill>
                  <a:srgbClr val="0E8A92"/>
                </a:solidFill>
                <a:latin typeface="Calibri"/>
                <a:ea typeface="Calibri"/>
                <a:cs typeface="Calibri"/>
              </a:defRPr>
            </a:pPr>
            <a:r>
              <a:rPr sz="975" b="1">
                <a:solidFill>
                  <a:srgbClr val="0E8A92"/>
                </a:solidFill>
                <a:latin typeface="Calibri"/>
                <a:ea typeface="Calibri"/>
                <a:cs typeface="Calibri"/>
              </a:rPr>
              <a:t>USE CASES</a:t>
            </a:r>
          </a:p>
        </p:txBody>
      </p:sp>
      <p:sp>
        <p:nvSpPr>
          <p:cNvPr id="3" name="">
            <a:extLst xmlns:a="http://schemas.openxmlformats.org/drawingml/2006/main">
              <a:ext uri="{FF2B5EF4-FFF2-40B4-BE49-F238E27FC236}">
                <a16:creationId xmlns:a16="http://schemas.microsoft.com/office/drawing/2014/main" id="{25600DA0-6853-4DF1-8E33-8F7AD58C2C80}"/>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2550" b="1">
                <a:solidFill>
                  <a:srgbClr val="132433"/>
                </a:solidFill>
                <a:latin typeface="Calibri"/>
                <a:ea typeface="Calibri"/>
                <a:cs typeface="Calibri"/>
              </a:defRPr>
            </a:pPr>
            <a:r>
              <a:rPr sz="2550" b="1">
                <a:solidFill>
                  <a:srgbClr val="132433"/>
                </a:solidFill>
                <a:latin typeface="Calibri"/>
                <a:ea typeface="Calibri"/>
                <a:cs typeface="Calibri"/>
              </a:rPr>
              <a:t>Application</a:t>
            </a:r>
          </a:p>
        </p:txBody>
      </p:sp>
      <p:sp>
        <p:nvSpPr>
          <p:cNvPr id="4" name="">
            <a:extLst xmlns:a="http://schemas.openxmlformats.org/drawingml/2006/main">
              <a:ext uri="{FF2B5EF4-FFF2-40B4-BE49-F238E27FC236}">
                <a16:creationId xmlns:a16="http://schemas.microsoft.com/office/drawing/2014/main" id="{F1D7452E-9A0C-4514-80AE-35FD9F6AB129}"/>
              </a:ext>
            </a:extLst>
          </p:cNvPr>
          <p:cNvSpPr>
            <a:spLocks xmlns:a="http://schemas.openxmlformats.org/drawingml/2006/main" noGrp="1"/>
          </p:cNvSpPr>
          <p:nvPr/>
        </p:nvSpPr>
        <p:spPr>
          <a:xfrm xmlns:a="http://schemas.openxmlformats.org/drawingml/2006/main">
            <a:off x="11334750" y="62674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r">
              <a:defRPr sz="975" b="0">
                <a:solidFill>
                  <a:srgbClr val="5C6B77"/>
                </a:solidFill>
                <a:latin typeface="Calibri"/>
                <a:ea typeface="Calibri"/>
                <a:cs typeface="Calibri"/>
              </a:defRPr>
            </a:pPr>
            <a:r>
              <a:rPr sz="975" b="0">
                <a:solidFill>
                  <a:srgbClr val="5C6B77"/>
                </a:solidFill>
                <a:latin typeface="Calibri"/>
                <a:ea typeface="Calibri"/>
                <a:cs typeface="Calibri"/>
              </a:rPr>
              <a:t>09</a:t>
            </a:r>
          </a:p>
        </p:txBody>
      </p:sp>
      <p:sp>
        <p:nvSpPr>
          <p:cNvPr id="5" name="">
            <a:extLst xmlns:a="http://schemas.openxmlformats.org/drawingml/2006/main">
              <a:ext uri="{FF2B5EF4-FFF2-40B4-BE49-F238E27FC236}">
                <a16:creationId xmlns:a16="http://schemas.microsoft.com/office/drawing/2014/main" id="{093C1F29-9B1C-44B4-BC75-1879D96DB2F4}"/>
              </a:ext>
            </a:extLst>
          </p:cNvPr>
          <p:cNvSpPr>
            <a:spLocks xmlns:a="http://schemas.openxmlformats.org/drawingml/2006/main" noGrp="1"/>
          </p:cNvSpPr>
          <p:nvPr/>
        </p:nvSpPr>
        <p:spPr>
          <a:xfrm xmlns:a="http://schemas.openxmlformats.org/drawingml/2006/main">
            <a:off x="609600" y="62674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00" b="0">
                <a:solidFill>
                  <a:srgbClr val="5C6B77"/>
                </a:solidFill>
                <a:latin typeface="Calibri"/>
                <a:ea typeface="Calibri"/>
                <a:cs typeface="Calibri"/>
              </a:defRPr>
            </a:pPr>
            <a:r>
              <a:rPr sz="900" b="0">
                <a:solidFill>
                  <a:srgbClr val="5C6B77"/>
                </a:solidFill>
                <a:latin typeface="Calibri"/>
                <a:ea typeface="Calibri"/>
                <a:cs typeface="Calibri"/>
              </a:rPr>
              <a:t>DriftSentinel  |  Review 2</a:t>
            </a:r>
          </a:p>
        </p:txBody>
      </p:sp>
      <p:sp>
        <p:nvSpPr>
          <p:cNvPr id="6" name="">
            <a:extLst xmlns:a="http://schemas.openxmlformats.org/drawingml/2006/main">
              <a:ext uri="{FF2B5EF4-FFF2-40B4-BE49-F238E27FC236}">
                <a16:creationId xmlns:a16="http://schemas.microsoft.com/office/drawing/2014/main" id="{5ADBA856-DB7C-49B0-B96F-756BBB73E496}"/>
              </a:ext>
            </a:extLst>
          </p:cNvPr>
          <p:cNvSpPr>
            <a:spLocks xmlns:a="http://schemas.openxmlformats.org/drawingml/2006/main" noGrp="1"/>
          </p:cNvSpPr>
          <p:nvPr/>
        </p:nvSpPr>
        <p:spPr>
          <a:xfrm xmlns:a="http://schemas.openxmlformats.org/drawingml/2006/main">
            <a:off x="4095750" y="2381250"/>
            <a:ext cx="4000500" cy="1428750"/>
          </a:xfrm>
          <a:prstGeom xmlns:a="http://schemas.openxmlformats.org/drawingml/2006/main" prst="ellipse">
            <a:avLst/>
          </a:prstGeom>
          <a:solidFill xmlns:a="http://schemas.openxmlformats.org/drawingml/2006/main">
            <a:srgbClr val="0D2638"/>
          </a:solidFill>
          <a:ln xmlns:a="http://schemas.openxmlformats.org/drawingml/2006/main" w="9525">
            <a:solidFill>
              <a:srgbClr val="0D2638"/>
            </a:solidFill>
          </a:ln>
        </p:spPr>
      </p:sp>
      <p:sp>
        <p:nvSpPr>
          <p:cNvPr id="7" name="">
            <a:extLst xmlns:a="http://schemas.openxmlformats.org/drawingml/2006/main">
              <a:ext uri="{FF2B5EF4-FFF2-40B4-BE49-F238E27FC236}">
                <a16:creationId xmlns:a16="http://schemas.microsoft.com/office/drawing/2014/main" id="{CAE11520-E561-4A47-8660-E4D827C8B046}"/>
              </a:ext>
            </a:extLst>
          </p:cNvPr>
          <p:cNvSpPr>
            <a:spLocks xmlns:a="http://schemas.openxmlformats.org/drawingml/2006/main" noGrp="1"/>
          </p:cNvSpPr>
          <p:nvPr/>
        </p:nvSpPr>
        <p:spPr>
          <a:xfrm xmlns:a="http://schemas.openxmlformats.org/drawingml/2006/main">
            <a:off x="4476750" y="2667000"/>
            <a:ext cx="323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2100" b="1">
                <a:solidFill>
                  <a:srgbClr val="FFFFFF"/>
                </a:solidFill>
                <a:latin typeface="Calibri"/>
                <a:ea typeface="Calibri"/>
                <a:cs typeface="Calibri"/>
              </a:defRPr>
            </a:pPr>
            <a:r>
              <a:rPr sz="2100" b="1">
                <a:solidFill>
                  <a:srgbClr val="FFFFFF"/>
                </a:solidFill>
                <a:latin typeface="Calibri"/>
                <a:ea typeface="Calibri"/>
                <a:cs typeface="Calibri"/>
              </a:rPr>
              <a:t>Early adaptation for</a:t>
            </a:r>
          </a:p>
          <a:p xmlns:a="http://schemas.openxmlformats.org/drawingml/2006/main">
            <a:pPr algn="ctr">
              <a:defRPr sz="2100" b="1">
                <a:solidFill>
                  <a:srgbClr val="FFFFFF"/>
                </a:solidFill>
                <a:latin typeface="Calibri"/>
                <a:ea typeface="Calibri"/>
                <a:cs typeface="Calibri"/>
              </a:defRPr>
            </a:pPr>
            <a:r>
              <a:rPr sz="2100" b="1">
                <a:solidFill>
                  <a:srgbClr val="FFFFFF"/>
                </a:solidFill>
                <a:latin typeface="Calibri"/>
                <a:ea typeface="Calibri"/>
                <a:cs typeface="Calibri"/>
              </a:rPr>
              <a:t>streaming ML</a:t>
            </a:r>
          </a:p>
        </p:txBody>
      </p:sp>
      <p:sp>
        <p:nvSpPr>
          <p:cNvPr id="8" name="">
            <a:extLst xmlns:a="http://schemas.openxmlformats.org/drawingml/2006/main">
              <a:ext uri="{FF2B5EF4-FFF2-40B4-BE49-F238E27FC236}">
                <a16:creationId xmlns:a16="http://schemas.microsoft.com/office/drawing/2014/main" id="{5B5E7E9B-D32D-477C-9FFA-E12A10AF12F3}"/>
              </a:ext>
            </a:extLst>
          </p:cNvPr>
          <p:cNvSpPr>
            <a:spLocks xmlns:a="http://schemas.openxmlformats.org/drawingml/2006/main" noGrp="1"/>
          </p:cNvSpPr>
          <p:nvPr/>
        </p:nvSpPr>
        <p:spPr>
          <a:xfrm xmlns:a="http://schemas.openxmlformats.org/drawingml/2006/main">
            <a:off x="762000" y="1476375"/>
            <a:ext cx="2762250" cy="762000"/>
          </a:xfrm>
          <a:prstGeom xmlns:a="http://schemas.openxmlformats.org/drawingml/2006/main" prst="roundRect">
            <a:avLst>
              <a:gd name="adj" fmla="val 10000"/>
            </a:avLst>
          </a:prstGeom>
          <a:solidFill xmlns:a="http://schemas.openxmlformats.org/drawingml/2006/main">
            <a:srgbClr val="DDF4F3"/>
          </a:solidFill>
          <a:ln xmlns:a="http://schemas.openxmlformats.org/drawingml/2006/main" w="9525">
            <a:solidFill>
              <a:srgbClr val="C9D4DC"/>
            </a:solidFill>
          </a:ln>
        </p:spPr>
      </p:sp>
      <p:sp>
        <p:nvSpPr>
          <p:cNvPr id="9" name="">
            <a:extLst xmlns:a="http://schemas.openxmlformats.org/drawingml/2006/main">
              <a:ext uri="{FF2B5EF4-FFF2-40B4-BE49-F238E27FC236}">
                <a16:creationId xmlns:a16="http://schemas.microsoft.com/office/drawing/2014/main" id="{0322E2F4-18A9-4A53-AEF5-DAB9D7A9D98C}"/>
              </a:ext>
            </a:extLst>
          </p:cNvPr>
          <p:cNvSpPr>
            <a:spLocks xmlns:a="http://schemas.openxmlformats.org/drawingml/2006/main" noGrp="1"/>
          </p:cNvSpPr>
          <p:nvPr/>
        </p:nvSpPr>
        <p:spPr>
          <a:xfrm xmlns:a="http://schemas.openxmlformats.org/drawingml/2006/main">
            <a:off x="952500" y="164782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575" b="1">
                <a:solidFill>
                  <a:srgbClr val="132433"/>
                </a:solidFill>
                <a:latin typeface="Calibri"/>
                <a:ea typeface="Calibri"/>
                <a:cs typeface="Calibri"/>
              </a:defRPr>
            </a:pPr>
            <a:r>
              <a:rPr sz="1575" b="1">
                <a:solidFill>
                  <a:srgbClr val="132433"/>
                </a:solidFill>
                <a:latin typeface="Calibri"/>
                <a:ea typeface="Calibri"/>
                <a:cs typeface="Calibri"/>
              </a:rPr>
              <a:t>Financial fraud</a:t>
            </a:r>
          </a:p>
        </p:txBody>
      </p:sp>
      <p:sp>
        <p:nvSpPr>
          <p:cNvPr id="10" name="">
            <a:extLst xmlns:a="http://schemas.openxmlformats.org/drawingml/2006/main">
              <a:ext uri="{FF2B5EF4-FFF2-40B4-BE49-F238E27FC236}">
                <a16:creationId xmlns:a16="http://schemas.microsoft.com/office/drawing/2014/main" id="{E70A9ADC-8C25-439D-A2E9-98412115D64D}"/>
              </a:ext>
            </a:extLst>
          </p:cNvPr>
          <p:cNvSpPr>
            <a:spLocks xmlns:a="http://schemas.openxmlformats.org/drawingml/2006/main" noGrp="1"/>
          </p:cNvSpPr>
          <p:nvPr/>
        </p:nvSpPr>
        <p:spPr>
          <a:xfrm xmlns:a="http://schemas.openxmlformats.org/drawingml/2006/main">
            <a:off x="762000" y="4333875"/>
            <a:ext cx="2762250" cy="762000"/>
          </a:xfrm>
          <a:prstGeom xmlns:a="http://schemas.openxmlformats.org/drawingml/2006/main" prst="roundRect">
            <a:avLst>
              <a:gd name="adj" fmla="val 10000"/>
            </a:avLst>
          </a:prstGeom>
          <a:solidFill xmlns:a="http://schemas.openxmlformats.org/drawingml/2006/main">
            <a:srgbClr val="FFF3DD"/>
          </a:solidFill>
          <a:ln xmlns:a="http://schemas.openxmlformats.org/drawingml/2006/main" w="9525">
            <a:solidFill>
              <a:srgbClr val="C9D4DC"/>
            </a:solidFill>
          </a:ln>
        </p:spPr>
      </p:sp>
      <p:sp>
        <p:nvSpPr>
          <p:cNvPr id="11" name="">
            <a:extLst xmlns:a="http://schemas.openxmlformats.org/drawingml/2006/main">
              <a:ext uri="{FF2B5EF4-FFF2-40B4-BE49-F238E27FC236}">
                <a16:creationId xmlns:a16="http://schemas.microsoft.com/office/drawing/2014/main" id="{9A7FD6D8-56FE-4A9A-AC10-8D62ACB4C59A}"/>
              </a:ext>
            </a:extLst>
          </p:cNvPr>
          <p:cNvSpPr>
            <a:spLocks xmlns:a="http://schemas.openxmlformats.org/drawingml/2006/main" noGrp="1"/>
          </p:cNvSpPr>
          <p:nvPr/>
        </p:nvSpPr>
        <p:spPr>
          <a:xfrm xmlns:a="http://schemas.openxmlformats.org/drawingml/2006/main">
            <a:off x="952500" y="450532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575" b="1">
                <a:solidFill>
                  <a:srgbClr val="132433"/>
                </a:solidFill>
                <a:latin typeface="Calibri"/>
                <a:ea typeface="Calibri"/>
                <a:cs typeface="Calibri"/>
              </a:defRPr>
            </a:pPr>
            <a:r>
              <a:rPr sz="1575" b="1">
                <a:solidFill>
                  <a:srgbClr val="132433"/>
                </a:solidFill>
                <a:latin typeface="Calibri"/>
                <a:ea typeface="Calibri"/>
                <a:cs typeface="Calibri"/>
              </a:rPr>
              <a:t>Industrial IoT</a:t>
            </a:r>
          </a:p>
        </p:txBody>
      </p:sp>
      <p:sp>
        <p:nvSpPr>
          <p:cNvPr id="12" name="">
            <a:extLst xmlns:a="http://schemas.openxmlformats.org/drawingml/2006/main">
              <a:ext uri="{FF2B5EF4-FFF2-40B4-BE49-F238E27FC236}">
                <a16:creationId xmlns:a16="http://schemas.microsoft.com/office/drawing/2014/main" id="{E0FAF742-B910-4DAC-B49B-D7A1C8E1AC33}"/>
              </a:ext>
            </a:extLst>
          </p:cNvPr>
          <p:cNvSpPr>
            <a:spLocks xmlns:a="http://schemas.openxmlformats.org/drawingml/2006/main" noGrp="1"/>
          </p:cNvSpPr>
          <p:nvPr/>
        </p:nvSpPr>
        <p:spPr>
          <a:xfrm xmlns:a="http://schemas.openxmlformats.org/drawingml/2006/main">
            <a:off x="4476750" y="4619625"/>
            <a:ext cx="2762250" cy="762000"/>
          </a:xfrm>
          <a:prstGeom xmlns:a="http://schemas.openxmlformats.org/drawingml/2006/main" prst="roundRect">
            <a:avLst>
              <a:gd name="adj" fmla="val 10000"/>
            </a:avLst>
          </a:prstGeom>
          <a:solidFill xmlns:a="http://schemas.openxmlformats.org/drawingml/2006/main">
            <a:srgbClr val="EAF1F5"/>
          </a:solidFill>
          <a:ln xmlns:a="http://schemas.openxmlformats.org/drawingml/2006/main" w="9525">
            <a:solidFill>
              <a:srgbClr val="C9D4DC"/>
            </a:solidFill>
          </a:ln>
        </p:spPr>
      </p:sp>
      <p:sp>
        <p:nvSpPr>
          <p:cNvPr id="13" name="">
            <a:extLst xmlns:a="http://schemas.openxmlformats.org/drawingml/2006/main">
              <a:ext uri="{FF2B5EF4-FFF2-40B4-BE49-F238E27FC236}">
                <a16:creationId xmlns:a16="http://schemas.microsoft.com/office/drawing/2014/main" id="{F36FF734-5B6D-4AAB-874D-5D29379A5EF2}"/>
              </a:ext>
            </a:extLst>
          </p:cNvPr>
          <p:cNvSpPr>
            <a:spLocks xmlns:a="http://schemas.openxmlformats.org/drawingml/2006/main" noGrp="1"/>
          </p:cNvSpPr>
          <p:nvPr/>
        </p:nvSpPr>
        <p:spPr>
          <a:xfrm xmlns:a="http://schemas.openxmlformats.org/drawingml/2006/main">
            <a:off x="4667250" y="479107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575" b="1">
                <a:solidFill>
                  <a:srgbClr val="132433"/>
                </a:solidFill>
                <a:latin typeface="Calibri"/>
                <a:ea typeface="Calibri"/>
                <a:cs typeface="Calibri"/>
              </a:defRPr>
            </a:pPr>
            <a:r>
              <a:rPr sz="1575" b="1">
                <a:solidFill>
                  <a:srgbClr val="132433"/>
                </a:solidFill>
                <a:latin typeface="Calibri"/>
                <a:ea typeface="Calibri"/>
                <a:cs typeface="Calibri"/>
              </a:rPr>
              <a:t>Demand forecasting</a:t>
            </a:r>
          </a:p>
        </p:txBody>
      </p:sp>
      <p:sp>
        <p:nvSpPr>
          <p:cNvPr id="14" name="">
            <a:extLst xmlns:a="http://schemas.openxmlformats.org/drawingml/2006/main">
              <a:ext uri="{FF2B5EF4-FFF2-40B4-BE49-F238E27FC236}">
                <a16:creationId xmlns:a16="http://schemas.microsoft.com/office/drawing/2014/main" id="{3FD7A4CC-BC53-4562-BEA9-478246482263}"/>
              </a:ext>
            </a:extLst>
          </p:cNvPr>
          <p:cNvSpPr>
            <a:spLocks xmlns:a="http://schemas.openxmlformats.org/drawingml/2006/main" noGrp="1"/>
          </p:cNvSpPr>
          <p:nvPr/>
        </p:nvSpPr>
        <p:spPr>
          <a:xfrm xmlns:a="http://schemas.openxmlformats.org/drawingml/2006/main">
            <a:off x="8667750" y="4333875"/>
            <a:ext cx="2762250" cy="762000"/>
          </a:xfrm>
          <a:prstGeom xmlns:a="http://schemas.openxmlformats.org/drawingml/2006/main" prst="roundRect">
            <a:avLst>
              <a:gd name="adj" fmla="val 10000"/>
            </a:avLst>
          </a:prstGeom>
          <a:solidFill xmlns:a="http://schemas.openxmlformats.org/drawingml/2006/main">
            <a:srgbClr val="FBE7E9"/>
          </a:solidFill>
          <a:ln xmlns:a="http://schemas.openxmlformats.org/drawingml/2006/main" w="9525">
            <a:solidFill>
              <a:srgbClr val="C9D4DC"/>
            </a:solidFill>
          </a:ln>
        </p:spPr>
      </p:sp>
      <p:sp>
        <p:nvSpPr>
          <p:cNvPr id="15" name="">
            <a:extLst xmlns:a="http://schemas.openxmlformats.org/drawingml/2006/main">
              <a:ext uri="{FF2B5EF4-FFF2-40B4-BE49-F238E27FC236}">
                <a16:creationId xmlns:a16="http://schemas.microsoft.com/office/drawing/2014/main" id="{67A40834-AD12-45B6-84C8-6BF7EB29CF0A}"/>
              </a:ext>
            </a:extLst>
          </p:cNvPr>
          <p:cNvSpPr>
            <a:spLocks xmlns:a="http://schemas.openxmlformats.org/drawingml/2006/main" noGrp="1"/>
          </p:cNvSpPr>
          <p:nvPr/>
        </p:nvSpPr>
        <p:spPr>
          <a:xfrm xmlns:a="http://schemas.openxmlformats.org/drawingml/2006/main">
            <a:off x="8858250" y="450532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575" b="1">
                <a:solidFill>
                  <a:srgbClr val="132433"/>
                </a:solidFill>
                <a:latin typeface="Calibri"/>
                <a:ea typeface="Calibri"/>
                <a:cs typeface="Calibri"/>
              </a:defRPr>
            </a:pPr>
            <a:r>
              <a:rPr sz="1575" b="1">
                <a:solidFill>
                  <a:srgbClr val="132433"/>
                </a:solidFill>
                <a:latin typeface="Calibri"/>
                <a:ea typeface="Calibri"/>
                <a:cs typeface="Calibri"/>
              </a:rPr>
              <a:t>Network intrusion</a:t>
            </a:r>
          </a:p>
        </p:txBody>
      </p:sp>
      <p:sp>
        <p:nvSpPr>
          <p:cNvPr id="16" name="">
            <a:extLst xmlns:a="http://schemas.openxmlformats.org/drawingml/2006/main">
              <a:ext uri="{FF2B5EF4-FFF2-40B4-BE49-F238E27FC236}">
                <a16:creationId xmlns:a16="http://schemas.microsoft.com/office/drawing/2014/main" id="{77582B14-D01E-474C-A6A8-F1096F87E51F}"/>
              </a:ext>
            </a:extLst>
          </p:cNvPr>
          <p:cNvSpPr>
            <a:spLocks xmlns:a="http://schemas.openxmlformats.org/drawingml/2006/main" noGrp="1"/>
          </p:cNvSpPr>
          <p:nvPr/>
        </p:nvSpPr>
        <p:spPr>
          <a:xfrm xmlns:a="http://schemas.openxmlformats.org/drawingml/2006/main">
            <a:off x="8667750" y="1476375"/>
            <a:ext cx="2762250" cy="762000"/>
          </a:xfrm>
          <a:prstGeom xmlns:a="http://schemas.openxmlformats.org/drawingml/2006/main" prst="roundRect">
            <a:avLst>
              <a:gd name="adj" fmla="val 10000"/>
            </a:avLst>
          </a:prstGeom>
          <a:solidFill xmlns:a="http://schemas.openxmlformats.org/drawingml/2006/main">
            <a:srgbClr val="DDF4F3"/>
          </a:solidFill>
          <a:ln xmlns:a="http://schemas.openxmlformats.org/drawingml/2006/main" w="9525">
            <a:solidFill>
              <a:srgbClr val="C9D4DC"/>
            </a:solidFill>
          </a:ln>
        </p:spPr>
      </p:sp>
      <p:sp>
        <p:nvSpPr>
          <p:cNvPr id="17" name="">
            <a:extLst xmlns:a="http://schemas.openxmlformats.org/drawingml/2006/main">
              <a:ext uri="{FF2B5EF4-FFF2-40B4-BE49-F238E27FC236}">
                <a16:creationId xmlns:a16="http://schemas.microsoft.com/office/drawing/2014/main" id="{2654B24D-2060-4F7A-90FB-005A880616A9}"/>
              </a:ext>
            </a:extLst>
          </p:cNvPr>
          <p:cNvSpPr>
            <a:spLocks xmlns:a="http://schemas.openxmlformats.org/drawingml/2006/main" noGrp="1"/>
          </p:cNvSpPr>
          <p:nvPr/>
        </p:nvSpPr>
        <p:spPr>
          <a:xfrm xmlns:a="http://schemas.openxmlformats.org/drawingml/2006/main">
            <a:off x="8858250" y="164782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90655"/>
          </a:bodyPr>
          <a:lstStyle xmlns:a="http://schemas.openxmlformats.org/drawingml/2006/main"/>
          <a:p xmlns:a="http://schemas.openxmlformats.org/drawingml/2006/main">
            <a:pPr algn="ctr">
              <a:defRPr sz="1575" b="1">
                <a:solidFill>
                  <a:srgbClr val="132433"/>
                </a:solidFill>
                <a:latin typeface="Calibri"/>
                <a:ea typeface="Calibri"/>
                <a:cs typeface="Calibri"/>
              </a:defRPr>
            </a:pPr>
            <a:r>
              <a:rPr sz="1575" b="1">
                <a:solidFill>
                  <a:srgbClr val="132433"/>
                </a:solidFill>
                <a:latin typeface="Calibri"/>
                <a:ea typeface="Calibri"/>
                <a:cs typeface="Calibri"/>
              </a:rPr>
              <a:t>Recommendation systems</a:t>
            </a:r>
          </a:p>
        </p:txBody>
      </p:sp>
      <p:sp>
        <p:nvSpPr>
          <p:cNvPr id="18" name="">
            <a:extLst xmlns:a="http://schemas.openxmlformats.org/drawingml/2006/main">
              <a:ext uri="{FF2B5EF4-FFF2-40B4-BE49-F238E27FC236}">
                <a16:creationId xmlns:a16="http://schemas.microsoft.com/office/drawing/2014/main" id="{371C66F3-40A6-41D5-9A62-3E48E63101BD}"/>
              </a:ext>
            </a:extLst>
          </p:cNvPr>
          <p:cNvSpPr>
            <a:spLocks xmlns:a="http://schemas.openxmlformats.org/drawingml/2006/main" noGrp="1"/>
          </p:cNvSpPr>
          <p:nvPr/>
        </p:nvSpPr>
        <p:spPr>
          <a:xfrm xmlns:a="http://schemas.openxmlformats.org/drawingml/2006/main">
            <a:off x="4476750" y="1190625"/>
            <a:ext cx="2762250" cy="762000"/>
          </a:xfrm>
          <a:prstGeom xmlns:a="http://schemas.openxmlformats.org/drawingml/2006/main" prst="roundRect">
            <a:avLst>
              <a:gd name="adj" fmla="val 10000"/>
            </a:avLst>
          </a:prstGeom>
          <a:solidFill xmlns:a="http://schemas.openxmlformats.org/drawingml/2006/main">
            <a:srgbClr val="EAF1F5"/>
          </a:solidFill>
          <a:ln xmlns:a="http://schemas.openxmlformats.org/drawingml/2006/main" w="9525">
            <a:solidFill>
              <a:srgbClr val="C9D4DC"/>
            </a:solidFill>
          </a:ln>
        </p:spPr>
      </p:sp>
      <p:sp>
        <p:nvSpPr>
          <p:cNvPr id="19" name="">
            <a:extLst xmlns:a="http://schemas.openxmlformats.org/drawingml/2006/main">
              <a:ext uri="{FF2B5EF4-FFF2-40B4-BE49-F238E27FC236}">
                <a16:creationId xmlns:a16="http://schemas.microsoft.com/office/drawing/2014/main" id="{FE288A04-5130-41E9-A5C2-7D33B1916AF6}"/>
              </a:ext>
            </a:extLst>
          </p:cNvPr>
          <p:cNvSpPr>
            <a:spLocks xmlns:a="http://schemas.openxmlformats.org/drawingml/2006/main" noGrp="1"/>
          </p:cNvSpPr>
          <p:nvPr/>
        </p:nvSpPr>
        <p:spPr>
          <a:xfrm xmlns:a="http://schemas.openxmlformats.org/drawingml/2006/main">
            <a:off x="4667250" y="136207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575" b="1">
                <a:solidFill>
                  <a:srgbClr val="132433"/>
                </a:solidFill>
                <a:latin typeface="Calibri"/>
                <a:ea typeface="Calibri"/>
                <a:cs typeface="Calibri"/>
              </a:defRPr>
            </a:pPr>
            <a:r>
              <a:rPr sz="1575" b="1">
                <a:solidFill>
                  <a:srgbClr val="132433"/>
                </a:solidFill>
                <a:latin typeface="Calibri"/>
                <a:ea typeface="Calibri"/>
                <a:cs typeface="Calibri"/>
              </a:rPr>
              <a:t>Any monitored stream</a:t>
            </a:r>
          </a:p>
        </p:txBody>
      </p:sp>
      <p:sp>
        <p:nvSpPr>
          <p:cNvPr id="20" name="">
            <a:extLst xmlns:a="http://schemas.openxmlformats.org/drawingml/2006/main">
              <a:ext uri="{FF2B5EF4-FFF2-40B4-BE49-F238E27FC236}">
                <a16:creationId xmlns:a16="http://schemas.microsoft.com/office/drawing/2014/main" id="{A3388E2C-5A21-4FBE-9652-B30C70CC3987}"/>
              </a:ext>
            </a:extLst>
          </p:cNvPr>
          <p:cNvSpPr>
            <a:spLocks xmlns:a="http://schemas.openxmlformats.org/drawingml/2006/main" noGrp="1"/>
          </p:cNvSpPr>
          <p:nvPr/>
        </p:nvSpPr>
        <p:spPr>
          <a:xfrm xmlns:a="http://schemas.openxmlformats.org/drawingml/2006/main">
            <a:off x="3524250" y="1857375"/>
            <a:ext cx="571500" cy="1000125"/>
          </a:xfrm>
          <a:prstGeom xmlns:a="http://schemas.openxmlformats.org/drawingml/2006/main" prst="line">
            <a:avLst/>
          </a:prstGeom>
          <a:ln xmlns:a="http://schemas.openxmlformats.org/drawingml/2006/main" w="19050">
            <a:solidFill>
              <a:srgbClr val="0E8A92"/>
            </a:solidFill>
          </a:ln>
        </p:spPr>
      </p:sp>
      <p:sp>
        <p:nvSpPr>
          <p:cNvPr id="21" name="">
            <a:extLst xmlns:a="http://schemas.openxmlformats.org/drawingml/2006/main">
              <a:ext uri="{FF2B5EF4-FFF2-40B4-BE49-F238E27FC236}">
                <a16:creationId xmlns:a16="http://schemas.microsoft.com/office/drawing/2014/main" id="{EC831B13-B2E0-4386-BB5A-6416FFB9DF55}"/>
              </a:ext>
            </a:extLst>
          </p:cNvPr>
          <p:cNvSpPr>
            <a:spLocks xmlns:a="http://schemas.openxmlformats.org/drawingml/2006/main" noGrp="1"/>
          </p:cNvSpPr>
          <p:nvPr/>
        </p:nvSpPr>
        <p:spPr>
          <a:xfrm xmlns:a="http://schemas.openxmlformats.org/drawingml/2006/main">
            <a:off x="3524250" y="3333750"/>
            <a:ext cx="571500" cy="1381125"/>
          </a:xfrm>
          <a:prstGeom xmlns:a="http://schemas.openxmlformats.org/drawingml/2006/main" prst="line">
            <a:avLst/>
          </a:prstGeom>
          <a:ln xmlns:a="http://schemas.openxmlformats.org/drawingml/2006/main" w="19050">
            <a:solidFill>
              <a:srgbClr val="0E8A92"/>
            </a:solidFill>
          </a:ln>
        </p:spPr>
      </p:sp>
      <p:sp>
        <p:nvSpPr>
          <p:cNvPr id="22" name="">
            <a:extLst xmlns:a="http://schemas.openxmlformats.org/drawingml/2006/main">
              <a:ext uri="{FF2B5EF4-FFF2-40B4-BE49-F238E27FC236}">
                <a16:creationId xmlns:a16="http://schemas.microsoft.com/office/drawing/2014/main" id="{D7FA2E6D-879B-49AC-B577-C66714AF04B8}"/>
              </a:ext>
            </a:extLst>
          </p:cNvPr>
          <p:cNvSpPr>
            <a:spLocks xmlns:a="http://schemas.openxmlformats.org/drawingml/2006/main" noGrp="1"/>
          </p:cNvSpPr>
          <p:nvPr/>
        </p:nvSpPr>
        <p:spPr>
          <a:xfrm xmlns:a="http://schemas.openxmlformats.org/drawingml/2006/main">
            <a:off x="5857875" y="3810000"/>
            <a:ext cx="47625" cy="809625"/>
          </a:xfrm>
          <a:prstGeom xmlns:a="http://schemas.openxmlformats.org/drawingml/2006/main" prst="line">
            <a:avLst/>
          </a:prstGeom>
          <a:ln xmlns:a="http://schemas.openxmlformats.org/drawingml/2006/main" w="19050">
            <a:solidFill>
              <a:srgbClr val="0E8A92"/>
            </a:solidFill>
          </a:ln>
        </p:spPr>
      </p:sp>
      <p:sp>
        <p:nvSpPr>
          <p:cNvPr id="23" name="">
            <a:extLst xmlns:a="http://schemas.openxmlformats.org/drawingml/2006/main">
              <a:ext uri="{FF2B5EF4-FFF2-40B4-BE49-F238E27FC236}">
                <a16:creationId xmlns:a16="http://schemas.microsoft.com/office/drawing/2014/main" id="{FE29E122-6A00-47EE-B643-6D036E33BE1D}"/>
              </a:ext>
            </a:extLst>
          </p:cNvPr>
          <p:cNvSpPr>
            <a:spLocks xmlns:a="http://schemas.openxmlformats.org/drawingml/2006/main" noGrp="1"/>
          </p:cNvSpPr>
          <p:nvPr/>
        </p:nvSpPr>
        <p:spPr>
          <a:xfrm xmlns:a="http://schemas.openxmlformats.org/drawingml/2006/main">
            <a:off x="8096250" y="3333750"/>
            <a:ext cx="571500" cy="1381125"/>
          </a:xfrm>
          <a:prstGeom xmlns:a="http://schemas.openxmlformats.org/drawingml/2006/main" prst="line">
            <a:avLst/>
          </a:prstGeom>
          <a:ln xmlns:a="http://schemas.openxmlformats.org/drawingml/2006/main" w="19050">
            <a:solidFill>
              <a:srgbClr val="0E8A92"/>
            </a:solidFill>
          </a:ln>
        </p:spPr>
      </p:sp>
      <p:sp>
        <p:nvSpPr>
          <p:cNvPr id="24" name="">
            <a:extLst xmlns:a="http://schemas.openxmlformats.org/drawingml/2006/main">
              <a:ext uri="{FF2B5EF4-FFF2-40B4-BE49-F238E27FC236}">
                <a16:creationId xmlns:a16="http://schemas.microsoft.com/office/drawing/2014/main" id="{1A4C4455-C6B0-4910-AA61-77F03D2EA7A3}"/>
              </a:ext>
            </a:extLst>
          </p:cNvPr>
          <p:cNvSpPr>
            <a:spLocks xmlns:a="http://schemas.openxmlformats.org/drawingml/2006/main" noGrp="1"/>
          </p:cNvSpPr>
          <p:nvPr/>
        </p:nvSpPr>
        <p:spPr>
          <a:xfrm xmlns:a="http://schemas.openxmlformats.org/drawingml/2006/main">
            <a:off x="8096250" y="1857375"/>
            <a:ext cx="571500" cy="1000125"/>
          </a:xfrm>
          <a:prstGeom xmlns:a="http://schemas.openxmlformats.org/drawingml/2006/main" prst="line">
            <a:avLst/>
          </a:prstGeom>
          <a:ln xmlns:a="http://schemas.openxmlformats.org/drawingml/2006/main" w="19050">
            <a:solidFill>
              <a:srgbClr val="0E8A92"/>
            </a:solidFill>
          </a:ln>
        </p:spPr>
      </p:sp>
      <p:sp>
        <p:nvSpPr>
          <p:cNvPr id="25" name="">
            <a:extLst xmlns:a="http://schemas.openxmlformats.org/drawingml/2006/main">
              <a:ext uri="{FF2B5EF4-FFF2-40B4-BE49-F238E27FC236}">
                <a16:creationId xmlns:a16="http://schemas.microsoft.com/office/drawing/2014/main" id="{7F8C79B3-50CE-45F0-9372-A790D6CBEB67}"/>
              </a:ext>
            </a:extLst>
          </p:cNvPr>
          <p:cNvSpPr>
            <a:spLocks xmlns:a="http://schemas.openxmlformats.org/drawingml/2006/main" noGrp="1"/>
          </p:cNvSpPr>
          <p:nvPr/>
        </p:nvSpPr>
        <p:spPr>
          <a:xfrm xmlns:a="http://schemas.openxmlformats.org/drawingml/2006/main">
            <a:off x="5857875" y="1952625"/>
            <a:ext cx="47625" cy="428625"/>
          </a:xfrm>
          <a:prstGeom xmlns:a="http://schemas.openxmlformats.org/drawingml/2006/main" prst="line">
            <a:avLst/>
          </a:prstGeom>
          <a:ln xmlns:a="http://schemas.openxmlformats.org/drawingml/2006/main" w="19050">
            <a:solidFill>
              <a:srgbClr val="0E8A92"/>
            </a:solidFill>
          </a:ln>
        </p:spPr>
      </p:sp>
      <p:sp>
        <p:nvSpPr>
          <p:cNvPr id="26" name="">
            <a:extLst xmlns:a="http://schemas.openxmlformats.org/drawingml/2006/main">
              <a:ext uri="{FF2B5EF4-FFF2-40B4-BE49-F238E27FC236}">
                <a16:creationId xmlns:a16="http://schemas.microsoft.com/office/drawing/2014/main" id="{C2E0E553-E86B-4CF8-917E-4C49A47D9676}"/>
              </a:ext>
            </a:extLst>
          </p:cNvPr>
          <p:cNvSpPr>
            <a:spLocks xmlns:a="http://schemas.openxmlformats.org/drawingml/2006/main" noGrp="1"/>
          </p:cNvSpPr>
          <p:nvPr/>
        </p:nvSpPr>
        <p:spPr>
          <a:xfrm xmlns:a="http://schemas.openxmlformats.org/drawingml/2006/main">
            <a:off x="1143000" y="576262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275" b="0">
                <a:solidFill>
                  <a:srgbClr val="5C6B77"/>
                </a:solidFill>
                <a:latin typeface="Calibri"/>
                <a:ea typeface="Calibri"/>
                <a:cs typeface="Calibri"/>
              </a:defRPr>
            </a:pPr>
            <a:r>
              <a:rPr sz="1275" b="0">
                <a:solidFill>
                  <a:srgbClr val="5C6B77"/>
                </a:solidFill>
                <a:latin typeface="Calibri"/>
                <a:ea typeface="Calibri"/>
                <a:cs typeface="Calibri"/>
              </a:rPr>
              <a:t>Application claim: a research prototype for decision support, not a production deployment.</a:t>
            </a:r>
          </a:p>
        </p:txBody>
      </p:sp>
    </p:spTree>
    <p:extLst>
      <p:ext uri="{BB962C8B-B14F-4D97-AF65-F5344CB8AC3E}">
        <p14:creationId xmlns:p14="http://schemas.microsoft.com/office/powerpoint/2010/main" val="478247765"/>
      </p:ext>
    </p:extLst>
  </p:cSld>
</p:sld>
</file>

<file path=ppt/slides/slide1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C2B0570-59F2-4064-8E65-CE0CB07CFA1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7C7D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05C2457-CBED-47BE-BC49-D33C69BE01D9}"/>
              </a:ext>
            </a:extLst>
          </p:cNvPr>
          <p:cNvSpPr>
            <a:spLocks xmlns:a="http://schemas.openxmlformats.org/drawingml/2006/main" noGrp="1"/>
          </p:cNvSpPr>
          <p:nvPr/>
        </p:nvSpPr>
        <p:spPr>
          <a:xfrm xmlns:a="http://schemas.openxmlformats.org/drawingml/2006/main">
            <a:off x="609600" y="2667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75" b="1">
                <a:solidFill>
                  <a:srgbClr val="0E8A92"/>
                </a:solidFill>
                <a:latin typeface="Calibri"/>
                <a:ea typeface="Calibri"/>
                <a:cs typeface="Calibri"/>
              </a:defRPr>
            </a:pPr>
            <a:r>
              <a:rPr sz="975" b="1">
                <a:solidFill>
                  <a:srgbClr val="0E8A92"/>
                </a:solidFill>
                <a:latin typeface="Calibri"/>
                <a:ea typeface="Calibri"/>
                <a:cs typeface="Calibri"/>
              </a:rPr>
              <a:t>BUILD PROGRESS</a:t>
            </a:r>
          </a:p>
        </p:txBody>
      </p:sp>
      <p:sp>
        <p:nvSpPr>
          <p:cNvPr id="3" name="">
            <a:extLst xmlns:a="http://schemas.openxmlformats.org/drawingml/2006/main">
              <a:ext uri="{FF2B5EF4-FFF2-40B4-BE49-F238E27FC236}">
                <a16:creationId xmlns:a16="http://schemas.microsoft.com/office/drawing/2014/main" id="{CCC0B75C-E992-4FAD-AA8D-DCFC439345EF}"/>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2550" b="1">
                <a:solidFill>
                  <a:srgbClr val="132433"/>
                </a:solidFill>
                <a:latin typeface="Calibri"/>
                <a:ea typeface="Calibri"/>
                <a:cs typeface="Calibri"/>
              </a:defRPr>
            </a:pPr>
            <a:r>
              <a:rPr sz="2550" b="1">
                <a:solidFill>
                  <a:srgbClr val="132433"/>
                </a:solidFill>
                <a:latin typeface="Calibri"/>
                <a:ea typeface="Calibri"/>
                <a:cs typeface="Calibri"/>
              </a:rPr>
              <a:t>80%+ Implementation Status</a:t>
            </a:r>
          </a:p>
        </p:txBody>
      </p:sp>
      <p:sp>
        <p:nvSpPr>
          <p:cNvPr id="4" name="">
            <a:extLst xmlns:a="http://schemas.openxmlformats.org/drawingml/2006/main">
              <a:ext uri="{FF2B5EF4-FFF2-40B4-BE49-F238E27FC236}">
                <a16:creationId xmlns:a16="http://schemas.microsoft.com/office/drawing/2014/main" id="{22216337-8459-44CE-B929-36D3E2F2251E}"/>
              </a:ext>
            </a:extLst>
          </p:cNvPr>
          <p:cNvSpPr>
            <a:spLocks xmlns:a="http://schemas.openxmlformats.org/drawingml/2006/main" noGrp="1"/>
          </p:cNvSpPr>
          <p:nvPr/>
        </p:nvSpPr>
        <p:spPr>
          <a:xfrm xmlns:a="http://schemas.openxmlformats.org/drawingml/2006/main">
            <a:off x="11334750" y="62674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r">
              <a:defRPr sz="975" b="0">
                <a:solidFill>
                  <a:srgbClr val="5C6B77"/>
                </a:solidFill>
                <a:latin typeface="Calibri"/>
                <a:ea typeface="Calibri"/>
                <a:cs typeface="Calibri"/>
              </a:defRPr>
            </a:pPr>
            <a:r>
              <a:rPr sz="975" b="0">
                <a:solidFill>
                  <a:srgbClr val="5C6B77"/>
                </a:solidFill>
                <a:latin typeface="Calibri"/>
                <a:ea typeface="Calibri"/>
                <a:cs typeface="Calibri"/>
              </a:rPr>
              <a:t>10</a:t>
            </a:r>
          </a:p>
        </p:txBody>
      </p:sp>
      <p:sp>
        <p:nvSpPr>
          <p:cNvPr id="5" name="">
            <a:extLst xmlns:a="http://schemas.openxmlformats.org/drawingml/2006/main">
              <a:ext uri="{FF2B5EF4-FFF2-40B4-BE49-F238E27FC236}">
                <a16:creationId xmlns:a16="http://schemas.microsoft.com/office/drawing/2014/main" id="{EF659C50-AD46-4290-9A1F-0D6B1DA076E8}"/>
              </a:ext>
            </a:extLst>
          </p:cNvPr>
          <p:cNvSpPr>
            <a:spLocks xmlns:a="http://schemas.openxmlformats.org/drawingml/2006/main" noGrp="1"/>
          </p:cNvSpPr>
          <p:nvPr/>
        </p:nvSpPr>
        <p:spPr>
          <a:xfrm xmlns:a="http://schemas.openxmlformats.org/drawingml/2006/main">
            <a:off x="609600" y="62674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00" b="0">
                <a:solidFill>
                  <a:srgbClr val="5C6B77"/>
                </a:solidFill>
                <a:latin typeface="Calibri"/>
                <a:ea typeface="Calibri"/>
                <a:cs typeface="Calibri"/>
              </a:defRPr>
            </a:pPr>
            <a:r>
              <a:rPr sz="900" b="0">
                <a:solidFill>
                  <a:srgbClr val="5C6B77"/>
                </a:solidFill>
                <a:latin typeface="Calibri"/>
                <a:ea typeface="Calibri"/>
                <a:cs typeface="Calibri"/>
              </a:rPr>
              <a:t>DriftSentinel  |  Review 2</a:t>
            </a:r>
          </a:p>
        </p:txBody>
      </p:sp>
      <p:sp>
        <p:nvSpPr>
          <p:cNvPr id="6" name="">
            <a:extLst xmlns:a="http://schemas.openxmlformats.org/drawingml/2006/main">
              <a:ext uri="{FF2B5EF4-FFF2-40B4-BE49-F238E27FC236}">
                <a16:creationId xmlns:a16="http://schemas.microsoft.com/office/drawing/2014/main" id="{927EA5EB-8083-4EA2-BCD3-4ADEA7F85069}"/>
              </a:ext>
            </a:extLst>
          </p:cNvPr>
          <p:cNvSpPr>
            <a:spLocks xmlns:a="http://schemas.openxmlformats.org/drawingml/2006/main" noGrp="1"/>
          </p:cNvSpPr>
          <p:nvPr/>
        </p:nvSpPr>
        <p:spPr>
          <a:xfrm xmlns:a="http://schemas.openxmlformats.org/drawingml/2006/main">
            <a:off x="742950" y="138112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2550" b="1">
                <a:solidFill>
                  <a:srgbClr val="0E8A92"/>
                </a:solidFill>
                <a:latin typeface="Calibri"/>
                <a:ea typeface="Calibri"/>
                <a:cs typeface="Calibri"/>
              </a:defRPr>
            </a:pPr>
            <a:r>
              <a:rPr sz="2550" b="1">
                <a:solidFill>
                  <a:srgbClr val="0E8A92"/>
                </a:solidFill>
                <a:latin typeface="Calibri"/>
                <a:ea typeface="Calibri"/>
                <a:cs typeface="Calibri"/>
              </a:rPr>
              <a:t>Project is beyond 80%</a:t>
            </a:r>
          </a:p>
        </p:txBody>
      </p:sp>
      <p:sp>
        <p:nvSpPr>
          <p:cNvPr id="7" name="">
            <a:extLst xmlns:a="http://schemas.openxmlformats.org/drawingml/2006/main">
              <a:ext uri="{FF2B5EF4-FFF2-40B4-BE49-F238E27FC236}">
                <a16:creationId xmlns:a16="http://schemas.microsoft.com/office/drawing/2014/main" id="{914A64D6-E743-495E-A844-1DD55DADE1FF}"/>
              </a:ext>
            </a:extLst>
          </p:cNvPr>
          <p:cNvSpPr>
            <a:spLocks xmlns:a="http://schemas.openxmlformats.org/drawingml/2006/main" noGrp="1"/>
          </p:cNvSpPr>
          <p:nvPr/>
        </p:nvSpPr>
        <p:spPr>
          <a:xfrm xmlns:a="http://schemas.openxmlformats.org/drawingml/2006/main">
            <a:off x="742950" y="184785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800" b="0">
                <a:solidFill>
                  <a:srgbClr val="132433"/>
                </a:solidFill>
                <a:latin typeface="Calibri"/>
                <a:ea typeface="Calibri"/>
                <a:cs typeface="Calibri"/>
              </a:defRPr>
            </a:pPr>
            <a:r>
              <a:rPr sz="1800" b="0">
                <a:solidFill>
                  <a:srgbClr val="132433"/>
                </a:solidFill>
                <a:latin typeface="Calibri"/>
                <a:ea typeface="Calibri"/>
                <a:cs typeface="Calibri"/>
              </a:rPr>
              <a:t>Complete working prototype is ready</a:t>
            </a:r>
          </a:p>
        </p:txBody>
      </p:sp>
      <p:sp>
        <p:nvSpPr>
          <p:cNvPr id="8" name="">
            <a:extLst xmlns:a="http://schemas.openxmlformats.org/drawingml/2006/main">
              <a:ext uri="{FF2B5EF4-FFF2-40B4-BE49-F238E27FC236}">
                <a16:creationId xmlns:a16="http://schemas.microsoft.com/office/drawing/2014/main" id="{9D247FBA-AAD4-45AE-82E1-5F21046CECF4}"/>
              </a:ext>
            </a:extLst>
          </p:cNvPr>
          <p:cNvSpPr>
            <a:spLocks xmlns:a="http://schemas.openxmlformats.org/drawingml/2006/main" noGrp="1"/>
          </p:cNvSpPr>
          <p:nvPr/>
        </p:nvSpPr>
        <p:spPr>
          <a:xfrm xmlns:a="http://schemas.openxmlformats.org/drawingml/2006/main">
            <a:off x="838200" y="2571750"/>
            <a:ext cx="1381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575" b="1">
                <a:solidFill>
                  <a:srgbClr val="27C7D1"/>
                </a:solidFill>
                <a:latin typeface="Calibri"/>
                <a:ea typeface="Calibri"/>
                <a:cs typeface="Calibri"/>
              </a:defRPr>
            </a:pPr>
            <a:r>
              <a:rPr sz="1575" b="1">
                <a:solidFill>
                  <a:srgbClr val="27C7D1"/>
                </a:solidFill>
                <a:latin typeface="Calibri"/>
                <a:ea typeface="Calibri"/>
                <a:cs typeface="Calibri"/>
              </a:rPr>
              <a:t>Phase 1</a:t>
            </a:r>
          </a:p>
        </p:txBody>
      </p:sp>
      <p:sp>
        <p:nvSpPr>
          <p:cNvPr id="9" name="">
            <a:extLst xmlns:a="http://schemas.openxmlformats.org/drawingml/2006/main">
              <a:ext uri="{FF2B5EF4-FFF2-40B4-BE49-F238E27FC236}">
                <a16:creationId xmlns:a16="http://schemas.microsoft.com/office/drawing/2014/main" id="{AB80DB7E-A924-474E-B76F-90393F5A3FB3}"/>
              </a:ext>
            </a:extLst>
          </p:cNvPr>
          <p:cNvSpPr>
            <a:spLocks xmlns:a="http://schemas.openxmlformats.org/drawingml/2006/main" noGrp="1"/>
          </p:cNvSpPr>
          <p:nvPr/>
        </p:nvSpPr>
        <p:spPr>
          <a:xfrm xmlns:a="http://schemas.openxmlformats.org/drawingml/2006/main">
            <a:off x="2238375" y="257175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425" b="0">
                <a:solidFill>
                  <a:srgbClr val="132433"/>
                </a:solidFill>
                <a:latin typeface="Calibri"/>
                <a:ea typeface="Calibri"/>
                <a:cs typeface="Calibri"/>
              </a:defRPr>
            </a:pPr>
            <a:r>
              <a:rPr sz="1425" b="0">
                <a:solidFill>
                  <a:srgbClr val="132433"/>
                </a:solidFill>
                <a:latin typeface="Calibri"/>
                <a:ea typeface="Calibri"/>
                <a:cs typeface="Calibri"/>
              </a:rPr>
              <a:t>Data, rolling features and baselines audited and corrected</a:t>
            </a:r>
          </a:p>
        </p:txBody>
      </p:sp>
      <p:sp>
        <p:nvSpPr>
          <p:cNvPr id="10" name="">
            <a:extLst xmlns:a="http://schemas.openxmlformats.org/drawingml/2006/main">
              <a:ext uri="{FF2B5EF4-FFF2-40B4-BE49-F238E27FC236}">
                <a16:creationId xmlns:a16="http://schemas.microsoft.com/office/drawing/2014/main" id="{2D23D04F-37AD-4F7D-9F7B-08B13A0A3187}"/>
              </a:ext>
            </a:extLst>
          </p:cNvPr>
          <p:cNvSpPr>
            <a:spLocks xmlns:a="http://schemas.openxmlformats.org/drawingml/2006/main" noGrp="1"/>
          </p:cNvSpPr>
          <p:nvPr/>
        </p:nvSpPr>
        <p:spPr>
          <a:xfrm xmlns:a="http://schemas.openxmlformats.org/drawingml/2006/main">
            <a:off x="838200" y="3352800"/>
            <a:ext cx="1381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575" b="1">
                <a:solidFill>
                  <a:srgbClr val="27C7D1"/>
                </a:solidFill>
                <a:latin typeface="Calibri"/>
                <a:ea typeface="Calibri"/>
                <a:cs typeface="Calibri"/>
              </a:defRPr>
            </a:pPr>
            <a:r>
              <a:rPr sz="1575" b="1">
                <a:solidFill>
                  <a:srgbClr val="27C7D1"/>
                </a:solidFill>
                <a:latin typeface="Calibri"/>
                <a:ea typeface="Calibri"/>
                <a:cs typeface="Calibri"/>
              </a:rPr>
              <a:t>Phase 2</a:t>
            </a:r>
          </a:p>
        </p:txBody>
      </p:sp>
      <p:sp>
        <p:nvSpPr>
          <p:cNvPr id="11" name="">
            <a:extLst xmlns:a="http://schemas.openxmlformats.org/drawingml/2006/main">
              <a:ext uri="{FF2B5EF4-FFF2-40B4-BE49-F238E27FC236}">
                <a16:creationId xmlns:a16="http://schemas.microsoft.com/office/drawing/2014/main" id="{12A8B149-C1AF-48CE-98C5-FFBA6802B790}"/>
              </a:ext>
            </a:extLst>
          </p:cNvPr>
          <p:cNvSpPr>
            <a:spLocks xmlns:a="http://schemas.openxmlformats.org/drawingml/2006/main" noGrp="1"/>
          </p:cNvSpPr>
          <p:nvPr/>
        </p:nvSpPr>
        <p:spPr>
          <a:xfrm xmlns:a="http://schemas.openxmlformats.org/drawingml/2006/main">
            <a:off x="2238375" y="335280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425" b="0">
                <a:solidFill>
                  <a:srgbClr val="132433"/>
                </a:solidFill>
                <a:latin typeface="Calibri"/>
                <a:ea typeface="Calibri"/>
                <a:cs typeface="Calibri"/>
              </a:defRPr>
            </a:pPr>
            <a:r>
              <a:rPr sz="1425" b="0">
                <a:solidFill>
                  <a:srgbClr val="132433"/>
                </a:solidFill>
                <a:latin typeface="Calibri"/>
                <a:ea typeface="Calibri"/>
                <a:cs typeface="Calibri"/>
              </a:rPr>
              <a:t>Logistic Regression, GRU, LSTM and Transformer implemented</a:t>
            </a:r>
          </a:p>
        </p:txBody>
      </p:sp>
      <p:sp>
        <p:nvSpPr>
          <p:cNvPr id="12" name="">
            <a:extLst xmlns:a="http://schemas.openxmlformats.org/drawingml/2006/main">
              <a:ext uri="{FF2B5EF4-FFF2-40B4-BE49-F238E27FC236}">
                <a16:creationId xmlns:a16="http://schemas.microsoft.com/office/drawing/2014/main" id="{8FE1025A-59C1-4899-8BB8-32C810A09226}"/>
              </a:ext>
            </a:extLst>
          </p:cNvPr>
          <p:cNvSpPr>
            <a:spLocks xmlns:a="http://schemas.openxmlformats.org/drawingml/2006/main" noGrp="1"/>
          </p:cNvSpPr>
          <p:nvPr/>
        </p:nvSpPr>
        <p:spPr>
          <a:xfrm xmlns:a="http://schemas.openxmlformats.org/drawingml/2006/main">
            <a:off x="838200" y="4133850"/>
            <a:ext cx="1381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575" b="1">
                <a:solidFill>
                  <a:srgbClr val="27C7D1"/>
                </a:solidFill>
                <a:latin typeface="Calibri"/>
                <a:ea typeface="Calibri"/>
                <a:cs typeface="Calibri"/>
              </a:defRPr>
            </a:pPr>
            <a:r>
              <a:rPr sz="1575" b="1">
                <a:solidFill>
                  <a:srgbClr val="27C7D1"/>
                </a:solidFill>
                <a:latin typeface="Calibri"/>
                <a:ea typeface="Calibri"/>
                <a:cs typeface="Calibri"/>
              </a:rPr>
              <a:t>Phase 3</a:t>
            </a:r>
          </a:p>
        </p:txBody>
      </p:sp>
      <p:sp>
        <p:nvSpPr>
          <p:cNvPr id="13" name="">
            <a:extLst xmlns:a="http://schemas.openxmlformats.org/drawingml/2006/main">
              <a:ext uri="{FF2B5EF4-FFF2-40B4-BE49-F238E27FC236}">
                <a16:creationId xmlns:a16="http://schemas.microsoft.com/office/drawing/2014/main" id="{5237F9ED-380C-4624-BDFF-8ED2ADE3FAC0}"/>
              </a:ext>
            </a:extLst>
          </p:cNvPr>
          <p:cNvSpPr>
            <a:spLocks xmlns:a="http://schemas.openxmlformats.org/drawingml/2006/main" noGrp="1"/>
          </p:cNvSpPr>
          <p:nvPr/>
        </p:nvSpPr>
        <p:spPr>
          <a:xfrm xmlns:a="http://schemas.openxmlformats.org/drawingml/2006/main">
            <a:off x="2238375" y="413385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425" b="0">
                <a:solidFill>
                  <a:srgbClr val="132433"/>
                </a:solidFill>
                <a:latin typeface="Calibri"/>
                <a:ea typeface="Calibri"/>
                <a:cs typeface="Calibri"/>
              </a:defRPr>
            </a:pPr>
            <a:r>
              <a:rPr sz="1425" b="0">
                <a:solidFill>
                  <a:srgbClr val="132433"/>
                </a:solidFill>
                <a:latin typeface="Calibri"/>
                <a:ea typeface="Calibri"/>
                <a:cs typeface="Calibri"/>
              </a:rPr>
              <a:t>Event metrics, threshold trade-off, recovery replay and adaptation cost implemented</a:t>
            </a:r>
          </a:p>
        </p:txBody>
      </p:sp>
      <p:sp>
        <p:nvSpPr>
          <p:cNvPr id="14" name="">
            <a:extLst xmlns:a="http://schemas.openxmlformats.org/drawingml/2006/main">
              <a:ext uri="{FF2B5EF4-FFF2-40B4-BE49-F238E27FC236}">
                <a16:creationId xmlns:a16="http://schemas.microsoft.com/office/drawing/2014/main" id="{BB78D2D4-0121-478C-A4E2-5A820425BD6E}"/>
              </a:ext>
            </a:extLst>
          </p:cNvPr>
          <p:cNvSpPr>
            <a:spLocks xmlns:a="http://schemas.openxmlformats.org/drawingml/2006/main" noGrp="1"/>
          </p:cNvSpPr>
          <p:nvPr/>
        </p:nvSpPr>
        <p:spPr>
          <a:xfrm xmlns:a="http://schemas.openxmlformats.org/drawingml/2006/main">
            <a:off x="838200" y="4914900"/>
            <a:ext cx="1381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575" b="1">
                <a:solidFill>
                  <a:srgbClr val="27C7D1"/>
                </a:solidFill>
                <a:latin typeface="Calibri"/>
                <a:ea typeface="Calibri"/>
                <a:cs typeface="Calibri"/>
              </a:defRPr>
            </a:pPr>
            <a:r>
              <a:rPr sz="1575" b="1">
                <a:solidFill>
                  <a:srgbClr val="27C7D1"/>
                </a:solidFill>
                <a:latin typeface="Calibri"/>
                <a:ea typeface="Calibri"/>
                <a:cs typeface="Calibri"/>
              </a:rPr>
              <a:t>Dashboard</a:t>
            </a:r>
          </a:p>
        </p:txBody>
      </p:sp>
      <p:sp>
        <p:nvSpPr>
          <p:cNvPr id="15" name="">
            <a:extLst xmlns:a="http://schemas.openxmlformats.org/drawingml/2006/main">
              <a:ext uri="{FF2B5EF4-FFF2-40B4-BE49-F238E27FC236}">
                <a16:creationId xmlns:a16="http://schemas.microsoft.com/office/drawing/2014/main" id="{BE2940F3-3630-4F12-AB43-46A20C1EA467}"/>
              </a:ext>
            </a:extLst>
          </p:cNvPr>
          <p:cNvSpPr>
            <a:spLocks xmlns:a="http://schemas.openxmlformats.org/drawingml/2006/main" noGrp="1"/>
          </p:cNvSpPr>
          <p:nvPr/>
        </p:nvSpPr>
        <p:spPr>
          <a:xfrm xmlns:a="http://schemas.openxmlformats.org/drawingml/2006/main">
            <a:off x="2238375" y="491490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425" b="0">
                <a:solidFill>
                  <a:srgbClr val="132433"/>
                </a:solidFill>
                <a:latin typeface="Calibri"/>
                <a:ea typeface="Calibri"/>
                <a:cs typeface="Calibri"/>
              </a:defRPr>
            </a:pPr>
            <a:r>
              <a:rPr sz="1425" b="0">
                <a:solidFill>
                  <a:srgbClr val="132433"/>
                </a:solidFill>
                <a:latin typeface="Calibri"/>
                <a:ea typeface="Calibri"/>
                <a:cs typeface="Calibri"/>
              </a:rPr>
              <a:t>Six-page Streamlit presentation interface completed</a:t>
            </a:r>
          </a:p>
        </p:txBody>
      </p:sp>
      <p:sp>
        <p:nvSpPr>
          <p:cNvPr id="16" name="">
            <a:extLst xmlns:a="http://schemas.openxmlformats.org/drawingml/2006/main">
              <a:ext uri="{FF2B5EF4-FFF2-40B4-BE49-F238E27FC236}">
                <a16:creationId xmlns:a16="http://schemas.microsoft.com/office/drawing/2014/main" id="{632A2D11-9BDC-4F79-BAED-745EC06E5EB0}"/>
              </a:ext>
            </a:extLst>
          </p:cNvPr>
          <p:cNvSpPr>
            <a:spLocks xmlns:a="http://schemas.openxmlformats.org/drawingml/2006/main" noGrp="1"/>
          </p:cNvSpPr>
          <p:nvPr/>
        </p:nvSpPr>
        <p:spPr>
          <a:xfrm xmlns:a="http://schemas.openxmlformats.org/drawingml/2006/main">
            <a:off x="8382000" y="1524000"/>
            <a:ext cx="2857500" cy="4000500"/>
          </a:xfrm>
          <a:prstGeom xmlns:a="http://schemas.openxmlformats.org/drawingml/2006/main" prst="roundRect">
            <a:avLst>
              <a:gd name="adj" fmla="val 2667"/>
            </a:avLst>
          </a:prstGeom>
          <a:solidFill xmlns:a="http://schemas.openxmlformats.org/drawingml/2006/main">
            <a:srgbClr val="0D2638"/>
          </a:solidFill>
          <a:ln xmlns:a="http://schemas.openxmlformats.org/drawingml/2006/main" w="9525">
            <a:solidFill>
              <a:srgbClr val="0D2638"/>
            </a:solidFill>
          </a:ln>
        </p:spPr>
      </p:sp>
      <p:sp>
        <p:nvSpPr>
          <p:cNvPr id="17" name="">
            <a:extLst xmlns:a="http://schemas.openxmlformats.org/drawingml/2006/main">
              <a:ext uri="{FF2B5EF4-FFF2-40B4-BE49-F238E27FC236}">
                <a16:creationId xmlns:a16="http://schemas.microsoft.com/office/drawing/2014/main" id="{C057F1E0-B945-429E-B6EB-B95870131E7A}"/>
              </a:ext>
            </a:extLst>
          </p:cNvPr>
          <p:cNvSpPr>
            <a:spLocks xmlns:a="http://schemas.openxmlformats.org/drawingml/2006/main" noGrp="1"/>
          </p:cNvSpPr>
          <p:nvPr/>
        </p:nvSpPr>
        <p:spPr>
          <a:xfrm xmlns:a="http://schemas.openxmlformats.org/drawingml/2006/main">
            <a:off x="8810625" y="18859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200" b="1">
                <a:solidFill>
                  <a:srgbClr val="27C7D1"/>
                </a:solidFill>
                <a:latin typeface="Calibri"/>
                <a:ea typeface="Calibri"/>
                <a:cs typeface="Calibri"/>
              </a:defRPr>
            </a:pPr>
            <a:r>
              <a:rPr sz="1200" b="1">
                <a:solidFill>
                  <a:srgbClr val="27C7D1"/>
                </a:solidFill>
                <a:latin typeface="Calibri"/>
                <a:ea typeface="Calibri"/>
                <a:cs typeface="Calibri"/>
              </a:rPr>
              <a:t>VERIFIED</a:t>
            </a:r>
          </a:p>
        </p:txBody>
      </p:sp>
      <p:sp>
        <p:nvSpPr>
          <p:cNvPr id="18" name="">
            <a:extLst xmlns:a="http://schemas.openxmlformats.org/drawingml/2006/main">
              <a:ext uri="{FF2B5EF4-FFF2-40B4-BE49-F238E27FC236}">
                <a16:creationId xmlns:a16="http://schemas.microsoft.com/office/drawing/2014/main" id="{4B07D0DF-F12A-4530-98FB-17050AF0F781}"/>
              </a:ext>
            </a:extLst>
          </p:cNvPr>
          <p:cNvSpPr>
            <a:spLocks xmlns:a="http://schemas.openxmlformats.org/drawingml/2006/main" noGrp="1"/>
          </p:cNvSpPr>
          <p:nvPr/>
        </p:nvSpPr>
        <p:spPr>
          <a:xfrm xmlns:a="http://schemas.openxmlformats.org/drawingml/2006/main">
            <a:off x="8858250" y="2381250"/>
            <a:ext cx="190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4350" b="1">
                <a:solidFill>
                  <a:srgbClr val="FFFFFF"/>
                </a:solidFill>
                <a:latin typeface="Calibri"/>
                <a:ea typeface="Calibri"/>
                <a:cs typeface="Calibri"/>
              </a:defRPr>
            </a:pPr>
            <a:r>
              <a:rPr sz="4350" b="1">
                <a:solidFill>
                  <a:srgbClr val="FFFFFF"/>
                </a:solidFill>
                <a:latin typeface="Calibri"/>
                <a:ea typeface="Calibri"/>
                <a:cs typeface="Calibri"/>
              </a:rPr>
              <a:t>43</a:t>
            </a:r>
          </a:p>
        </p:txBody>
      </p:sp>
      <p:sp>
        <p:nvSpPr>
          <p:cNvPr id="19" name="">
            <a:extLst xmlns:a="http://schemas.openxmlformats.org/drawingml/2006/main">
              <a:ext uri="{FF2B5EF4-FFF2-40B4-BE49-F238E27FC236}">
                <a16:creationId xmlns:a16="http://schemas.microsoft.com/office/drawing/2014/main" id="{8B4FCE99-427A-40BA-9462-1E32EAE1E6F5}"/>
              </a:ext>
            </a:extLst>
          </p:cNvPr>
          <p:cNvSpPr>
            <a:spLocks xmlns:a="http://schemas.openxmlformats.org/drawingml/2006/main" noGrp="1"/>
          </p:cNvSpPr>
          <p:nvPr/>
        </p:nvSpPr>
        <p:spPr>
          <a:xfrm xmlns:a="http://schemas.openxmlformats.org/drawingml/2006/main">
            <a:off x="8858250" y="31242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650" b="0">
                <a:solidFill>
                  <a:srgbClr val="FFFFFF"/>
                </a:solidFill>
                <a:latin typeface="Calibri"/>
                <a:ea typeface="Calibri"/>
                <a:cs typeface="Calibri"/>
              </a:defRPr>
            </a:pPr>
            <a:r>
              <a:rPr sz="1650" b="0">
                <a:solidFill>
                  <a:srgbClr val="FFFFFF"/>
                </a:solidFill>
                <a:latin typeface="Calibri"/>
                <a:ea typeface="Calibri"/>
                <a:cs typeface="Calibri"/>
              </a:rPr>
              <a:t>tests passed</a:t>
            </a:r>
          </a:p>
        </p:txBody>
      </p:sp>
      <p:sp>
        <p:nvSpPr>
          <p:cNvPr id="20" name="">
            <a:extLst xmlns:a="http://schemas.openxmlformats.org/drawingml/2006/main">
              <a:ext uri="{FF2B5EF4-FFF2-40B4-BE49-F238E27FC236}">
                <a16:creationId xmlns:a16="http://schemas.microsoft.com/office/drawing/2014/main" id="{76D07517-A212-4AB6-9C73-B1A1B4866195}"/>
              </a:ext>
            </a:extLst>
          </p:cNvPr>
          <p:cNvSpPr>
            <a:spLocks xmlns:a="http://schemas.openxmlformats.org/drawingml/2006/main" noGrp="1"/>
          </p:cNvSpPr>
          <p:nvPr/>
        </p:nvSpPr>
        <p:spPr>
          <a:xfrm xmlns:a="http://schemas.openxmlformats.org/drawingml/2006/main">
            <a:off x="8858250" y="3714750"/>
            <a:ext cx="1905000" cy="0"/>
          </a:xfrm>
          <a:prstGeom xmlns:a="http://schemas.openxmlformats.org/drawingml/2006/main" prst="line">
            <a:avLst/>
          </a:prstGeom>
          <a:ln xmlns:a="http://schemas.openxmlformats.org/drawingml/2006/main" w="9525">
            <a:solidFill>
              <a:srgbClr val="385369"/>
            </a:solidFill>
          </a:ln>
        </p:spPr>
      </p:sp>
      <p:sp>
        <p:nvSpPr>
          <p:cNvPr id="21" name="">
            <a:extLst xmlns:a="http://schemas.openxmlformats.org/drawingml/2006/main">
              <a:ext uri="{FF2B5EF4-FFF2-40B4-BE49-F238E27FC236}">
                <a16:creationId xmlns:a16="http://schemas.microsoft.com/office/drawing/2014/main" id="{CE5246E2-8F20-49D1-9081-48AAB7E20829}"/>
              </a:ext>
            </a:extLst>
          </p:cNvPr>
          <p:cNvSpPr>
            <a:spLocks xmlns:a="http://schemas.openxmlformats.org/drawingml/2006/main" noGrp="1"/>
          </p:cNvSpPr>
          <p:nvPr/>
        </p:nvSpPr>
        <p:spPr>
          <a:xfrm xmlns:a="http://schemas.openxmlformats.org/drawingml/2006/main">
            <a:off x="8858250" y="40005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350" b="0">
                <a:solidFill>
                  <a:srgbClr val="BFD0DA"/>
                </a:solidFill>
                <a:latin typeface="Calibri"/>
                <a:ea typeface="Calibri"/>
                <a:cs typeface="Calibri"/>
              </a:defRPr>
            </a:pPr>
            <a:r>
              <a:rPr sz="1350" b="0">
                <a:solidFill>
                  <a:srgbClr val="BFD0DA"/>
                </a:solidFill>
                <a:latin typeface="Calibri"/>
                <a:ea typeface="Calibri"/>
                <a:cs typeface="Calibri"/>
              </a:rPr>
              <a:t>GitHub Actions</a:t>
            </a:r>
          </a:p>
        </p:txBody>
      </p:sp>
      <p:sp>
        <p:nvSpPr>
          <p:cNvPr id="22" name="">
            <a:extLst xmlns:a="http://schemas.openxmlformats.org/drawingml/2006/main">
              <a:ext uri="{FF2B5EF4-FFF2-40B4-BE49-F238E27FC236}">
                <a16:creationId xmlns:a16="http://schemas.microsoft.com/office/drawing/2014/main" id="{F39999AF-C1A1-4032-A66B-DA9B9872FEF4}"/>
              </a:ext>
            </a:extLst>
          </p:cNvPr>
          <p:cNvSpPr>
            <a:spLocks xmlns:a="http://schemas.openxmlformats.org/drawingml/2006/main" noGrp="1"/>
          </p:cNvSpPr>
          <p:nvPr/>
        </p:nvSpPr>
        <p:spPr>
          <a:xfrm xmlns:a="http://schemas.openxmlformats.org/drawingml/2006/main">
            <a:off x="8858250" y="433387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800" b="1">
                <a:solidFill>
                  <a:srgbClr val="8FE0C0"/>
                </a:solidFill>
                <a:latin typeface="Calibri"/>
                <a:ea typeface="Calibri"/>
                <a:cs typeface="Calibri"/>
              </a:defRPr>
            </a:pPr>
            <a:r>
              <a:rPr sz="1800" b="1">
                <a:solidFill>
                  <a:srgbClr val="8FE0C0"/>
                </a:solidFill>
                <a:latin typeface="Calibri"/>
                <a:ea typeface="Calibri"/>
                <a:cs typeface="Calibri"/>
              </a:rPr>
              <a:t>PASSING</a:t>
            </a:r>
          </a:p>
        </p:txBody>
      </p:sp>
      <p:sp>
        <p:nvSpPr>
          <p:cNvPr id="23" name="">
            <a:extLst xmlns:a="http://schemas.openxmlformats.org/drawingml/2006/main">
              <a:ext uri="{FF2B5EF4-FFF2-40B4-BE49-F238E27FC236}">
                <a16:creationId xmlns:a16="http://schemas.microsoft.com/office/drawing/2014/main" id="{E1CC948C-6ACC-4D15-A3AD-9272D1EBF98E}"/>
              </a:ext>
            </a:extLst>
          </p:cNvPr>
          <p:cNvSpPr>
            <a:spLocks xmlns:a="http://schemas.openxmlformats.org/drawingml/2006/main" noGrp="1"/>
          </p:cNvSpPr>
          <p:nvPr/>
        </p:nvSpPr>
        <p:spPr>
          <a:xfrm xmlns:a="http://schemas.openxmlformats.org/drawingml/2006/main">
            <a:off x="8686800" y="4895850"/>
            <a:ext cx="2247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200" b="0">
                <a:solidFill>
                  <a:srgbClr val="D8E7EF"/>
                </a:solidFill>
                <a:latin typeface="Calibri"/>
                <a:ea typeface="Calibri"/>
                <a:cs typeface="Calibri"/>
              </a:defRPr>
            </a:pPr>
            <a:r>
              <a:rPr sz="1200" b="0">
                <a:solidFill>
                  <a:srgbClr val="D8E7EF"/>
                </a:solidFill>
                <a:latin typeface="Calibri"/>
                <a:ea typeface="Calibri"/>
                <a:cs typeface="Calibri"/>
              </a:rPr>
              <a:t>Quick reproduction succeeds in a clean environment</a:t>
            </a:r>
          </a:p>
        </p:txBody>
      </p:sp>
    </p:spTree>
    <p:extLst>
      <p:ext uri="{BB962C8B-B14F-4D97-AF65-F5344CB8AC3E}">
        <p14:creationId xmlns:p14="http://schemas.microsoft.com/office/powerpoint/2010/main" val="2043207430"/>
      </p:ext>
    </p:extLst>
  </p:cSld>
</p:sld>
</file>

<file path=ppt/slides/slide1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52E659-209F-413A-AB92-686EAF169B2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7C7D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168EFB-D086-4C84-B78C-18370F132659}"/>
              </a:ext>
            </a:extLst>
          </p:cNvPr>
          <p:cNvSpPr>
            <a:spLocks xmlns:a="http://schemas.openxmlformats.org/drawingml/2006/main" noGrp="1"/>
          </p:cNvSpPr>
          <p:nvPr/>
        </p:nvSpPr>
        <p:spPr>
          <a:xfrm xmlns:a="http://schemas.openxmlformats.org/drawingml/2006/main">
            <a:off x="609600" y="2667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75" b="1">
                <a:solidFill>
                  <a:srgbClr val="0E8A92"/>
                </a:solidFill>
                <a:latin typeface="Calibri"/>
                <a:ea typeface="Calibri"/>
                <a:cs typeface="Calibri"/>
              </a:defRPr>
            </a:pPr>
            <a:r>
              <a:rPr sz="975" b="1">
                <a:solidFill>
                  <a:srgbClr val="0E8A92"/>
                </a:solidFill>
                <a:latin typeface="Calibri"/>
                <a:ea typeface="Calibri"/>
                <a:cs typeface="Calibri"/>
              </a:rPr>
              <a:t>FINAL MACRO VIEW</a:t>
            </a:r>
          </a:p>
        </p:txBody>
      </p:sp>
      <p:sp>
        <p:nvSpPr>
          <p:cNvPr id="3" name="">
            <a:extLst xmlns:a="http://schemas.openxmlformats.org/drawingml/2006/main">
              <a:ext uri="{FF2B5EF4-FFF2-40B4-BE49-F238E27FC236}">
                <a16:creationId xmlns:a16="http://schemas.microsoft.com/office/drawing/2014/main" id="{83ACC15A-A5DB-4A03-A8C1-4CD812F67230}"/>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2550" b="1">
                <a:solidFill>
                  <a:srgbClr val="132433"/>
                </a:solidFill>
                <a:latin typeface="Calibri"/>
                <a:ea typeface="Calibri"/>
                <a:cs typeface="Calibri"/>
              </a:defRPr>
            </a:pPr>
            <a:r>
              <a:rPr sz="2550" b="1">
                <a:solidFill>
                  <a:srgbClr val="132433"/>
                </a:solidFill>
                <a:latin typeface="Calibri"/>
                <a:ea typeface="Calibri"/>
                <a:cs typeface="Calibri"/>
              </a:rPr>
              <a:t>Analysis of Results</a:t>
            </a:r>
          </a:p>
        </p:txBody>
      </p:sp>
      <p:sp>
        <p:nvSpPr>
          <p:cNvPr id="4" name="">
            <a:extLst xmlns:a="http://schemas.openxmlformats.org/drawingml/2006/main">
              <a:ext uri="{FF2B5EF4-FFF2-40B4-BE49-F238E27FC236}">
                <a16:creationId xmlns:a16="http://schemas.microsoft.com/office/drawing/2014/main" id="{9B25388A-D2B7-4C9D-8E9D-CF6EB12C5767}"/>
              </a:ext>
            </a:extLst>
          </p:cNvPr>
          <p:cNvSpPr>
            <a:spLocks xmlns:a="http://schemas.openxmlformats.org/drawingml/2006/main" noGrp="1"/>
          </p:cNvSpPr>
          <p:nvPr/>
        </p:nvSpPr>
        <p:spPr>
          <a:xfrm xmlns:a="http://schemas.openxmlformats.org/drawingml/2006/main">
            <a:off x="11334750" y="62674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r">
              <a:defRPr sz="975" b="0">
                <a:solidFill>
                  <a:srgbClr val="5C6B77"/>
                </a:solidFill>
                <a:latin typeface="Calibri"/>
                <a:ea typeface="Calibri"/>
                <a:cs typeface="Calibri"/>
              </a:defRPr>
            </a:pPr>
            <a:r>
              <a:rPr sz="975" b="0">
                <a:solidFill>
                  <a:srgbClr val="5C6B77"/>
                </a:solidFill>
                <a:latin typeface="Calibri"/>
                <a:ea typeface="Calibri"/>
                <a:cs typeface="Calibri"/>
              </a:rPr>
              <a:t>11</a:t>
            </a:r>
          </a:p>
        </p:txBody>
      </p:sp>
      <p:sp>
        <p:nvSpPr>
          <p:cNvPr id="5" name="">
            <a:extLst xmlns:a="http://schemas.openxmlformats.org/drawingml/2006/main">
              <a:ext uri="{FF2B5EF4-FFF2-40B4-BE49-F238E27FC236}">
                <a16:creationId xmlns:a16="http://schemas.microsoft.com/office/drawing/2014/main" id="{D8E06982-BEA7-470B-84A8-1543B7B12DE7}"/>
              </a:ext>
            </a:extLst>
          </p:cNvPr>
          <p:cNvSpPr>
            <a:spLocks xmlns:a="http://schemas.openxmlformats.org/drawingml/2006/main" noGrp="1"/>
          </p:cNvSpPr>
          <p:nvPr/>
        </p:nvSpPr>
        <p:spPr>
          <a:xfrm xmlns:a="http://schemas.openxmlformats.org/drawingml/2006/main">
            <a:off x="609600" y="62674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00" b="0">
                <a:solidFill>
                  <a:srgbClr val="5C6B77"/>
                </a:solidFill>
                <a:latin typeface="Calibri"/>
                <a:ea typeface="Calibri"/>
                <a:cs typeface="Calibri"/>
              </a:defRPr>
            </a:pPr>
            <a:r>
              <a:rPr sz="900" b="0">
                <a:solidFill>
                  <a:srgbClr val="5C6B77"/>
                </a:solidFill>
                <a:latin typeface="Calibri"/>
                <a:ea typeface="Calibri"/>
                <a:cs typeface="Calibri"/>
              </a:rPr>
              <a:t>DriftSentinel  |  Review 2</a:t>
            </a:r>
          </a:p>
        </p:txBody>
      </p:sp>
      <p:graphicFrame>
        <p:nvGraphicFramePr>
          <p:cNvPr id="14" name=""/>
          <p:cNvGraphicFramePr/>
          <p:nvPr/>
        </p:nvGraphicFramePr>
        <p:xfrm>
          <a:off xmlns:a="http://schemas.openxmlformats.org/drawingml/2006/main" x="476250" y="1276350"/>
          <a:ext xmlns:a="http://schemas.openxmlformats.org/drawingml/2006/main" cx="11239500" cy="3333750"/>
        </p:xfrm>
        <a:graphic xmlns:a="http://schemas.openxmlformats.org/drawingml/2006/main">
          <a:graphicData uri="http://schemas.openxmlformats.org/drawingml/2006/table">
            <a:tbl>
              <a:tblPr/>
              <a:tblGrid>
                <a:gridCol w="2238375"/>
                <a:gridCol w="1047750"/>
                <a:gridCol w="1143000"/>
                <a:gridCol w="1047750"/>
                <a:gridCol w="1333500"/>
                <a:gridCol w="1047750"/>
                <a:gridCol w="1047750"/>
                <a:gridCol w="1285875"/>
              </a:tblGrid>
              <a:tr h="419100">
                <a:tc>
                  <a:txBody>
                    <a:bodyPr/>
                    <a:lstStyle/>
                    <a:p>
                      <a:r>
                        <a:t>Method</a:t>
                      </a:r>
                    </a:p>
                  </a:txBody>
                  <a:tcPr marL="91440" marR="91440" marT="45720" marB="45720"/>
                </a:tc>
                <a:tc>
                  <a:txBody>
                    <a:bodyPr/>
                    <a:lstStyle/>
                    <a:p>
                      <a:r>
                        <a:t>F1</a:t>
                      </a:r>
                    </a:p>
                  </a:txBody>
                  <a:tcPr marL="91440" marR="91440" marT="45720" marB="45720"/>
                </a:tc>
                <a:tc>
                  <a:txBody>
                    <a:bodyPr/>
                    <a:lstStyle/>
                    <a:p>
                      <a:r>
                        <a:t>PR-AUC</a:t>
                      </a:r>
                    </a:p>
                  </a:txBody>
                  <a:tcPr marL="91440" marR="91440" marT="45720" marB="45720"/>
                </a:tc>
                <a:tc>
                  <a:txBody>
                    <a:bodyPr/>
                    <a:lstStyle/>
                    <a:p>
                      <a:r>
                        <a:t>Lead</a:t>
                      </a:r>
                    </a:p>
                  </a:txBody>
                  <a:tcPr marL="91440" marR="91440" marT="45720" marB="45720"/>
                </a:tc>
                <a:tc>
                  <a:txBody>
                    <a:bodyPr/>
                    <a:lstStyle/>
                    <a:p>
                      <a:r>
                        <a:t>Coverage</a:t>
                      </a:r>
                    </a:p>
                  </a:txBody>
                  <a:tcPr marL="91440" marR="91440" marT="45720" marB="45720"/>
                </a:tc>
                <a:tc>
                  <a:txBody>
                    <a:bodyPr/>
                    <a:lstStyle/>
                    <a:p>
                      <a:r>
                        <a:t>FAR</a:t>
                      </a:r>
                    </a:p>
                  </a:txBody>
                  <a:tcPr marL="91440" marR="91440" marT="45720" marB="45720"/>
                </a:tc>
                <a:tc>
                  <a:txBody>
                    <a:bodyPr/>
                    <a:lstStyle/>
                    <a:p>
                      <a:r>
                        <a:t>Miss</a:t>
                      </a:r>
                    </a:p>
                  </a:txBody>
                  <a:tcPr marL="91440" marR="91440" marT="45720" marB="45720"/>
                </a:tc>
                <a:tc>
                  <a:txBody>
                    <a:bodyPr/>
                    <a:lstStyle/>
                    <a:p>
                      <a:r>
                        <a:t>Adapt/100</a:t>
                      </a:r>
                    </a:p>
                  </a:txBody>
                  <a:tcPr marL="91440" marR="91440" marT="45720" marB="45720"/>
                </a:tc>
              </a:tr>
              <a:tr h="409575">
                <a:tc>
                  <a:txBody>
                    <a:bodyPr/>
                    <a:lstStyle/>
                    <a:p>
                      <a:r>
                        <a:t>Logistic Regression</a:t>
                      </a:r>
                    </a:p>
                  </a:txBody>
                  <a:tcPr marL="91440" marR="91440" marT="45720" marB="45720"/>
                </a:tc>
                <a:tc>
                  <a:txBody>
                    <a:bodyPr/>
                    <a:lstStyle/>
                    <a:p>
                      <a:r>
                        <a:t>0.1068</a:t>
                      </a:r>
                    </a:p>
                  </a:txBody>
                  <a:tcPr marL="91440" marR="91440" marT="45720" marB="45720"/>
                </a:tc>
                <a:tc>
                  <a:txBody>
                    <a:bodyPr/>
                    <a:lstStyle/>
                    <a:p>
                      <a:r>
                        <a:t>0.0909</a:t>
                      </a:r>
                    </a:p>
                  </a:txBody>
                  <a:tcPr marL="91440" marR="91440" marT="45720" marB="45720"/>
                </a:tc>
                <a:tc>
                  <a:txBody>
                    <a:bodyPr/>
                    <a:lstStyle/>
                    <a:p>
                      <a:r>
                        <a:t>0.00</a:t>
                      </a:r>
                    </a:p>
                  </a:txBody>
                  <a:tcPr marL="91440" marR="91440" marT="45720" marB="45720"/>
                </a:tc>
                <a:tc>
                  <a:txBody>
                    <a:bodyPr/>
                    <a:lstStyle/>
                    <a:p>
                      <a:r>
                        <a:t>0.0000</a:t>
                      </a:r>
                    </a:p>
                  </a:txBody>
                  <a:tcPr marL="91440" marR="91440" marT="45720" marB="45720"/>
                </a:tc>
                <a:tc>
                  <a:txBody>
                    <a:bodyPr/>
                    <a:lstStyle/>
                    <a:p>
                      <a:r>
                        <a:t>0.6652</a:t>
                      </a:r>
                    </a:p>
                  </a:txBody>
                  <a:tcPr marL="91440" marR="91440" marT="45720" marB="45720"/>
                </a:tc>
                <a:tc>
                  <a:txBody>
                    <a:bodyPr/>
                    <a:lstStyle/>
                    <a:p>
                      <a:r>
                        <a:t>1.0000</a:t>
                      </a:r>
                    </a:p>
                  </a:txBody>
                  <a:tcPr marL="91440" marR="91440" marT="45720" marB="45720"/>
                </a:tc>
                <a:tc>
                  <a:txBody>
                    <a:bodyPr/>
                    <a:lstStyle/>
                    <a:p>
                      <a:r>
                        <a:t>2.3592</a:t>
                      </a:r>
                    </a:p>
                  </a:txBody>
                  <a:tcPr marL="91440" marR="91440" marT="45720" marB="45720"/>
                </a:tc>
              </a:tr>
              <a:tr h="409575">
                <a:tc>
                  <a:txBody>
                    <a:bodyPr/>
                    <a:lstStyle/>
                    <a:p>
                      <a:r>
                        <a:rPr b="1"/>
                        <a:t>GRU</a:t>
                      </a:r>
                    </a:p>
                  </a:txBody>
                  <a:tcPr marL="91440" marR="91440" marT="45720" marB="45720">
                    <a:solidFill>
                      <a:srgbClr val="DDF4F3"/>
                    </a:solidFill>
                  </a:tcPr>
                </a:tc>
                <a:tc>
                  <a:txBody>
                    <a:bodyPr/>
                    <a:lstStyle/>
                    <a:p>
                      <a:r>
                        <a:rPr b="1"/>
                        <a:t>0.1345</a:t>
                      </a:r>
                    </a:p>
                  </a:txBody>
                  <a:tcPr marL="91440" marR="91440" marT="45720" marB="45720">
                    <a:solidFill>
                      <a:srgbClr val="DDF4F3"/>
                    </a:solidFill>
                  </a:tcPr>
                </a:tc>
                <a:tc>
                  <a:txBody>
                    <a:bodyPr/>
                    <a:lstStyle/>
                    <a:p>
                      <a:r>
                        <a:rPr b="1"/>
                        <a:t>0.1039</a:t>
                      </a:r>
                    </a:p>
                  </a:txBody>
                  <a:tcPr marL="91440" marR="91440" marT="45720" marB="45720">
                    <a:solidFill>
                      <a:srgbClr val="DDF4F3"/>
                    </a:solidFill>
                  </a:tcPr>
                </a:tc>
                <a:tc>
                  <a:txBody>
                    <a:bodyPr/>
                    <a:lstStyle/>
                    <a:p>
                      <a:r>
                        <a:rPr b="1"/>
                        <a:t>1.83</a:t>
                      </a:r>
                    </a:p>
                  </a:txBody>
                  <a:tcPr marL="91440" marR="91440" marT="45720" marB="45720">
                    <a:solidFill>
                      <a:srgbClr val="DDF4F3"/>
                    </a:solidFill>
                  </a:tcPr>
                </a:tc>
                <a:tc>
                  <a:txBody>
                    <a:bodyPr/>
                    <a:lstStyle/>
                    <a:p>
                      <a:r>
                        <a:rPr b="1"/>
                        <a:t>0.3889</a:t>
                      </a:r>
                    </a:p>
                  </a:txBody>
                  <a:tcPr marL="91440" marR="91440" marT="45720" marB="45720">
                    <a:solidFill>
                      <a:srgbClr val="DDF4F3"/>
                    </a:solidFill>
                  </a:tcPr>
                </a:tc>
                <a:tc>
                  <a:txBody>
                    <a:bodyPr/>
                    <a:lstStyle/>
                    <a:p>
                      <a:r>
                        <a:rPr b="1"/>
                        <a:t>0.4972</a:t>
                      </a:r>
                    </a:p>
                  </a:txBody>
                  <a:tcPr marL="91440" marR="91440" marT="45720" marB="45720">
                    <a:solidFill>
                      <a:srgbClr val="DDF4F3"/>
                    </a:solidFill>
                  </a:tcPr>
                </a:tc>
                <a:tc>
                  <a:txBody>
                    <a:bodyPr/>
                    <a:lstStyle/>
                    <a:p>
                      <a:r>
                        <a:rPr b="1"/>
                        <a:t>0.6111</a:t>
                      </a:r>
                    </a:p>
                  </a:txBody>
                  <a:tcPr marL="91440" marR="91440" marT="45720" marB="45720">
                    <a:solidFill>
                      <a:srgbClr val="DDF4F3"/>
                    </a:solidFill>
                  </a:tcPr>
                </a:tc>
                <a:tc>
                  <a:txBody>
                    <a:bodyPr/>
                    <a:lstStyle/>
                    <a:p>
                      <a:r>
                        <a:rPr b="1"/>
                        <a:t>3.6415</a:t>
                      </a:r>
                    </a:p>
                  </a:txBody>
                  <a:tcPr marL="91440" marR="91440" marT="45720" marB="45720">
                    <a:solidFill>
                      <a:srgbClr val="DDF4F3"/>
                    </a:solidFill>
                  </a:tcPr>
                </a:tc>
              </a:tr>
              <a:tr h="409575">
                <a:tc>
                  <a:txBody>
                    <a:bodyPr/>
                    <a:lstStyle/>
                    <a:p>
                      <a:r>
                        <a:t>LSTM</a:t>
                      </a:r>
                    </a:p>
                  </a:txBody>
                  <a:tcPr marL="91440" marR="91440" marT="45720" marB="45720"/>
                </a:tc>
                <a:tc>
                  <a:txBody>
                    <a:bodyPr/>
                    <a:lstStyle/>
                    <a:p>
                      <a:r>
                        <a:t>0.1222</a:t>
                      </a:r>
                    </a:p>
                  </a:txBody>
                  <a:tcPr marL="91440" marR="91440" marT="45720" marB="45720"/>
                </a:tc>
                <a:tc>
                  <a:txBody>
                    <a:bodyPr/>
                    <a:lstStyle/>
                    <a:p>
                      <a:r>
                        <a:t>0.0843</a:t>
                      </a:r>
                    </a:p>
                  </a:txBody>
                  <a:tcPr marL="91440" marR="91440" marT="45720" marB="45720"/>
                </a:tc>
                <a:tc>
                  <a:txBody>
                    <a:bodyPr/>
                    <a:lstStyle/>
                    <a:p>
                      <a:r>
                        <a:t>0.44</a:t>
                      </a:r>
                    </a:p>
                  </a:txBody>
                  <a:tcPr marL="91440" marR="91440" marT="45720" marB="45720"/>
                </a:tc>
                <a:tc>
                  <a:txBody>
                    <a:bodyPr/>
                    <a:lstStyle/>
                    <a:p>
                      <a:r>
                        <a:t>0.0556</a:t>
                      </a:r>
                    </a:p>
                  </a:txBody>
                  <a:tcPr marL="91440" marR="91440" marT="45720" marB="45720"/>
                </a:tc>
                <a:tc>
                  <a:txBody>
                    <a:bodyPr/>
                    <a:lstStyle/>
                    <a:p>
                      <a:r>
                        <a:t>0.7199</a:t>
                      </a:r>
                    </a:p>
                  </a:txBody>
                  <a:tcPr marL="91440" marR="91440" marT="45720" marB="45720"/>
                </a:tc>
                <a:tc>
                  <a:txBody>
                    <a:bodyPr/>
                    <a:lstStyle/>
                    <a:p>
                      <a:r>
                        <a:t>0.9444</a:t>
                      </a:r>
                    </a:p>
                  </a:txBody>
                  <a:tcPr marL="91440" marR="91440" marT="45720" marB="45720"/>
                </a:tc>
                <a:tc>
                  <a:txBody>
                    <a:bodyPr/>
                    <a:lstStyle/>
                    <a:p>
                      <a:r>
                        <a:t>1.6890</a:t>
                      </a:r>
                    </a:p>
                  </a:txBody>
                  <a:tcPr marL="91440" marR="91440" marT="45720" marB="45720"/>
                </a:tc>
              </a:tr>
              <a:tr h="409575">
                <a:tc>
                  <a:txBody>
                    <a:bodyPr/>
                    <a:lstStyle/>
                    <a:p>
                      <a:r>
                        <a:t>Transformer</a:t>
                      </a:r>
                    </a:p>
                  </a:txBody>
                  <a:tcPr marL="91440" marR="91440" marT="45720" marB="45720"/>
                </a:tc>
                <a:tc>
                  <a:txBody>
                    <a:bodyPr/>
                    <a:lstStyle/>
                    <a:p>
                      <a:r>
                        <a:t>0.0797</a:t>
                      </a:r>
                    </a:p>
                  </a:txBody>
                  <a:tcPr marL="91440" marR="91440" marT="45720" marB="45720"/>
                </a:tc>
                <a:tc>
                  <a:txBody>
                    <a:bodyPr/>
                    <a:lstStyle/>
                    <a:p>
                      <a:r>
                        <a:t>0.1020</a:t>
                      </a:r>
                    </a:p>
                  </a:txBody>
                  <a:tcPr marL="91440" marR="91440" marT="45720" marB="45720"/>
                </a:tc>
                <a:tc>
                  <a:txBody>
                    <a:bodyPr/>
                    <a:lstStyle/>
                    <a:p>
                      <a:r>
                        <a:t>0.11</a:t>
                      </a:r>
                    </a:p>
                  </a:txBody>
                  <a:tcPr marL="91440" marR="91440" marT="45720" marB="45720"/>
                </a:tc>
                <a:tc>
                  <a:txBody>
                    <a:bodyPr/>
                    <a:lstStyle/>
                    <a:p>
                      <a:r>
                        <a:t>0.0556</a:t>
                      </a:r>
                    </a:p>
                  </a:txBody>
                  <a:tcPr marL="91440" marR="91440" marT="45720" marB="45720"/>
                </a:tc>
                <a:tc>
                  <a:txBody>
                    <a:bodyPr/>
                    <a:lstStyle/>
                    <a:p>
                      <a:r>
                        <a:t>0.3086</a:t>
                      </a:r>
                    </a:p>
                  </a:txBody>
                  <a:tcPr marL="91440" marR="91440" marT="45720" marB="45720"/>
                </a:tc>
                <a:tc>
                  <a:txBody>
                    <a:bodyPr/>
                    <a:lstStyle/>
                    <a:p>
                      <a:r>
                        <a:t>0.9444</a:t>
                      </a:r>
                    </a:p>
                  </a:txBody>
                  <a:tcPr marL="91440" marR="91440" marT="45720" marB="45720"/>
                </a:tc>
                <a:tc>
                  <a:txBody>
                    <a:bodyPr/>
                    <a:lstStyle/>
                    <a:p>
                      <a:r>
                        <a:t>1.3425</a:t>
                      </a:r>
                    </a:p>
                  </a:txBody>
                  <a:tcPr marL="91440" marR="91440" marT="45720" marB="45720"/>
                </a:tc>
              </a:tr>
              <a:tr h="409575">
                <a:tc>
                  <a:txBody>
                    <a:bodyPr/>
                    <a:lstStyle/>
                    <a:p>
                      <a:r>
                        <a:t>ADWIN</a:t>
                      </a:r>
                    </a:p>
                  </a:txBody>
                  <a:tcPr marL="91440" marR="91440" marT="45720" marB="45720"/>
                </a:tc>
                <a:tc>
                  <a:txBody>
                    <a:bodyPr/>
                    <a:lstStyle/>
                    <a:p>
                      <a:r>
                        <a:t>0.0370</a:t>
                      </a:r>
                    </a:p>
                  </a:txBody>
                  <a:tcPr marL="91440" marR="91440" marT="45720" marB="45720"/>
                </a:tc>
                <a:tc>
                  <a:txBody>
                    <a:bodyPr/>
                    <a:lstStyle/>
                    <a:p>
                      <a:r>
                        <a:t>N/A</a:t>
                      </a:r>
                    </a:p>
                  </a:txBody>
                  <a:tcPr marL="91440" marR="91440" marT="45720" marB="45720"/>
                </a:tc>
                <a:tc>
                  <a:txBody>
                    <a:bodyPr/>
                    <a:lstStyle/>
                    <a:p>
                      <a:r>
                        <a:t>1.33</a:t>
                      </a:r>
                    </a:p>
                  </a:txBody>
                  <a:tcPr marL="91440" marR="91440" marT="45720" marB="45720"/>
                </a:tc>
                <a:tc>
                  <a:txBody>
                    <a:bodyPr/>
                    <a:lstStyle/>
                    <a:p>
                      <a:r>
                        <a:t>0.1667</a:t>
                      </a:r>
                    </a:p>
                  </a:txBody>
                  <a:tcPr marL="91440" marR="91440" marT="45720" marB="45720"/>
                </a:tc>
                <a:tc>
                  <a:txBody>
                    <a:bodyPr/>
                    <a:lstStyle/>
                    <a:p>
                      <a:r>
                        <a:t>0.0199</a:t>
                      </a:r>
                    </a:p>
                  </a:txBody>
                  <a:tcPr marL="91440" marR="91440" marT="45720" marB="45720"/>
                </a:tc>
                <a:tc>
                  <a:txBody>
                    <a:bodyPr/>
                    <a:lstStyle/>
                    <a:p>
                      <a:r>
                        <a:t>0.8333</a:t>
                      </a:r>
                    </a:p>
                  </a:txBody>
                  <a:tcPr marL="91440" marR="91440" marT="45720" marB="45720"/>
                </a:tc>
                <a:tc>
                  <a:txBody>
                    <a:bodyPr/>
                    <a:lstStyle/>
                    <a:p>
                      <a:r>
                        <a:t>1.9670</a:t>
                      </a:r>
                    </a:p>
                  </a:txBody>
                  <a:tcPr marL="91440" marR="91440" marT="45720" marB="45720"/>
                </a:tc>
              </a:tr>
              <a:tr h="409575">
                <a:tc>
                  <a:txBody>
                    <a:bodyPr/>
                    <a:lstStyle/>
                    <a:p>
                      <a:r>
                        <a:t>DDM</a:t>
                      </a:r>
                    </a:p>
                  </a:txBody>
                  <a:tcPr marL="91440" marR="91440" marT="45720" marB="45720"/>
                </a:tc>
                <a:tc>
                  <a:txBody>
                    <a:bodyPr/>
                    <a:lstStyle/>
                    <a:p>
                      <a:r>
                        <a:t>0.0513</a:t>
                      </a:r>
                    </a:p>
                  </a:txBody>
                  <a:tcPr marL="91440" marR="91440" marT="45720" marB="45720"/>
                </a:tc>
                <a:tc>
                  <a:txBody>
                    <a:bodyPr/>
                    <a:lstStyle/>
                    <a:p>
                      <a:r>
                        <a:t>N/A</a:t>
                      </a:r>
                    </a:p>
                  </a:txBody>
                  <a:tcPr marL="91440" marR="91440" marT="45720" marB="45720"/>
                </a:tc>
                <a:tc>
                  <a:txBody>
                    <a:bodyPr/>
                    <a:lstStyle/>
                    <a:p>
                      <a:r>
                        <a:t>0.67</a:t>
                      </a:r>
                    </a:p>
                  </a:txBody>
                  <a:tcPr marL="91440" marR="91440" marT="45720" marB="45720"/>
                </a:tc>
                <a:tc>
                  <a:txBody>
                    <a:bodyPr/>
                    <a:lstStyle/>
                    <a:p>
                      <a:r>
                        <a:t>0.1667</a:t>
                      </a:r>
                    </a:p>
                  </a:txBody>
                  <a:tcPr marL="91440" marR="91440" marT="45720" marB="45720"/>
                </a:tc>
                <a:tc>
                  <a:txBody>
                    <a:bodyPr/>
                    <a:lstStyle/>
                    <a:p>
                      <a:r>
                        <a:t>0.0083</a:t>
                      </a:r>
                    </a:p>
                  </a:txBody>
                  <a:tcPr marL="91440" marR="91440" marT="45720" marB="45720"/>
                </a:tc>
                <a:tc>
                  <a:txBody>
                    <a:bodyPr/>
                    <a:lstStyle/>
                    <a:p>
                      <a:r>
                        <a:t>0.8333</a:t>
                      </a:r>
                    </a:p>
                  </a:txBody>
                  <a:tcPr marL="91440" marR="91440" marT="45720" marB="45720"/>
                </a:tc>
                <a:tc>
                  <a:txBody>
                    <a:bodyPr/>
                    <a:lstStyle/>
                    <a:p>
                      <a:r>
                        <a:t>0.8777</a:t>
                      </a:r>
                    </a:p>
                  </a:txBody>
                  <a:tcPr marL="91440" marR="91440" marT="45720" marB="45720"/>
                </a:tc>
              </a:tr>
              <a:tr h="409575">
                <a:tc>
                  <a:txBody>
                    <a:bodyPr/>
                    <a:lstStyle/>
                    <a:p>
                      <a:r>
                        <a:t>KSWIN</a:t>
                      </a:r>
                    </a:p>
                  </a:txBody>
                  <a:tcPr marL="91440" marR="91440" marT="45720" marB="45720"/>
                </a:tc>
                <a:tc>
                  <a:txBody>
                    <a:bodyPr/>
                    <a:lstStyle/>
                    <a:p>
                      <a:r>
                        <a:t>0.0000</a:t>
                      </a:r>
                    </a:p>
                  </a:txBody>
                  <a:tcPr marL="91440" marR="91440" marT="45720" marB="45720"/>
                </a:tc>
                <a:tc>
                  <a:txBody>
                    <a:bodyPr/>
                    <a:lstStyle/>
                    <a:p>
                      <a:r>
                        <a:t>N/A</a:t>
                      </a:r>
                    </a:p>
                  </a:txBody>
                  <a:tcPr marL="91440" marR="91440" marT="45720" marB="45720"/>
                </a:tc>
                <a:tc>
                  <a:txBody>
                    <a:bodyPr/>
                    <a:lstStyle/>
                    <a:p>
                      <a:r>
                        <a:t>0.00</a:t>
                      </a:r>
                    </a:p>
                  </a:txBody>
                  <a:tcPr marL="91440" marR="91440" marT="45720" marB="45720"/>
                </a:tc>
                <a:tc>
                  <a:txBody>
                    <a:bodyPr/>
                    <a:lstStyle/>
                    <a:p>
                      <a:r>
                        <a:t>0.0000</a:t>
                      </a:r>
                    </a:p>
                  </a:txBody>
                  <a:tcPr marL="91440" marR="91440" marT="45720" marB="45720"/>
                </a:tc>
                <a:tc>
                  <a:txBody>
                    <a:bodyPr/>
                    <a:lstStyle/>
                    <a:p>
                      <a:r>
                        <a:t>0.0087</a:t>
                      </a:r>
                    </a:p>
                  </a:txBody>
                  <a:tcPr marL="91440" marR="91440" marT="45720" marB="45720"/>
                </a:tc>
                <a:tc>
                  <a:txBody>
                    <a:bodyPr/>
                    <a:lstStyle/>
                    <a:p>
                      <a:r>
                        <a:t>1.0000</a:t>
                      </a:r>
                    </a:p>
                  </a:txBody>
                  <a:tcPr marL="91440" marR="91440" marT="45720" marB="45720"/>
                </a:tc>
                <a:tc>
                  <a:txBody>
                    <a:bodyPr/>
                    <a:lstStyle/>
                    <a:p>
                      <a:r>
                        <a:t>0.8466</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8B2CDC03-DAB2-4619-BB71-FF0A83ED1757}"/>
              </a:ext>
            </a:extLst>
          </p:cNvPr>
          <p:cNvSpPr>
            <a:spLocks xmlns:a="http://schemas.openxmlformats.org/drawingml/2006/main" noGrp="1"/>
          </p:cNvSpPr>
          <p:nvPr/>
        </p:nvSpPr>
        <p:spPr>
          <a:xfrm xmlns:a="http://schemas.openxmlformats.org/drawingml/2006/main">
            <a:off x="666750" y="490537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350" b="1">
                <a:solidFill>
                  <a:srgbClr val="0E8A92"/>
                </a:solidFill>
                <a:latin typeface="Calibri"/>
                <a:ea typeface="Calibri"/>
                <a:cs typeface="Calibri"/>
              </a:defRPr>
            </a:pPr>
            <a:r>
              <a:rPr sz="1350" b="1">
                <a:solidFill>
                  <a:srgbClr val="0E8A92"/>
                </a:solidFill>
                <a:latin typeface="Calibri"/>
                <a:ea typeface="Calibri"/>
                <a:cs typeface="Calibri"/>
              </a:rPr>
              <a:t>Interpretation</a:t>
            </a:r>
          </a:p>
        </p:txBody>
      </p:sp>
      <p:sp>
        <p:nvSpPr>
          <p:cNvPr id="8" name="">
            <a:extLst xmlns:a="http://schemas.openxmlformats.org/drawingml/2006/main">
              <a:ext uri="{FF2B5EF4-FFF2-40B4-BE49-F238E27FC236}">
                <a16:creationId xmlns:a16="http://schemas.microsoft.com/office/drawing/2014/main" id="{0BC8168E-DCD7-403F-BAD8-4BB03334B413}"/>
              </a:ext>
            </a:extLst>
          </p:cNvPr>
          <p:cNvSpPr>
            <a:spLocks xmlns:a="http://schemas.openxmlformats.org/drawingml/2006/main" noGrp="1"/>
          </p:cNvSpPr>
          <p:nvPr/>
        </p:nvSpPr>
        <p:spPr>
          <a:xfrm xmlns:a="http://schemas.openxmlformats.org/drawingml/2006/main">
            <a:off x="666750" y="5219700"/>
            <a:ext cx="1076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98039"/>
          </a:bodyPr>
          <a:lstStyle xmlns:a="http://schemas.openxmlformats.org/drawingml/2006/main"/>
          <a:p xmlns:a="http://schemas.openxmlformats.org/drawingml/2006/main">
            <a:pPr marL="203200" indent="-101600" algn="l">
              <a:spcAft>
                <a:spcPts val="300"/>
              </a:spcAft>
              <a:buChar char="•"/>
              <a:defRPr sz="1275" b="0">
                <a:solidFill>
                  <a:srgbClr val="132433"/>
                </a:solidFill>
                <a:latin typeface="Calibri"/>
                <a:ea typeface="Calibri"/>
                <a:cs typeface="Calibri"/>
              </a:defRPr>
            </a:pPr>
            <a:r>
              <a:rPr sz="1275" b="0">
                <a:solidFill>
                  <a:srgbClr val="132433"/>
                </a:solidFill>
                <a:latin typeface="Calibri"/>
                <a:ea typeface="Calibri"/>
                <a:cs typeface="Calibri"/>
              </a:rPr>
              <a:t>GRU has the strongest strict warning coverage among predictive models, but its FAR and reset cost remain high.</a:t>
            </a:r>
          </a:p>
          <a:p xmlns:a="http://schemas.openxmlformats.org/drawingml/2006/main">
            <a:pPr marL="203200" indent="-101600" algn="l">
              <a:spcAft>
                <a:spcPts val="300"/>
              </a:spcAft>
              <a:buChar char="•"/>
              <a:defRPr sz="1275" b="0">
                <a:solidFill>
                  <a:srgbClr val="132433"/>
                </a:solidFill>
                <a:latin typeface="Calibri"/>
                <a:ea typeface="Calibri"/>
                <a:cs typeface="Calibri"/>
              </a:defRPr>
            </a:pPr>
            <a:r>
              <a:rPr sz="1275" b="0">
                <a:solidFill>
                  <a:srgbClr val="132433"/>
                </a:solidFill>
                <a:latin typeface="Calibri"/>
                <a:ea typeface="Calibri"/>
                <a:cs typeface="Calibri"/>
              </a:rPr>
              <a:t>Logistic Regression confirms that current rolling statistics already contain useful signal.</a:t>
            </a:r>
          </a:p>
          <a:p xmlns:a="http://schemas.openxmlformats.org/drawingml/2006/main">
            <a:pPr marL="203200" indent="-101600" algn="l">
              <a:spcAft>
                <a:spcPts val="300"/>
              </a:spcAft>
              <a:buChar char="•"/>
              <a:defRPr sz="1275" b="0">
                <a:solidFill>
                  <a:srgbClr val="132433"/>
                </a:solidFill>
                <a:latin typeface="Calibri"/>
                <a:ea typeface="Calibri"/>
                <a:cs typeface="Calibri"/>
              </a:defRPr>
            </a:pPr>
            <a:r>
              <a:rPr sz="1275" b="0">
                <a:solidFill>
                  <a:srgbClr val="132433"/>
                </a:solidFill>
                <a:latin typeface="Calibri"/>
                <a:ea typeface="Calibri"/>
                <a:cs typeface="Calibri"/>
              </a:rPr>
              <a:t>DDM and ADWIN are conservative: much lower FAR, but lower warning coverage.</a:t>
            </a:r>
          </a:p>
          <a:p xmlns:a="http://schemas.openxmlformats.org/drawingml/2006/main">
            <a:pPr marL="203200" indent="-101600" algn="l">
              <a:spcAft>
                <a:spcPts val="300"/>
              </a:spcAft>
              <a:buChar char="•"/>
              <a:defRPr sz="1275" b="0">
                <a:solidFill>
                  <a:srgbClr val="132433"/>
                </a:solidFill>
                <a:latin typeface="Calibri"/>
                <a:ea typeface="Calibri"/>
                <a:cs typeface="Calibri"/>
              </a:defRPr>
            </a:pPr>
            <a:r>
              <a:rPr sz="1275" b="0">
                <a:solidFill>
                  <a:srgbClr val="132433"/>
                </a:solidFill>
                <a:latin typeface="Calibri"/>
                <a:ea typeface="Calibri"/>
                <a:cs typeface="Calibri"/>
              </a:rPr>
              <a:t>Transformer underperformed under sparse supervision; no implementation bug was found.</a:t>
            </a:r>
          </a:p>
        </p:txBody>
      </p:sp>
    </p:spTree>
    <p:extLst>
      <p:ext uri="{BB962C8B-B14F-4D97-AF65-F5344CB8AC3E}">
        <p14:creationId xmlns:p14="http://schemas.microsoft.com/office/powerpoint/2010/main" val="1636100360"/>
      </p:ext>
    </p:extLst>
  </p:cSld>
</p:sld>
</file>

<file path=ppt/slides/slide1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171521E-0DC0-44C3-B03B-54F2F33F7BA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7C7D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8493C6-CE7B-4587-9CE0-AF688E5DDA8D}"/>
              </a:ext>
            </a:extLst>
          </p:cNvPr>
          <p:cNvSpPr>
            <a:spLocks xmlns:a="http://schemas.openxmlformats.org/drawingml/2006/main" noGrp="1"/>
          </p:cNvSpPr>
          <p:nvPr/>
        </p:nvSpPr>
        <p:spPr>
          <a:xfrm xmlns:a="http://schemas.openxmlformats.org/drawingml/2006/main">
            <a:off x="609600" y="2667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75" b="1">
                <a:solidFill>
                  <a:srgbClr val="0E8A92"/>
                </a:solidFill>
                <a:latin typeface="Calibri"/>
                <a:ea typeface="Calibri"/>
                <a:cs typeface="Calibri"/>
              </a:defRPr>
            </a:pPr>
            <a:r>
              <a:rPr sz="975" b="1">
                <a:solidFill>
                  <a:srgbClr val="0E8A92"/>
                </a:solidFill>
                <a:latin typeface="Calibri"/>
                <a:ea typeface="Calibri"/>
                <a:cs typeface="Calibri"/>
              </a:rPr>
              <a:t>INTERACTIVE RESULT</a:t>
            </a:r>
          </a:p>
        </p:txBody>
      </p:sp>
      <p:sp>
        <p:nvSpPr>
          <p:cNvPr id="3" name="">
            <a:extLst xmlns:a="http://schemas.openxmlformats.org/drawingml/2006/main">
              <a:ext uri="{FF2B5EF4-FFF2-40B4-BE49-F238E27FC236}">
                <a16:creationId xmlns:a16="http://schemas.microsoft.com/office/drawing/2014/main" id="{DB189DEC-2202-4C63-99F1-9645A968870E}"/>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2550" b="1">
                <a:solidFill>
                  <a:srgbClr val="132433"/>
                </a:solidFill>
                <a:latin typeface="Calibri"/>
                <a:ea typeface="Calibri"/>
                <a:cs typeface="Calibri"/>
              </a:defRPr>
            </a:pPr>
            <a:r>
              <a:rPr sz="2550" b="1">
                <a:solidFill>
                  <a:srgbClr val="132433"/>
                </a:solidFill>
                <a:latin typeface="Calibri"/>
                <a:ea typeface="Calibri"/>
                <a:cs typeface="Calibri"/>
              </a:rPr>
              <a:t>Dashboard Demo and Visual Outcome</a:t>
            </a:r>
          </a:p>
        </p:txBody>
      </p:sp>
      <p:sp>
        <p:nvSpPr>
          <p:cNvPr id="4" name="">
            <a:extLst xmlns:a="http://schemas.openxmlformats.org/drawingml/2006/main">
              <a:ext uri="{FF2B5EF4-FFF2-40B4-BE49-F238E27FC236}">
                <a16:creationId xmlns:a16="http://schemas.microsoft.com/office/drawing/2014/main" id="{C4B95390-DCB1-4E73-9F52-457D03AC5138}"/>
              </a:ext>
            </a:extLst>
          </p:cNvPr>
          <p:cNvSpPr>
            <a:spLocks xmlns:a="http://schemas.openxmlformats.org/drawingml/2006/main" noGrp="1"/>
          </p:cNvSpPr>
          <p:nvPr/>
        </p:nvSpPr>
        <p:spPr>
          <a:xfrm xmlns:a="http://schemas.openxmlformats.org/drawingml/2006/main">
            <a:off x="11334750" y="62674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r">
              <a:defRPr sz="975" b="0">
                <a:solidFill>
                  <a:srgbClr val="5C6B77"/>
                </a:solidFill>
                <a:latin typeface="Calibri"/>
                <a:ea typeface="Calibri"/>
                <a:cs typeface="Calibri"/>
              </a:defRPr>
            </a:pPr>
            <a:r>
              <a:rPr sz="975" b="0">
                <a:solidFill>
                  <a:srgbClr val="5C6B77"/>
                </a:solidFill>
                <a:latin typeface="Calibri"/>
                <a:ea typeface="Calibri"/>
                <a:cs typeface="Calibri"/>
              </a:rPr>
              <a:t>12</a:t>
            </a:r>
          </a:p>
        </p:txBody>
      </p:sp>
      <p:sp>
        <p:nvSpPr>
          <p:cNvPr id="5" name="">
            <a:extLst xmlns:a="http://schemas.openxmlformats.org/drawingml/2006/main">
              <a:ext uri="{FF2B5EF4-FFF2-40B4-BE49-F238E27FC236}">
                <a16:creationId xmlns:a16="http://schemas.microsoft.com/office/drawing/2014/main" id="{2130B912-4C79-46EB-81FC-05A19B038035}"/>
              </a:ext>
            </a:extLst>
          </p:cNvPr>
          <p:cNvSpPr>
            <a:spLocks xmlns:a="http://schemas.openxmlformats.org/drawingml/2006/main" noGrp="1"/>
          </p:cNvSpPr>
          <p:nvPr/>
        </p:nvSpPr>
        <p:spPr>
          <a:xfrm xmlns:a="http://schemas.openxmlformats.org/drawingml/2006/main">
            <a:off x="609600" y="62674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00" b="0">
                <a:solidFill>
                  <a:srgbClr val="5C6B77"/>
                </a:solidFill>
                <a:latin typeface="Calibri"/>
                <a:ea typeface="Calibri"/>
                <a:cs typeface="Calibri"/>
              </a:defRPr>
            </a:pPr>
            <a:r>
              <a:rPr sz="900" b="0">
                <a:solidFill>
                  <a:srgbClr val="5C6B77"/>
                </a:solidFill>
                <a:latin typeface="Calibri"/>
                <a:ea typeface="Calibri"/>
                <a:cs typeface="Calibri"/>
              </a:rPr>
              <a:t>DriftSentinel  |  Review 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a286ea4e3e0478b"/>
          <a:stretch xmlns:a="http://schemas.openxmlformats.org/drawingml/2006/main"/>
        </p:blipFill>
        <p:spPr>
          <a:xfrm xmlns:a="http://schemas.openxmlformats.org/drawingml/2006/main">
            <a:off x="2655929" y="1200150"/>
            <a:ext cx="6880143" cy="257175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ff35ce30a40418e"/>
          <a:stretch xmlns:a="http://schemas.openxmlformats.org/drawingml/2006/main"/>
        </p:blipFill>
        <p:spPr>
          <a:xfrm xmlns:a="http://schemas.openxmlformats.org/drawingml/2006/main">
            <a:off x="1453483" y="3857625"/>
            <a:ext cx="3531933" cy="219075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558f3dc91594c8c"/>
          <a:stretch xmlns:a="http://schemas.openxmlformats.org/drawingml/2006/main"/>
        </p:blipFill>
        <p:spPr>
          <a:xfrm xmlns:a="http://schemas.openxmlformats.org/drawingml/2006/main">
            <a:off x="7318353" y="3857625"/>
            <a:ext cx="3308393" cy="21907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EB6C723-36BD-41D3-A82E-1577E92953CB}"/>
              </a:ext>
            </a:extLst>
          </p:cNvPr>
          <p:cNvSpPr>
            <a:spLocks xmlns:a="http://schemas.openxmlformats.org/drawingml/2006/main" noGrp="1"/>
          </p:cNvSpPr>
          <p:nvPr/>
        </p:nvSpPr>
        <p:spPr>
          <a:xfrm xmlns:a="http://schemas.openxmlformats.org/drawingml/2006/main">
            <a:off x="952500" y="60388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975" b="0">
                <a:solidFill>
                  <a:srgbClr val="5C6B77"/>
                </a:solidFill>
                <a:latin typeface="Calibri"/>
                <a:ea typeface="Calibri"/>
                <a:cs typeface="Calibri"/>
              </a:defRPr>
            </a:pPr>
            <a:r>
              <a:rPr sz="975" b="0">
                <a:solidFill>
                  <a:srgbClr val="5C6B77"/>
                </a:solidFill>
                <a:latin typeface="Calibri"/>
                <a:ea typeface="Calibri"/>
                <a:cs typeface="Calibri"/>
              </a:rPr>
              <a:t>Six views: Overview | Drift Timeline | Model Comparison | Threshold Trade-off | Recovery and Adaptation | Research Findings</a:t>
            </a:r>
          </a:p>
        </p:txBody>
      </p:sp>
    </p:spTree>
    <p:extLst>
      <p:ext uri="{BB962C8B-B14F-4D97-AF65-F5344CB8AC3E}">
        <p14:creationId xmlns:p14="http://schemas.microsoft.com/office/powerpoint/2010/main" val="1134043831"/>
      </p:ext>
    </p:extLst>
  </p:cSld>
</p:sld>
</file>

<file path=ppt/slides/slide1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C96F743-80E9-43D2-BE47-CDE4AC13AEE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7C7D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F5588B-FA86-4BF5-B9B9-C801D7B4F801}"/>
              </a:ext>
            </a:extLst>
          </p:cNvPr>
          <p:cNvSpPr>
            <a:spLocks xmlns:a="http://schemas.openxmlformats.org/drawingml/2006/main" noGrp="1"/>
          </p:cNvSpPr>
          <p:nvPr/>
        </p:nvSpPr>
        <p:spPr>
          <a:xfrm xmlns:a="http://schemas.openxmlformats.org/drawingml/2006/main">
            <a:off x="609600" y="2667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75" b="1">
                <a:solidFill>
                  <a:srgbClr val="0E8A92"/>
                </a:solidFill>
                <a:latin typeface="Calibri"/>
                <a:ea typeface="Calibri"/>
                <a:cs typeface="Calibri"/>
              </a:defRPr>
            </a:pPr>
            <a:r>
              <a:rPr sz="975" b="1">
                <a:solidFill>
                  <a:srgbClr val="0E8A92"/>
                </a:solidFill>
                <a:latin typeface="Calibri"/>
                <a:ea typeface="Calibri"/>
                <a:cs typeface="Calibri"/>
              </a:rPr>
              <a:t>PUBLICATION DIRECTION</a:t>
            </a:r>
          </a:p>
        </p:txBody>
      </p:sp>
      <p:sp>
        <p:nvSpPr>
          <p:cNvPr id="3" name="">
            <a:extLst xmlns:a="http://schemas.openxmlformats.org/drawingml/2006/main">
              <a:ext uri="{FF2B5EF4-FFF2-40B4-BE49-F238E27FC236}">
                <a16:creationId xmlns:a16="http://schemas.microsoft.com/office/drawing/2014/main" id="{ED97256D-1571-4C78-8FB1-17829350918D}"/>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2550" b="1">
                <a:solidFill>
                  <a:srgbClr val="132433"/>
                </a:solidFill>
                <a:latin typeface="Calibri"/>
                <a:ea typeface="Calibri"/>
                <a:cs typeface="Calibri"/>
              </a:defRPr>
            </a:pPr>
            <a:r>
              <a:rPr sz="2550" b="1">
                <a:solidFill>
                  <a:srgbClr val="132433"/>
                </a:solidFill>
                <a:latin typeface="Calibri"/>
                <a:ea typeface="Calibri"/>
                <a:cs typeface="Calibri"/>
              </a:rPr>
              <a:t>Tangible Outcome</a:t>
            </a:r>
          </a:p>
        </p:txBody>
      </p:sp>
      <p:sp>
        <p:nvSpPr>
          <p:cNvPr id="4" name="">
            <a:extLst xmlns:a="http://schemas.openxmlformats.org/drawingml/2006/main">
              <a:ext uri="{FF2B5EF4-FFF2-40B4-BE49-F238E27FC236}">
                <a16:creationId xmlns:a16="http://schemas.microsoft.com/office/drawing/2014/main" id="{2DF39788-9142-4F06-872D-E59D08D3480C}"/>
              </a:ext>
            </a:extLst>
          </p:cNvPr>
          <p:cNvSpPr>
            <a:spLocks xmlns:a="http://schemas.openxmlformats.org/drawingml/2006/main" noGrp="1"/>
          </p:cNvSpPr>
          <p:nvPr/>
        </p:nvSpPr>
        <p:spPr>
          <a:xfrm xmlns:a="http://schemas.openxmlformats.org/drawingml/2006/main">
            <a:off x="11334750" y="62674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r">
              <a:defRPr sz="975" b="0">
                <a:solidFill>
                  <a:srgbClr val="5C6B77"/>
                </a:solidFill>
                <a:latin typeface="Calibri"/>
                <a:ea typeface="Calibri"/>
                <a:cs typeface="Calibri"/>
              </a:defRPr>
            </a:pPr>
            <a:r>
              <a:rPr sz="975" b="0">
                <a:solidFill>
                  <a:srgbClr val="5C6B77"/>
                </a:solidFill>
                <a:latin typeface="Calibri"/>
                <a:ea typeface="Calibri"/>
                <a:cs typeface="Calibri"/>
              </a:rPr>
              <a:t>13</a:t>
            </a:r>
          </a:p>
        </p:txBody>
      </p:sp>
      <p:sp>
        <p:nvSpPr>
          <p:cNvPr id="5" name="">
            <a:extLst xmlns:a="http://schemas.openxmlformats.org/drawingml/2006/main">
              <a:ext uri="{FF2B5EF4-FFF2-40B4-BE49-F238E27FC236}">
                <a16:creationId xmlns:a16="http://schemas.microsoft.com/office/drawing/2014/main" id="{34728867-336A-4F60-8D63-B3738D758C2D}"/>
              </a:ext>
            </a:extLst>
          </p:cNvPr>
          <p:cNvSpPr>
            <a:spLocks xmlns:a="http://schemas.openxmlformats.org/drawingml/2006/main" noGrp="1"/>
          </p:cNvSpPr>
          <p:nvPr/>
        </p:nvSpPr>
        <p:spPr>
          <a:xfrm xmlns:a="http://schemas.openxmlformats.org/drawingml/2006/main">
            <a:off x="609600" y="62674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00" b="0">
                <a:solidFill>
                  <a:srgbClr val="5C6B77"/>
                </a:solidFill>
                <a:latin typeface="Calibri"/>
                <a:ea typeface="Calibri"/>
                <a:cs typeface="Calibri"/>
              </a:defRPr>
            </a:pPr>
            <a:r>
              <a:rPr sz="900" b="0">
                <a:solidFill>
                  <a:srgbClr val="5C6B77"/>
                </a:solidFill>
                <a:latin typeface="Calibri"/>
                <a:ea typeface="Calibri"/>
                <a:cs typeface="Calibri"/>
              </a:rPr>
              <a:t>DriftSentinel  |  Review 2</a:t>
            </a:r>
          </a:p>
        </p:txBody>
      </p:sp>
      <p:sp>
        <p:nvSpPr>
          <p:cNvPr id="6" name="">
            <a:extLst xmlns:a="http://schemas.openxmlformats.org/drawingml/2006/main">
              <a:ext uri="{FF2B5EF4-FFF2-40B4-BE49-F238E27FC236}">
                <a16:creationId xmlns:a16="http://schemas.microsoft.com/office/drawing/2014/main" id="{40BB3421-EB54-48DB-B395-7C1A2E24751B}"/>
              </a:ext>
            </a:extLst>
          </p:cNvPr>
          <p:cNvSpPr>
            <a:spLocks xmlns:a="http://schemas.openxmlformats.org/drawingml/2006/main" noGrp="1"/>
          </p:cNvSpPr>
          <p:nvPr/>
        </p:nvSpPr>
        <p:spPr>
          <a:xfrm xmlns:a="http://schemas.openxmlformats.org/drawingml/2006/main">
            <a:off x="800100" y="14097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275" b="1">
                <a:solidFill>
                  <a:srgbClr val="0E8A92"/>
                </a:solidFill>
                <a:latin typeface="Calibri"/>
                <a:ea typeface="Calibri"/>
                <a:cs typeface="Calibri"/>
              </a:defRPr>
            </a:pPr>
            <a:r>
              <a:rPr sz="1275" b="1">
                <a:solidFill>
                  <a:srgbClr val="0E8A92"/>
                </a:solidFill>
                <a:latin typeface="Calibri"/>
                <a:ea typeface="Calibri"/>
                <a:cs typeface="Calibri"/>
              </a:rPr>
              <a:t>Planned output</a:t>
            </a:r>
          </a:p>
        </p:txBody>
      </p:sp>
      <p:sp>
        <p:nvSpPr>
          <p:cNvPr id="7" name="">
            <a:extLst xmlns:a="http://schemas.openxmlformats.org/drawingml/2006/main">
              <a:ext uri="{FF2B5EF4-FFF2-40B4-BE49-F238E27FC236}">
                <a16:creationId xmlns:a16="http://schemas.microsoft.com/office/drawing/2014/main" id="{7E5D4121-2C15-458C-BFB3-6EFEA890A310}"/>
              </a:ext>
            </a:extLst>
          </p:cNvPr>
          <p:cNvSpPr>
            <a:spLocks xmlns:a="http://schemas.openxmlformats.org/drawingml/2006/main" noGrp="1"/>
          </p:cNvSpPr>
          <p:nvPr/>
        </p:nvSpPr>
        <p:spPr>
          <a:xfrm xmlns:a="http://schemas.openxmlformats.org/drawingml/2006/main">
            <a:off x="800100" y="1809750"/>
            <a:ext cx="571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3000" b="1">
                <a:solidFill>
                  <a:srgbClr val="132433"/>
                </a:solidFill>
                <a:latin typeface="Calibri"/>
                <a:ea typeface="Calibri"/>
                <a:cs typeface="Calibri"/>
              </a:defRPr>
            </a:pPr>
            <a:r>
              <a:rPr sz="3000" b="1">
                <a:solidFill>
                  <a:srgbClr val="132433"/>
                </a:solidFill>
                <a:latin typeface="Calibri"/>
                <a:ea typeface="Calibri"/>
                <a:cs typeface="Calibri"/>
              </a:rPr>
              <a:t>IEEE conference paper</a:t>
            </a:r>
          </a:p>
        </p:txBody>
      </p:sp>
      <p:sp>
        <p:nvSpPr>
          <p:cNvPr id="8" name="">
            <a:extLst xmlns:a="http://schemas.openxmlformats.org/drawingml/2006/main">
              <a:ext uri="{FF2B5EF4-FFF2-40B4-BE49-F238E27FC236}">
                <a16:creationId xmlns:a16="http://schemas.microsoft.com/office/drawing/2014/main" id="{3FBA58CE-4126-4F3C-8D06-737777EE4EF0}"/>
              </a:ext>
            </a:extLst>
          </p:cNvPr>
          <p:cNvSpPr>
            <a:spLocks xmlns:a="http://schemas.openxmlformats.org/drawingml/2006/main" noGrp="1"/>
          </p:cNvSpPr>
          <p:nvPr/>
        </p:nvSpPr>
        <p:spPr>
          <a:xfrm xmlns:a="http://schemas.openxmlformats.org/drawingml/2006/main">
            <a:off x="800100" y="240030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875" b="0">
                <a:solidFill>
                  <a:srgbClr val="5C6B77"/>
                </a:solidFill>
                <a:latin typeface="Calibri"/>
                <a:ea typeface="Calibri"/>
                <a:cs typeface="Calibri"/>
              </a:defRPr>
            </a:pPr>
            <a:r>
              <a:rPr sz="1875" b="0">
                <a:solidFill>
                  <a:srgbClr val="5C6B77"/>
                </a:solidFill>
                <a:latin typeface="Calibri"/>
                <a:ea typeface="Calibri"/>
                <a:cs typeface="Calibri"/>
              </a:rPr>
              <a:t>Predictive concept-drift early warning in data streams</a:t>
            </a:r>
          </a:p>
        </p:txBody>
      </p:sp>
      <p:sp>
        <p:nvSpPr>
          <p:cNvPr id="9" name="">
            <a:extLst xmlns:a="http://schemas.openxmlformats.org/drawingml/2006/main">
              <a:ext uri="{FF2B5EF4-FFF2-40B4-BE49-F238E27FC236}">
                <a16:creationId xmlns:a16="http://schemas.microsoft.com/office/drawing/2014/main" id="{E21BDD48-477C-4279-B33C-B77AD438ACA8}"/>
              </a:ext>
            </a:extLst>
          </p:cNvPr>
          <p:cNvSpPr>
            <a:spLocks xmlns:a="http://schemas.openxmlformats.org/drawingml/2006/main" noGrp="1"/>
          </p:cNvSpPr>
          <p:nvPr/>
        </p:nvSpPr>
        <p:spPr>
          <a:xfrm xmlns:a="http://schemas.openxmlformats.org/drawingml/2006/main">
            <a:off x="838200" y="3143250"/>
            <a:ext cx="6286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54000" indent="-127000" algn="l">
              <a:spcAft>
                <a:spcPts val="1100"/>
              </a:spcAft>
              <a:buChar char="•"/>
              <a:defRPr sz="1575" b="0">
                <a:solidFill>
                  <a:srgbClr val="132433"/>
                </a:solidFill>
                <a:latin typeface="Calibri"/>
                <a:ea typeface="Calibri"/>
                <a:cs typeface="Calibri"/>
              </a:defRPr>
            </a:pPr>
            <a:r>
              <a:rPr sz="1575" b="0">
                <a:solidFill>
                  <a:srgbClr val="132433"/>
                </a:solidFill>
                <a:latin typeface="Calibri"/>
                <a:ea typeface="Calibri"/>
                <a:cs typeface="Calibri"/>
              </a:rPr>
              <a:t>Aligned five-batch prediction and warning evaluation</a:t>
            </a:r>
          </a:p>
          <a:p xmlns:a="http://schemas.openxmlformats.org/drawingml/2006/main">
            <a:pPr marL="254000" indent="-127000" algn="l">
              <a:spcAft>
                <a:spcPts val="1100"/>
              </a:spcAft>
              <a:buChar char="•"/>
              <a:defRPr sz="1575" b="0">
                <a:solidFill>
                  <a:srgbClr val="132433"/>
                </a:solidFill>
                <a:latin typeface="Calibri"/>
                <a:ea typeface="Calibri"/>
                <a:cs typeface="Calibri"/>
              </a:defRPr>
            </a:pPr>
            <a:r>
              <a:rPr sz="1575" b="0">
                <a:solidFill>
                  <a:srgbClr val="132433"/>
                </a:solidFill>
                <a:latin typeface="Calibri"/>
                <a:ea typeface="Calibri"/>
                <a:cs typeface="Calibri"/>
              </a:rPr>
              <a:t>Direct temporal models versus current-vector baseline</a:t>
            </a:r>
          </a:p>
          <a:p xmlns:a="http://schemas.openxmlformats.org/drawingml/2006/main">
            <a:pPr marL="254000" indent="-127000" algn="l">
              <a:spcAft>
                <a:spcPts val="1100"/>
              </a:spcAft>
              <a:buChar char="•"/>
              <a:defRPr sz="1575" b="0">
                <a:solidFill>
                  <a:srgbClr val="132433"/>
                </a:solidFill>
                <a:latin typeface="Calibri"/>
                <a:ea typeface="Calibri"/>
                <a:cs typeface="Calibri"/>
              </a:defRPr>
            </a:pPr>
            <a:r>
              <a:rPr sz="1575" b="0">
                <a:solidFill>
                  <a:srgbClr val="132433"/>
                </a:solidFill>
                <a:latin typeface="Calibri"/>
                <a:ea typeface="Calibri"/>
                <a:cs typeface="Calibri"/>
              </a:rPr>
              <a:t>Strict event metrics with false-alarm and missed-drift cost</a:t>
            </a:r>
          </a:p>
          <a:p xmlns:a="http://schemas.openxmlformats.org/drawingml/2006/main">
            <a:pPr marL="254000" indent="-127000" algn="l">
              <a:spcAft>
                <a:spcPts val="1100"/>
              </a:spcAft>
              <a:buChar char="•"/>
              <a:defRPr sz="1575" b="0">
                <a:solidFill>
                  <a:srgbClr val="132433"/>
                </a:solidFill>
                <a:latin typeface="Calibri"/>
                <a:ea typeface="Calibri"/>
                <a:cs typeface="Calibri"/>
              </a:defRPr>
            </a:pPr>
            <a:r>
              <a:rPr sz="1575" b="0">
                <a:solidFill>
                  <a:srgbClr val="132433"/>
                </a:solidFill>
                <a:latin typeface="Calibri"/>
                <a:ea typeface="Calibri"/>
                <a:cs typeface="Calibri"/>
              </a:rPr>
              <a:t>Causal alert-triggered adaptation replay</a:t>
            </a:r>
          </a:p>
          <a:p xmlns:a="http://schemas.openxmlformats.org/drawingml/2006/main">
            <a:pPr marL="254000" indent="-127000" algn="l">
              <a:spcAft>
                <a:spcPts val="1100"/>
              </a:spcAft>
              <a:buChar char="•"/>
              <a:defRPr sz="1575" b="0">
                <a:solidFill>
                  <a:srgbClr val="132433"/>
                </a:solidFill>
                <a:latin typeface="Calibri"/>
                <a:ea typeface="Calibri"/>
                <a:cs typeface="Calibri"/>
              </a:defRPr>
            </a:pPr>
            <a:r>
              <a:rPr sz="1575" b="0">
                <a:solidFill>
                  <a:srgbClr val="132433"/>
                </a:solidFill>
                <a:latin typeface="Calibri"/>
                <a:ea typeface="Calibri"/>
                <a:cs typeface="Calibri"/>
              </a:rPr>
              <a:t>Audited reproducible benchmark and interactive artifact</a:t>
            </a:r>
          </a:p>
        </p:txBody>
      </p:sp>
      <p:sp>
        <p:nvSpPr>
          <p:cNvPr id="10" name="">
            <a:extLst xmlns:a="http://schemas.openxmlformats.org/drawingml/2006/main">
              <a:ext uri="{FF2B5EF4-FFF2-40B4-BE49-F238E27FC236}">
                <a16:creationId xmlns:a16="http://schemas.microsoft.com/office/drawing/2014/main" id="{6439E3B4-38F8-4589-9621-C323F97CE149}"/>
              </a:ext>
            </a:extLst>
          </p:cNvPr>
          <p:cNvSpPr>
            <a:spLocks xmlns:a="http://schemas.openxmlformats.org/drawingml/2006/main" noGrp="1"/>
          </p:cNvSpPr>
          <p:nvPr/>
        </p:nvSpPr>
        <p:spPr>
          <a:xfrm xmlns:a="http://schemas.openxmlformats.org/drawingml/2006/main">
            <a:off x="7810500" y="1666875"/>
            <a:ext cx="3238500" cy="3476625"/>
          </a:xfrm>
          <a:prstGeom xmlns:a="http://schemas.openxmlformats.org/drawingml/2006/main" prst="roundRect">
            <a:avLst>
              <a:gd name="adj" fmla="val 2353"/>
            </a:avLst>
          </a:prstGeom>
          <a:solidFill xmlns:a="http://schemas.openxmlformats.org/drawingml/2006/main">
            <a:srgbClr val="0D2638"/>
          </a:solidFill>
          <a:ln xmlns:a="http://schemas.openxmlformats.org/drawingml/2006/main" w="9525">
            <a:solidFill>
              <a:srgbClr val="0D2638"/>
            </a:solidFill>
          </a:ln>
        </p:spPr>
      </p:sp>
      <p:sp>
        <p:nvSpPr>
          <p:cNvPr id="11" name="">
            <a:extLst xmlns:a="http://schemas.openxmlformats.org/drawingml/2006/main">
              <a:ext uri="{FF2B5EF4-FFF2-40B4-BE49-F238E27FC236}">
                <a16:creationId xmlns:a16="http://schemas.microsoft.com/office/drawing/2014/main" id="{6754E6B0-3D30-4017-A639-7C72036850FB}"/>
              </a:ext>
            </a:extLst>
          </p:cNvPr>
          <p:cNvSpPr>
            <a:spLocks xmlns:a="http://schemas.openxmlformats.org/drawingml/2006/main" noGrp="1"/>
          </p:cNvSpPr>
          <p:nvPr/>
        </p:nvSpPr>
        <p:spPr>
          <a:xfrm xmlns:a="http://schemas.openxmlformats.org/drawingml/2006/main">
            <a:off x="8191500" y="20383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275" b="1">
                <a:solidFill>
                  <a:srgbClr val="27C7D1"/>
                </a:solidFill>
                <a:latin typeface="Calibri"/>
                <a:ea typeface="Calibri"/>
                <a:cs typeface="Calibri"/>
              </a:defRPr>
            </a:pPr>
            <a:r>
              <a:rPr sz="1275" b="1">
                <a:solidFill>
                  <a:srgbClr val="27C7D1"/>
                </a:solidFill>
                <a:latin typeface="Calibri"/>
                <a:ea typeface="Calibri"/>
                <a:cs typeface="Calibri"/>
              </a:rPr>
              <a:t>Selected target</a:t>
            </a:r>
          </a:p>
        </p:txBody>
      </p:sp>
      <p:sp>
        <p:nvSpPr>
          <p:cNvPr id="12" name="">
            <a:extLst xmlns:a="http://schemas.openxmlformats.org/drawingml/2006/main">
              <a:ext uri="{FF2B5EF4-FFF2-40B4-BE49-F238E27FC236}">
                <a16:creationId xmlns:a16="http://schemas.microsoft.com/office/drawing/2014/main" id="{CB7FC29E-3661-4AAA-A394-01B70D2D4DCA}"/>
              </a:ext>
            </a:extLst>
          </p:cNvPr>
          <p:cNvSpPr>
            <a:spLocks xmlns:a="http://schemas.openxmlformats.org/drawingml/2006/main" noGrp="1"/>
          </p:cNvSpPr>
          <p:nvPr/>
        </p:nvSpPr>
        <p:spPr>
          <a:xfrm xmlns:a="http://schemas.openxmlformats.org/drawingml/2006/main">
            <a:off x="8096250" y="253365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2400" b="1">
                <a:solidFill>
                  <a:srgbClr val="FFFFFF"/>
                </a:solidFill>
                <a:latin typeface="Calibri"/>
                <a:ea typeface="Calibri"/>
                <a:cs typeface="Calibri"/>
              </a:defRPr>
            </a:pPr>
            <a:r>
              <a:rPr sz="2400" b="1">
                <a:solidFill>
                  <a:srgbClr val="FFFFFF"/>
                </a:solidFill>
                <a:latin typeface="Calibri"/>
                <a:ea typeface="Calibri"/>
                <a:cs typeface="Calibri"/>
              </a:rPr>
              <a:t>ICoICC 2027</a:t>
            </a:r>
          </a:p>
        </p:txBody>
      </p:sp>
      <p:sp>
        <p:nvSpPr>
          <p:cNvPr id="13" name="">
            <a:extLst xmlns:a="http://schemas.openxmlformats.org/drawingml/2006/main">
              <a:ext uri="{FF2B5EF4-FFF2-40B4-BE49-F238E27FC236}">
                <a16:creationId xmlns:a16="http://schemas.microsoft.com/office/drawing/2014/main" id="{4A24DAE0-9CBA-4B1C-8D64-1A36B5085B0A}"/>
              </a:ext>
            </a:extLst>
          </p:cNvPr>
          <p:cNvSpPr>
            <a:spLocks xmlns:a="http://schemas.openxmlformats.org/drawingml/2006/main" noGrp="1"/>
          </p:cNvSpPr>
          <p:nvPr/>
        </p:nvSpPr>
        <p:spPr>
          <a:xfrm xmlns:a="http://schemas.openxmlformats.org/drawingml/2006/main">
            <a:off x="8153400" y="3105150"/>
            <a:ext cx="2552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500" b="0">
                <a:solidFill>
                  <a:srgbClr val="D8E7EF"/>
                </a:solidFill>
                <a:latin typeface="Calibri"/>
                <a:ea typeface="Calibri"/>
                <a:cs typeface="Calibri"/>
              </a:defRPr>
            </a:pPr>
            <a:r>
              <a:rPr sz="1500" b="0">
                <a:solidFill>
                  <a:srgbClr val="D8E7EF"/>
                </a:solidFill>
                <a:latin typeface="Calibri"/>
                <a:ea typeface="Calibri"/>
                <a:cs typeface="Calibri"/>
              </a:rPr>
              <a:t>4th International Conference on Intelligent and Cloud Computing</a:t>
            </a:r>
          </a:p>
        </p:txBody>
      </p:sp>
      <p:sp>
        <p:nvSpPr>
          <p:cNvPr id="14" name="">
            <a:extLst xmlns:a="http://schemas.openxmlformats.org/drawingml/2006/main">
              <a:ext uri="{FF2B5EF4-FFF2-40B4-BE49-F238E27FC236}">
                <a16:creationId xmlns:a16="http://schemas.microsoft.com/office/drawing/2014/main" id="{2D5FE9AF-70A9-4478-989B-2F36FAC742D5}"/>
              </a:ext>
            </a:extLst>
          </p:cNvPr>
          <p:cNvSpPr>
            <a:spLocks xmlns:a="http://schemas.openxmlformats.org/drawingml/2006/main" noGrp="1"/>
          </p:cNvSpPr>
          <p:nvPr/>
        </p:nvSpPr>
        <p:spPr>
          <a:xfrm xmlns:a="http://schemas.openxmlformats.org/drawingml/2006/main">
            <a:off x="8191500" y="419100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95936"/>
          </a:bodyPr>
          <a:lstStyle xmlns:a="http://schemas.openxmlformats.org/drawingml/2006/main"/>
          <a:p xmlns:a="http://schemas.openxmlformats.org/drawingml/2006/main">
            <a:pPr algn="ctr">
              <a:defRPr sz="1350" b="1">
                <a:solidFill>
                  <a:srgbClr val="F1A33C"/>
                </a:solidFill>
                <a:latin typeface="Calibri"/>
                <a:ea typeface="Calibri"/>
                <a:cs typeface="Calibri"/>
              </a:defRPr>
            </a:pPr>
            <a:r>
              <a:rPr sz="1350" b="1">
                <a:solidFill>
                  <a:srgbClr val="F1A33C"/>
                </a:solidFill>
                <a:latin typeface="Calibri"/>
                <a:ea typeface="Calibri"/>
                <a:cs typeface="Calibri"/>
              </a:rPr>
              <a:t>IEEE technical co-sponsorship</a:t>
            </a:r>
          </a:p>
          <a:p xmlns:a="http://schemas.openxmlformats.org/drawingml/2006/main">
            <a:pPr algn="ctr">
              <a:defRPr sz="1350" b="1">
                <a:solidFill>
                  <a:srgbClr val="F1A33C"/>
                </a:solidFill>
                <a:latin typeface="Calibri"/>
                <a:ea typeface="Calibri"/>
                <a:cs typeface="Calibri"/>
              </a:defRPr>
            </a:pPr>
            <a:r>
              <a:rPr sz="1350" b="1">
                <a:solidFill>
                  <a:srgbClr val="F1A33C"/>
                </a:solidFill>
                <a:latin typeface="Calibri"/>
                <a:ea typeface="Calibri"/>
                <a:cs typeface="Calibri"/>
              </a:rPr>
              <a:t>Paper deadline: 31 Jan 2027</a:t>
            </a:r>
          </a:p>
        </p:txBody>
      </p:sp>
      <p:sp>
        <p:nvSpPr>
          <p:cNvPr id="15" name="">
            <a:extLst xmlns:a="http://schemas.openxmlformats.org/drawingml/2006/main">
              <a:ext uri="{FF2B5EF4-FFF2-40B4-BE49-F238E27FC236}">
                <a16:creationId xmlns:a16="http://schemas.microsoft.com/office/drawing/2014/main" id="{45DE7A65-6ED1-4557-BED9-F3C53EBEE943}"/>
              </a:ext>
            </a:extLst>
          </p:cNvPr>
          <p:cNvSpPr>
            <a:spLocks xmlns:a="http://schemas.openxmlformats.org/drawingml/2006/main" noGrp="1"/>
          </p:cNvSpPr>
          <p:nvPr/>
        </p:nvSpPr>
        <p:spPr>
          <a:xfrm xmlns:a="http://schemas.openxmlformats.org/drawingml/2006/main">
            <a:off x="1238250" y="5905500"/>
            <a:ext cx="971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275" b="1">
                <a:solidFill>
                  <a:srgbClr val="CF3F4B"/>
                </a:solidFill>
                <a:latin typeface="Calibri"/>
                <a:ea typeface="Calibri"/>
                <a:cs typeface="Calibri"/>
              </a:defRPr>
            </a:pPr>
            <a:r>
              <a:rPr sz="1275" b="1">
                <a:solidFill>
                  <a:srgbClr val="CF3F4B"/>
                </a:solidFill>
                <a:latin typeface="Calibri"/>
                <a:ea typeface="Calibri"/>
                <a:cs typeface="Calibri"/>
              </a:rPr>
              <a:t>Planned only - not submitted or accepted</a:t>
            </a:r>
          </a:p>
        </p:txBody>
      </p:sp>
    </p:spTree>
    <p:extLst>
      <p:ext uri="{BB962C8B-B14F-4D97-AF65-F5344CB8AC3E}">
        <p14:creationId xmlns:p14="http://schemas.microsoft.com/office/powerpoint/2010/main" val="2104644029"/>
      </p:ext>
    </p:extLst>
  </p:cSld>
</p:sld>
</file>

<file path=ppt/slides/slide1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BBBFC4C-7A6C-4B8B-960F-1A8EA266B37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7C7D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8131F9-841D-4770-8F89-9176E9CFA85D}"/>
              </a:ext>
            </a:extLst>
          </p:cNvPr>
          <p:cNvSpPr>
            <a:spLocks xmlns:a="http://schemas.openxmlformats.org/drawingml/2006/main" noGrp="1"/>
          </p:cNvSpPr>
          <p:nvPr/>
        </p:nvSpPr>
        <p:spPr>
          <a:xfrm xmlns:a="http://schemas.openxmlformats.org/drawingml/2006/main">
            <a:off x="609600" y="2667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75" b="1">
                <a:solidFill>
                  <a:srgbClr val="0E8A92"/>
                </a:solidFill>
                <a:latin typeface="Calibri"/>
                <a:ea typeface="Calibri"/>
                <a:cs typeface="Calibri"/>
              </a:defRPr>
            </a:pPr>
            <a:r>
              <a:rPr sz="975" b="1">
                <a:solidFill>
                  <a:srgbClr val="0E8A92"/>
                </a:solidFill>
                <a:latin typeface="Calibri"/>
                <a:ea typeface="Calibri"/>
                <a:cs typeface="Calibri"/>
              </a:rPr>
              <a:t>COMMUNICATION TIMELINE</a:t>
            </a:r>
          </a:p>
        </p:txBody>
      </p:sp>
      <p:sp>
        <p:nvSpPr>
          <p:cNvPr id="3" name="">
            <a:extLst xmlns:a="http://schemas.openxmlformats.org/drawingml/2006/main">
              <a:ext uri="{FF2B5EF4-FFF2-40B4-BE49-F238E27FC236}">
                <a16:creationId xmlns:a16="http://schemas.microsoft.com/office/drawing/2014/main" id="{30315C47-F41E-48E8-BEC1-E8BF36166CB6}"/>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2550" b="1">
                <a:solidFill>
                  <a:srgbClr val="132433"/>
                </a:solidFill>
                <a:latin typeface="Calibri"/>
                <a:ea typeface="Calibri"/>
                <a:cs typeface="Calibri"/>
              </a:defRPr>
            </a:pPr>
            <a:r>
              <a:rPr sz="2550" b="1">
                <a:solidFill>
                  <a:srgbClr val="132433"/>
                </a:solidFill>
                <a:latin typeface="Calibri"/>
                <a:ea typeface="Calibri"/>
                <a:cs typeface="Calibri"/>
              </a:rPr>
              <a:t>Tangible Outcome Plan</a:t>
            </a:r>
          </a:p>
        </p:txBody>
      </p:sp>
      <p:sp>
        <p:nvSpPr>
          <p:cNvPr id="4" name="">
            <a:extLst xmlns:a="http://schemas.openxmlformats.org/drawingml/2006/main">
              <a:ext uri="{FF2B5EF4-FFF2-40B4-BE49-F238E27FC236}">
                <a16:creationId xmlns:a16="http://schemas.microsoft.com/office/drawing/2014/main" id="{7307166F-CB3E-4B91-8EC8-F64157574345}"/>
              </a:ext>
            </a:extLst>
          </p:cNvPr>
          <p:cNvSpPr>
            <a:spLocks xmlns:a="http://schemas.openxmlformats.org/drawingml/2006/main" noGrp="1"/>
          </p:cNvSpPr>
          <p:nvPr/>
        </p:nvSpPr>
        <p:spPr>
          <a:xfrm xmlns:a="http://schemas.openxmlformats.org/drawingml/2006/main">
            <a:off x="11334750" y="62674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r">
              <a:defRPr sz="975" b="0">
                <a:solidFill>
                  <a:srgbClr val="5C6B77"/>
                </a:solidFill>
                <a:latin typeface="Calibri"/>
                <a:ea typeface="Calibri"/>
                <a:cs typeface="Calibri"/>
              </a:defRPr>
            </a:pPr>
            <a:r>
              <a:rPr sz="975" b="0">
                <a:solidFill>
                  <a:srgbClr val="5C6B77"/>
                </a:solidFill>
                <a:latin typeface="Calibri"/>
                <a:ea typeface="Calibri"/>
                <a:cs typeface="Calibri"/>
              </a:rPr>
              <a:t>14</a:t>
            </a:r>
          </a:p>
        </p:txBody>
      </p:sp>
      <p:sp>
        <p:nvSpPr>
          <p:cNvPr id="5" name="">
            <a:extLst xmlns:a="http://schemas.openxmlformats.org/drawingml/2006/main">
              <a:ext uri="{FF2B5EF4-FFF2-40B4-BE49-F238E27FC236}">
                <a16:creationId xmlns:a16="http://schemas.microsoft.com/office/drawing/2014/main" id="{FB2834C4-12C7-4347-B813-1AB9C3DDE6A3}"/>
              </a:ext>
            </a:extLst>
          </p:cNvPr>
          <p:cNvSpPr>
            <a:spLocks xmlns:a="http://schemas.openxmlformats.org/drawingml/2006/main" noGrp="1"/>
          </p:cNvSpPr>
          <p:nvPr/>
        </p:nvSpPr>
        <p:spPr>
          <a:xfrm xmlns:a="http://schemas.openxmlformats.org/drawingml/2006/main">
            <a:off x="609600" y="62674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00" b="0">
                <a:solidFill>
                  <a:srgbClr val="5C6B77"/>
                </a:solidFill>
                <a:latin typeface="Calibri"/>
                <a:ea typeface="Calibri"/>
                <a:cs typeface="Calibri"/>
              </a:defRPr>
            </a:pPr>
            <a:r>
              <a:rPr sz="900" b="0">
                <a:solidFill>
                  <a:srgbClr val="5C6B77"/>
                </a:solidFill>
                <a:latin typeface="Calibri"/>
                <a:ea typeface="Calibri"/>
                <a:cs typeface="Calibri"/>
              </a:rPr>
              <a:t>DriftSentinel  |  Review 2</a:t>
            </a:r>
          </a:p>
        </p:txBody>
      </p:sp>
      <p:sp>
        <p:nvSpPr>
          <p:cNvPr id="6" name="">
            <a:extLst xmlns:a="http://schemas.openxmlformats.org/drawingml/2006/main">
              <a:ext uri="{FF2B5EF4-FFF2-40B4-BE49-F238E27FC236}">
                <a16:creationId xmlns:a16="http://schemas.microsoft.com/office/drawing/2014/main" id="{D24D31F8-4E73-4072-B8CF-0AAD765FC920}"/>
              </a:ext>
            </a:extLst>
          </p:cNvPr>
          <p:cNvSpPr>
            <a:spLocks xmlns:a="http://schemas.openxmlformats.org/drawingml/2006/main" noGrp="1"/>
          </p:cNvSpPr>
          <p:nvPr/>
        </p:nvSpPr>
        <p:spPr>
          <a:xfrm xmlns:a="http://schemas.openxmlformats.org/drawingml/2006/main">
            <a:off x="1333500" y="2000250"/>
            <a:ext cx="9334500" cy="0"/>
          </a:xfrm>
          <a:prstGeom xmlns:a="http://schemas.openxmlformats.org/drawingml/2006/main" prst="line">
            <a:avLst/>
          </a:prstGeom>
          <a:ln xmlns:a="http://schemas.openxmlformats.org/drawingml/2006/main" w="47625">
            <a:solidFill>
              <a:srgbClr val="C9D4DC"/>
            </a:solidFill>
          </a:ln>
        </p:spPr>
      </p:sp>
      <p:sp>
        <p:nvSpPr>
          <p:cNvPr id="7" name="">
            <a:extLst xmlns:a="http://schemas.openxmlformats.org/drawingml/2006/main">
              <a:ext uri="{FF2B5EF4-FFF2-40B4-BE49-F238E27FC236}">
                <a16:creationId xmlns:a16="http://schemas.microsoft.com/office/drawing/2014/main" id="{8D079847-F81C-46E9-82B9-2F0F1C0B56DA}"/>
              </a:ext>
            </a:extLst>
          </p:cNvPr>
          <p:cNvSpPr>
            <a:spLocks xmlns:a="http://schemas.openxmlformats.org/drawingml/2006/main" noGrp="1"/>
          </p:cNvSpPr>
          <p:nvPr/>
        </p:nvSpPr>
        <p:spPr>
          <a:xfrm xmlns:a="http://schemas.openxmlformats.org/drawingml/2006/main">
            <a:off x="1409700" y="1847850"/>
            <a:ext cx="304800" cy="304800"/>
          </a:xfrm>
          <a:prstGeom xmlns:a="http://schemas.openxmlformats.org/drawingml/2006/main" prst="ellipse">
            <a:avLst/>
          </a:prstGeom>
          <a:solidFill xmlns:a="http://schemas.openxmlformats.org/drawingml/2006/main">
            <a:srgbClr val="0E8A92"/>
          </a:solidFill>
          <a:ln xmlns:a="http://schemas.openxmlformats.org/drawingml/2006/main" w="28575">
            <a:solidFill>
              <a:srgbClr val="FFFFFF"/>
            </a:solidFill>
          </a:ln>
        </p:spPr>
      </p:sp>
      <p:sp>
        <p:nvSpPr>
          <p:cNvPr id="8" name="">
            <a:extLst xmlns:a="http://schemas.openxmlformats.org/drawingml/2006/main">
              <a:ext uri="{FF2B5EF4-FFF2-40B4-BE49-F238E27FC236}">
                <a16:creationId xmlns:a16="http://schemas.microsoft.com/office/drawing/2014/main" id="{18A01859-3286-44EC-A0CD-274FFDA9486F}"/>
              </a:ext>
            </a:extLst>
          </p:cNvPr>
          <p:cNvSpPr>
            <a:spLocks xmlns:a="http://schemas.openxmlformats.org/drawingml/2006/main" noGrp="1"/>
          </p:cNvSpPr>
          <p:nvPr/>
        </p:nvSpPr>
        <p:spPr>
          <a:xfrm xmlns:a="http://schemas.openxmlformats.org/drawingml/2006/main">
            <a:off x="857250" y="13525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275" b="1">
                <a:solidFill>
                  <a:srgbClr val="0E8A92"/>
                </a:solidFill>
                <a:latin typeface="Calibri"/>
                <a:ea typeface="Calibri"/>
                <a:cs typeface="Calibri"/>
              </a:defRPr>
            </a:pPr>
            <a:r>
              <a:rPr sz="1275" b="1">
                <a:solidFill>
                  <a:srgbClr val="0E8A92"/>
                </a:solidFill>
                <a:latin typeface="Calibri"/>
                <a:ea typeface="Calibri"/>
                <a:cs typeface="Calibri"/>
              </a:rPr>
              <a:t>Sep 2026</a:t>
            </a:r>
          </a:p>
        </p:txBody>
      </p:sp>
      <p:sp>
        <p:nvSpPr>
          <p:cNvPr id="9" name="">
            <a:extLst xmlns:a="http://schemas.openxmlformats.org/drawingml/2006/main">
              <a:ext uri="{FF2B5EF4-FFF2-40B4-BE49-F238E27FC236}">
                <a16:creationId xmlns:a16="http://schemas.microsoft.com/office/drawing/2014/main" id="{90A1304D-12F1-4FD7-A5E4-BF3087637ED0}"/>
              </a:ext>
            </a:extLst>
          </p:cNvPr>
          <p:cNvSpPr>
            <a:spLocks xmlns:a="http://schemas.openxmlformats.org/drawingml/2006/main" noGrp="1"/>
          </p:cNvSpPr>
          <p:nvPr/>
        </p:nvSpPr>
        <p:spPr>
          <a:xfrm xmlns:a="http://schemas.openxmlformats.org/drawingml/2006/main">
            <a:off x="857250" y="2457450"/>
            <a:ext cx="142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425" b="1">
                <a:solidFill>
                  <a:srgbClr val="132433"/>
                </a:solidFill>
                <a:latin typeface="Calibri"/>
                <a:ea typeface="Calibri"/>
                <a:cs typeface="Calibri"/>
              </a:defRPr>
            </a:pPr>
            <a:r>
              <a:rPr sz="1425" b="1">
                <a:solidFill>
                  <a:srgbClr val="132433"/>
                </a:solidFill>
                <a:latin typeface="Calibri"/>
                <a:ea typeface="Calibri"/>
                <a:cs typeface="Calibri"/>
              </a:rPr>
              <a:t>Freeze evidence</a:t>
            </a:r>
          </a:p>
        </p:txBody>
      </p:sp>
      <p:sp>
        <p:nvSpPr>
          <p:cNvPr id="10" name="">
            <a:extLst xmlns:a="http://schemas.openxmlformats.org/drawingml/2006/main">
              <a:ext uri="{FF2B5EF4-FFF2-40B4-BE49-F238E27FC236}">
                <a16:creationId xmlns:a16="http://schemas.microsoft.com/office/drawing/2014/main" id="{6243B64D-F6F0-4A3B-B163-F5CCC9449086}"/>
              </a:ext>
            </a:extLst>
          </p:cNvPr>
          <p:cNvSpPr>
            <a:spLocks xmlns:a="http://schemas.openxmlformats.org/drawingml/2006/main" noGrp="1"/>
          </p:cNvSpPr>
          <p:nvPr/>
        </p:nvSpPr>
        <p:spPr>
          <a:xfrm xmlns:a="http://schemas.openxmlformats.org/drawingml/2006/main">
            <a:off x="857250" y="3028950"/>
            <a:ext cx="142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200" b="0">
                <a:solidFill>
                  <a:srgbClr val="5C6B77"/>
                </a:solidFill>
                <a:latin typeface="Calibri"/>
                <a:ea typeface="Calibri"/>
                <a:cs typeface="Calibri"/>
              </a:defRPr>
            </a:pPr>
            <a:r>
              <a:rPr sz="1200" b="0">
                <a:solidFill>
                  <a:srgbClr val="5C6B77"/>
                </a:solidFill>
                <a:latin typeface="Calibri"/>
                <a:ea typeface="Calibri"/>
                <a:cs typeface="Calibri"/>
              </a:rPr>
              <a:t>Confirm final metrics, figures, repository and author list</a:t>
            </a:r>
          </a:p>
        </p:txBody>
      </p:sp>
      <p:sp>
        <p:nvSpPr>
          <p:cNvPr id="11" name="">
            <a:extLst xmlns:a="http://schemas.openxmlformats.org/drawingml/2006/main">
              <a:ext uri="{FF2B5EF4-FFF2-40B4-BE49-F238E27FC236}">
                <a16:creationId xmlns:a16="http://schemas.microsoft.com/office/drawing/2014/main" id="{27B141B9-DCAD-46B7-842C-8AB26584A9AE}"/>
              </a:ext>
            </a:extLst>
          </p:cNvPr>
          <p:cNvSpPr>
            <a:spLocks xmlns:a="http://schemas.openxmlformats.org/drawingml/2006/main" noGrp="1"/>
          </p:cNvSpPr>
          <p:nvPr/>
        </p:nvSpPr>
        <p:spPr>
          <a:xfrm xmlns:a="http://schemas.openxmlformats.org/drawingml/2006/main">
            <a:off x="3219450" y="1847850"/>
            <a:ext cx="304800" cy="304800"/>
          </a:xfrm>
          <a:prstGeom xmlns:a="http://schemas.openxmlformats.org/drawingml/2006/main" prst="ellipse">
            <a:avLst/>
          </a:prstGeom>
          <a:solidFill xmlns:a="http://schemas.openxmlformats.org/drawingml/2006/main">
            <a:srgbClr val="0E8A92"/>
          </a:solidFill>
          <a:ln xmlns:a="http://schemas.openxmlformats.org/drawingml/2006/main" w="28575">
            <a:solidFill>
              <a:srgbClr val="FFFFFF"/>
            </a:solidFill>
          </a:ln>
        </p:spPr>
      </p:sp>
      <p:sp>
        <p:nvSpPr>
          <p:cNvPr id="12" name="">
            <a:extLst xmlns:a="http://schemas.openxmlformats.org/drawingml/2006/main">
              <a:ext uri="{FF2B5EF4-FFF2-40B4-BE49-F238E27FC236}">
                <a16:creationId xmlns:a16="http://schemas.microsoft.com/office/drawing/2014/main" id="{A895FB45-5670-46B9-8761-A75F56E91384}"/>
              </a:ext>
            </a:extLst>
          </p:cNvPr>
          <p:cNvSpPr>
            <a:spLocks xmlns:a="http://schemas.openxmlformats.org/drawingml/2006/main" noGrp="1"/>
          </p:cNvSpPr>
          <p:nvPr/>
        </p:nvSpPr>
        <p:spPr>
          <a:xfrm xmlns:a="http://schemas.openxmlformats.org/drawingml/2006/main">
            <a:off x="2667000" y="13525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275" b="1">
                <a:solidFill>
                  <a:srgbClr val="0E8A92"/>
                </a:solidFill>
                <a:latin typeface="Calibri"/>
                <a:ea typeface="Calibri"/>
                <a:cs typeface="Calibri"/>
              </a:defRPr>
            </a:pPr>
            <a:r>
              <a:rPr sz="1275" b="1">
                <a:solidFill>
                  <a:srgbClr val="0E8A92"/>
                </a:solidFill>
                <a:latin typeface="Calibri"/>
                <a:ea typeface="Calibri"/>
                <a:cs typeface="Calibri"/>
              </a:rPr>
              <a:t>Oct 2026</a:t>
            </a:r>
          </a:p>
        </p:txBody>
      </p:sp>
      <p:sp>
        <p:nvSpPr>
          <p:cNvPr id="13" name="">
            <a:extLst xmlns:a="http://schemas.openxmlformats.org/drawingml/2006/main">
              <a:ext uri="{FF2B5EF4-FFF2-40B4-BE49-F238E27FC236}">
                <a16:creationId xmlns:a16="http://schemas.microsoft.com/office/drawing/2014/main" id="{FED0DA0A-E179-44EB-A17D-0AF8CECF45ED}"/>
              </a:ext>
            </a:extLst>
          </p:cNvPr>
          <p:cNvSpPr>
            <a:spLocks xmlns:a="http://schemas.openxmlformats.org/drawingml/2006/main" noGrp="1"/>
          </p:cNvSpPr>
          <p:nvPr/>
        </p:nvSpPr>
        <p:spPr>
          <a:xfrm xmlns:a="http://schemas.openxmlformats.org/drawingml/2006/main">
            <a:off x="2667000" y="2457450"/>
            <a:ext cx="142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425" b="1">
                <a:solidFill>
                  <a:srgbClr val="132433"/>
                </a:solidFill>
                <a:latin typeface="Calibri"/>
                <a:ea typeface="Calibri"/>
                <a:cs typeface="Calibri"/>
              </a:defRPr>
            </a:pPr>
            <a:r>
              <a:rPr sz="1425" b="1">
                <a:solidFill>
                  <a:srgbClr val="132433"/>
                </a:solidFill>
                <a:latin typeface="Calibri"/>
                <a:ea typeface="Calibri"/>
                <a:cs typeface="Calibri"/>
              </a:rPr>
              <a:t>Complete manuscript</a:t>
            </a:r>
          </a:p>
        </p:txBody>
      </p:sp>
      <p:sp>
        <p:nvSpPr>
          <p:cNvPr id="14" name="">
            <a:extLst xmlns:a="http://schemas.openxmlformats.org/drawingml/2006/main">
              <a:ext uri="{FF2B5EF4-FFF2-40B4-BE49-F238E27FC236}">
                <a16:creationId xmlns:a16="http://schemas.microsoft.com/office/drawing/2014/main" id="{E8398169-7EEF-4585-9F0C-46D9949FF6B6}"/>
              </a:ext>
            </a:extLst>
          </p:cNvPr>
          <p:cNvSpPr>
            <a:spLocks xmlns:a="http://schemas.openxmlformats.org/drawingml/2006/main" noGrp="1"/>
          </p:cNvSpPr>
          <p:nvPr/>
        </p:nvSpPr>
        <p:spPr>
          <a:xfrm xmlns:a="http://schemas.openxmlformats.org/drawingml/2006/main">
            <a:off x="2667000" y="3028950"/>
            <a:ext cx="142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200" b="0">
                <a:solidFill>
                  <a:srgbClr val="5C6B77"/>
                </a:solidFill>
                <a:latin typeface="Calibri"/>
                <a:ea typeface="Calibri"/>
                <a:cs typeface="Calibri"/>
              </a:defRPr>
            </a:pPr>
            <a:r>
              <a:rPr sz="1200" b="0">
                <a:solidFill>
                  <a:srgbClr val="5C6B77"/>
                </a:solidFill>
                <a:latin typeface="Calibri"/>
                <a:ea typeface="Calibri"/>
                <a:cs typeface="Calibri"/>
              </a:rPr>
              <a:t>Draft IEEE-style paper and tighten related work</a:t>
            </a:r>
          </a:p>
        </p:txBody>
      </p:sp>
      <p:sp>
        <p:nvSpPr>
          <p:cNvPr id="15" name="">
            <a:extLst xmlns:a="http://schemas.openxmlformats.org/drawingml/2006/main">
              <a:ext uri="{FF2B5EF4-FFF2-40B4-BE49-F238E27FC236}">
                <a16:creationId xmlns:a16="http://schemas.microsoft.com/office/drawing/2014/main" id="{B84E6799-56B2-4309-ADDA-8FDE630C39F9}"/>
              </a:ext>
            </a:extLst>
          </p:cNvPr>
          <p:cNvSpPr>
            <a:spLocks xmlns:a="http://schemas.openxmlformats.org/drawingml/2006/main" noGrp="1"/>
          </p:cNvSpPr>
          <p:nvPr/>
        </p:nvSpPr>
        <p:spPr>
          <a:xfrm xmlns:a="http://schemas.openxmlformats.org/drawingml/2006/main">
            <a:off x="5029200" y="1847850"/>
            <a:ext cx="304800" cy="304800"/>
          </a:xfrm>
          <a:prstGeom xmlns:a="http://schemas.openxmlformats.org/drawingml/2006/main" prst="ellipse">
            <a:avLst/>
          </a:prstGeom>
          <a:solidFill xmlns:a="http://schemas.openxmlformats.org/drawingml/2006/main">
            <a:srgbClr val="0E8A92"/>
          </a:solidFill>
          <a:ln xmlns:a="http://schemas.openxmlformats.org/drawingml/2006/main" w="28575">
            <a:solidFill>
              <a:srgbClr val="FFFFFF"/>
            </a:solidFill>
          </a:ln>
        </p:spPr>
      </p:sp>
      <p:sp>
        <p:nvSpPr>
          <p:cNvPr id="16" name="">
            <a:extLst xmlns:a="http://schemas.openxmlformats.org/drawingml/2006/main">
              <a:ext uri="{FF2B5EF4-FFF2-40B4-BE49-F238E27FC236}">
                <a16:creationId xmlns:a16="http://schemas.microsoft.com/office/drawing/2014/main" id="{C2422CE7-CC88-4036-AC85-84E5E779D7F7}"/>
              </a:ext>
            </a:extLst>
          </p:cNvPr>
          <p:cNvSpPr>
            <a:spLocks xmlns:a="http://schemas.openxmlformats.org/drawingml/2006/main" noGrp="1"/>
          </p:cNvSpPr>
          <p:nvPr/>
        </p:nvSpPr>
        <p:spPr>
          <a:xfrm xmlns:a="http://schemas.openxmlformats.org/drawingml/2006/main">
            <a:off x="4476750" y="13525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275" b="1">
                <a:solidFill>
                  <a:srgbClr val="0E8A92"/>
                </a:solidFill>
                <a:latin typeface="Calibri"/>
                <a:ea typeface="Calibri"/>
                <a:cs typeface="Calibri"/>
              </a:defRPr>
            </a:pPr>
            <a:r>
              <a:rPr sz="1275" b="1">
                <a:solidFill>
                  <a:srgbClr val="0E8A92"/>
                </a:solidFill>
                <a:latin typeface="Calibri"/>
                <a:ea typeface="Calibri"/>
                <a:cs typeface="Calibri"/>
              </a:rPr>
              <a:t>Nov 2026</a:t>
            </a:r>
          </a:p>
        </p:txBody>
      </p:sp>
      <p:sp>
        <p:nvSpPr>
          <p:cNvPr id="17" name="">
            <a:extLst xmlns:a="http://schemas.openxmlformats.org/drawingml/2006/main">
              <a:ext uri="{FF2B5EF4-FFF2-40B4-BE49-F238E27FC236}">
                <a16:creationId xmlns:a16="http://schemas.microsoft.com/office/drawing/2014/main" id="{4594F811-1064-4412-8502-8DF3201A66FA}"/>
              </a:ext>
            </a:extLst>
          </p:cNvPr>
          <p:cNvSpPr>
            <a:spLocks xmlns:a="http://schemas.openxmlformats.org/drawingml/2006/main" noGrp="1"/>
          </p:cNvSpPr>
          <p:nvPr/>
        </p:nvSpPr>
        <p:spPr>
          <a:xfrm xmlns:a="http://schemas.openxmlformats.org/drawingml/2006/main">
            <a:off x="4476750" y="2457450"/>
            <a:ext cx="142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425" b="1">
                <a:solidFill>
                  <a:srgbClr val="132433"/>
                </a:solidFill>
                <a:latin typeface="Calibri"/>
                <a:ea typeface="Calibri"/>
                <a:cs typeface="Calibri"/>
              </a:defRPr>
            </a:pPr>
            <a:r>
              <a:rPr sz="1425" b="1">
                <a:solidFill>
                  <a:srgbClr val="132433"/>
                </a:solidFill>
                <a:latin typeface="Calibri"/>
                <a:ea typeface="Calibri"/>
                <a:cs typeface="Calibri"/>
              </a:rPr>
              <a:t>Faculty review</a:t>
            </a:r>
          </a:p>
        </p:txBody>
      </p:sp>
      <p:sp>
        <p:nvSpPr>
          <p:cNvPr id="18" name="">
            <a:extLst xmlns:a="http://schemas.openxmlformats.org/drawingml/2006/main">
              <a:ext uri="{FF2B5EF4-FFF2-40B4-BE49-F238E27FC236}">
                <a16:creationId xmlns:a16="http://schemas.microsoft.com/office/drawing/2014/main" id="{718C037D-0C8F-4567-9103-2986270E2D24}"/>
              </a:ext>
            </a:extLst>
          </p:cNvPr>
          <p:cNvSpPr>
            <a:spLocks xmlns:a="http://schemas.openxmlformats.org/drawingml/2006/main" noGrp="1"/>
          </p:cNvSpPr>
          <p:nvPr/>
        </p:nvSpPr>
        <p:spPr>
          <a:xfrm xmlns:a="http://schemas.openxmlformats.org/drawingml/2006/main">
            <a:off x="4476750" y="3028950"/>
            <a:ext cx="142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200" b="0">
                <a:solidFill>
                  <a:srgbClr val="5C6B77"/>
                </a:solidFill>
                <a:latin typeface="Calibri"/>
                <a:ea typeface="Calibri"/>
                <a:cs typeface="Calibri"/>
              </a:defRPr>
            </a:pPr>
            <a:r>
              <a:rPr sz="1200" b="0">
                <a:solidFill>
                  <a:srgbClr val="5C6B77"/>
                </a:solidFill>
                <a:latin typeface="Calibri"/>
                <a:ea typeface="Calibri"/>
                <a:cs typeface="Calibri"/>
              </a:rPr>
              <a:t>Internal technical review and venue fit decision</a:t>
            </a:r>
          </a:p>
        </p:txBody>
      </p:sp>
      <p:sp>
        <p:nvSpPr>
          <p:cNvPr id="19" name="">
            <a:extLst xmlns:a="http://schemas.openxmlformats.org/drawingml/2006/main">
              <a:ext uri="{FF2B5EF4-FFF2-40B4-BE49-F238E27FC236}">
                <a16:creationId xmlns:a16="http://schemas.microsoft.com/office/drawing/2014/main" id="{4FF03B77-A84A-4EDD-9F9A-3D7171B6718D}"/>
              </a:ext>
            </a:extLst>
          </p:cNvPr>
          <p:cNvSpPr>
            <a:spLocks xmlns:a="http://schemas.openxmlformats.org/drawingml/2006/main" noGrp="1"/>
          </p:cNvSpPr>
          <p:nvPr/>
        </p:nvSpPr>
        <p:spPr>
          <a:xfrm xmlns:a="http://schemas.openxmlformats.org/drawingml/2006/main">
            <a:off x="6838950" y="1847850"/>
            <a:ext cx="304800" cy="304800"/>
          </a:xfrm>
          <a:prstGeom xmlns:a="http://schemas.openxmlformats.org/drawingml/2006/main" prst="ellipse">
            <a:avLst/>
          </a:prstGeom>
          <a:solidFill xmlns:a="http://schemas.openxmlformats.org/drawingml/2006/main">
            <a:srgbClr val="0E8A92"/>
          </a:solidFill>
          <a:ln xmlns:a="http://schemas.openxmlformats.org/drawingml/2006/main" w="28575">
            <a:solidFill>
              <a:srgbClr val="FFFFFF"/>
            </a:solidFill>
          </a:ln>
        </p:spPr>
      </p:sp>
      <p:sp>
        <p:nvSpPr>
          <p:cNvPr id="20" name="">
            <a:extLst xmlns:a="http://schemas.openxmlformats.org/drawingml/2006/main">
              <a:ext uri="{FF2B5EF4-FFF2-40B4-BE49-F238E27FC236}">
                <a16:creationId xmlns:a16="http://schemas.microsoft.com/office/drawing/2014/main" id="{9C288B16-E04A-407D-9027-43216543A617}"/>
              </a:ext>
            </a:extLst>
          </p:cNvPr>
          <p:cNvSpPr>
            <a:spLocks xmlns:a="http://schemas.openxmlformats.org/drawingml/2006/main" noGrp="1"/>
          </p:cNvSpPr>
          <p:nvPr/>
        </p:nvSpPr>
        <p:spPr>
          <a:xfrm xmlns:a="http://schemas.openxmlformats.org/drawingml/2006/main">
            <a:off x="6286500" y="13525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275" b="1">
                <a:solidFill>
                  <a:srgbClr val="0E8A92"/>
                </a:solidFill>
                <a:latin typeface="Calibri"/>
                <a:ea typeface="Calibri"/>
                <a:cs typeface="Calibri"/>
              </a:defRPr>
            </a:pPr>
            <a:r>
              <a:rPr sz="1275" b="1">
                <a:solidFill>
                  <a:srgbClr val="0E8A92"/>
                </a:solidFill>
                <a:latin typeface="Calibri"/>
                <a:ea typeface="Calibri"/>
                <a:cs typeface="Calibri"/>
              </a:rPr>
              <a:t>Dec 2026</a:t>
            </a:r>
          </a:p>
        </p:txBody>
      </p:sp>
      <p:sp>
        <p:nvSpPr>
          <p:cNvPr id="21" name="">
            <a:extLst xmlns:a="http://schemas.openxmlformats.org/drawingml/2006/main">
              <a:ext uri="{FF2B5EF4-FFF2-40B4-BE49-F238E27FC236}">
                <a16:creationId xmlns:a16="http://schemas.microsoft.com/office/drawing/2014/main" id="{1463BA05-744C-413D-A29E-9B62861A1B7F}"/>
              </a:ext>
            </a:extLst>
          </p:cNvPr>
          <p:cNvSpPr>
            <a:spLocks xmlns:a="http://schemas.openxmlformats.org/drawingml/2006/main" noGrp="1"/>
          </p:cNvSpPr>
          <p:nvPr/>
        </p:nvSpPr>
        <p:spPr>
          <a:xfrm xmlns:a="http://schemas.openxmlformats.org/drawingml/2006/main">
            <a:off x="6286500" y="2457450"/>
            <a:ext cx="142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425" b="1">
                <a:solidFill>
                  <a:srgbClr val="132433"/>
                </a:solidFill>
                <a:latin typeface="Calibri"/>
                <a:ea typeface="Calibri"/>
                <a:cs typeface="Calibri"/>
              </a:defRPr>
            </a:pPr>
            <a:r>
              <a:rPr sz="1425" b="1">
                <a:solidFill>
                  <a:srgbClr val="132433"/>
                </a:solidFill>
                <a:latin typeface="Calibri"/>
                <a:ea typeface="Calibri"/>
                <a:cs typeface="Calibri"/>
              </a:rPr>
              <a:t>Revision</a:t>
            </a:r>
          </a:p>
        </p:txBody>
      </p:sp>
      <p:sp>
        <p:nvSpPr>
          <p:cNvPr id="22" name="">
            <a:extLst xmlns:a="http://schemas.openxmlformats.org/drawingml/2006/main">
              <a:ext uri="{FF2B5EF4-FFF2-40B4-BE49-F238E27FC236}">
                <a16:creationId xmlns:a16="http://schemas.microsoft.com/office/drawing/2014/main" id="{1F9D39E9-90CD-4431-AC4D-105988DCEE0C}"/>
              </a:ext>
            </a:extLst>
          </p:cNvPr>
          <p:cNvSpPr>
            <a:spLocks xmlns:a="http://schemas.openxmlformats.org/drawingml/2006/main" noGrp="1"/>
          </p:cNvSpPr>
          <p:nvPr/>
        </p:nvSpPr>
        <p:spPr>
          <a:xfrm xmlns:a="http://schemas.openxmlformats.org/drawingml/2006/main">
            <a:off x="6286500" y="3028950"/>
            <a:ext cx="142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200" b="0">
                <a:solidFill>
                  <a:srgbClr val="5C6B77"/>
                </a:solidFill>
                <a:latin typeface="Calibri"/>
                <a:ea typeface="Calibri"/>
                <a:cs typeface="Calibri"/>
              </a:defRPr>
            </a:pPr>
            <a:r>
              <a:rPr sz="1200" b="0">
                <a:solidFill>
                  <a:srgbClr val="5C6B77"/>
                </a:solidFill>
                <a:latin typeface="Calibri"/>
                <a:ea typeface="Calibri"/>
                <a:cs typeface="Calibri"/>
              </a:rPr>
              <a:t>Address feedback, format paper and validate reproducibility</a:t>
            </a:r>
          </a:p>
        </p:txBody>
      </p:sp>
      <p:sp>
        <p:nvSpPr>
          <p:cNvPr id="23" name="">
            <a:extLst xmlns:a="http://schemas.openxmlformats.org/drawingml/2006/main">
              <a:ext uri="{FF2B5EF4-FFF2-40B4-BE49-F238E27FC236}">
                <a16:creationId xmlns:a16="http://schemas.microsoft.com/office/drawing/2014/main" id="{C82234F2-5EEA-4DFB-B027-D73CE688AA12}"/>
              </a:ext>
            </a:extLst>
          </p:cNvPr>
          <p:cNvSpPr>
            <a:spLocks xmlns:a="http://schemas.openxmlformats.org/drawingml/2006/main" noGrp="1"/>
          </p:cNvSpPr>
          <p:nvPr/>
        </p:nvSpPr>
        <p:spPr>
          <a:xfrm xmlns:a="http://schemas.openxmlformats.org/drawingml/2006/main">
            <a:off x="8648700" y="1847850"/>
            <a:ext cx="304800" cy="304800"/>
          </a:xfrm>
          <a:prstGeom xmlns:a="http://schemas.openxmlformats.org/drawingml/2006/main" prst="ellipse">
            <a:avLst/>
          </a:prstGeom>
          <a:solidFill xmlns:a="http://schemas.openxmlformats.org/drawingml/2006/main">
            <a:srgbClr val="F1A33C"/>
          </a:solidFill>
          <a:ln xmlns:a="http://schemas.openxmlformats.org/drawingml/2006/main" w="28575">
            <a:solidFill>
              <a:srgbClr val="FFFFFF"/>
            </a:solidFill>
          </a:ln>
        </p:spPr>
      </p:sp>
      <p:sp>
        <p:nvSpPr>
          <p:cNvPr id="24" name="">
            <a:extLst xmlns:a="http://schemas.openxmlformats.org/drawingml/2006/main">
              <a:ext uri="{FF2B5EF4-FFF2-40B4-BE49-F238E27FC236}">
                <a16:creationId xmlns:a16="http://schemas.microsoft.com/office/drawing/2014/main" id="{09AD076B-3C33-47B4-9D4F-DCC6631B1E8D}"/>
              </a:ext>
            </a:extLst>
          </p:cNvPr>
          <p:cNvSpPr>
            <a:spLocks xmlns:a="http://schemas.openxmlformats.org/drawingml/2006/main" noGrp="1"/>
          </p:cNvSpPr>
          <p:nvPr/>
        </p:nvSpPr>
        <p:spPr>
          <a:xfrm xmlns:a="http://schemas.openxmlformats.org/drawingml/2006/main">
            <a:off x="8096250" y="13525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275" b="1">
                <a:solidFill>
                  <a:srgbClr val="F1A33C"/>
                </a:solidFill>
                <a:latin typeface="Calibri"/>
                <a:ea typeface="Calibri"/>
                <a:cs typeface="Calibri"/>
              </a:defRPr>
            </a:pPr>
            <a:r>
              <a:rPr sz="1275" b="1">
                <a:solidFill>
                  <a:srgbClr val="F1A33C"/>
                </a:solidFill>
                <a:latin typeface="Calibri"/>
                <a:ea typeface="Calibri"/>
                <a:cs typeface="Calibri"/>
              </a:rPr>
              <a:t>By 31 Jan 2027</a:t>
            </a:r>
          </a:p>
        </p:txBody>
      </p:sp>
      <p:sp>
        <p:nvSpPr>
          <p:cNvPr id="25" name="">
            <a:extLst xmlns:a="http://schemas.openxmlformats.org/drawingml/2006/main">
              <a:ext uri="{FF2B5EF4-FFF2-40B4-BE49-F238E27FC236}">
                <a16:creationId xmlns:a16="http://schemas.microsoft.com/office/drawing/2014/main" id="{A05B0B40-EDEE-403D-AA15-BEAE8457E9AD}"/>
              </a:ext>
            </a:extLst>
          </p:cNvPr>
          <p:cNvSpPr>
            <a:spLocks xmlns:a="http://schemas.openxmlformats.org/drawingml/2006/main" noGrp="1"/>
          </p:cNvSpPr>
          <p:nvPr/>
        </p:nvSpPr>
        <p:spPr>
          <a:xfrm xmlns:a="http://schemas.openxmlformats.org/drawingml/2006/main">
            <a:off x="8096250" y="2457450"/>
            <a:ext cx="142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425" b="1">
                <a:solidFill>
                  <a:srgbClr val="132433"/>
                </a:solidFill>
                <a:latin typeface="Calibri"/>
                <a:ea typeface="Calibri"/>
                <a:cs typeface="Calibri"/>
              </a:defRPr>
            </a:pPr>
            <a:r>
              <a:rPr sz="1425" b="1">
                <a:solidFill>
                  <a:srgbClr val="132433"/>
                </a:solidFill>
                <a:latin typeface="Calibri"/>
                <a:ea typeface="Calibri"/>
                <a:cs typeface="Calibri"/>
              </a:rPr>
              <a:t>Communicate</a:t>
            </a:r>
          </a:p>
        </p:txBody>
      </p:sp>
      <p:sp>
        <p:nvSpPr>
          <p:cNvPr id="26" name="">
            <a:extLst xmlns:a="http://schemas.openxmlformats.org/drawingml/2006/main">
              <a:ext uri="{FF2B5EF4-FFF2-40B4-BE49-F238E27FC236}">
                <a16:creationId xmlns:a16="http://schemas.microsoft.com/office/drawing/2014/main" id="{DFFE5831-CDCE-42D4-9C59-948829D13349}"/>
              </a:ext>
            </a:extLst>
          </p:cNvPr>
          <p:cNvSpPr>
            <a:spLocks xmlns:a="http://schemas.openxmlformats.org/drawingml/2006/main" noGrp="1"/>
          </p:cNvSpPr>
          <p:nvPr/>
        </p:nvSpPr>
        <p:spPr>
          <a:xfrm xmlns:a="http://schemas.openxmlformats.org/drawingml/2006/main">
            <a:off x="8096250" y="3028950"/>
            <a:ext cx="142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200" b="0">
                <a:solidFill>
                  <a:srgbClr val="5C6B77"/>
                </a:solidFill>
                <a:latin typeface="Calibri"/>
                <a:ea typeface="Calibri"/>
                <a:cs typeface="Calibri"/>
              </a:defRPr>
            </a:pPr>
            <a:r>
              <a:rPr sz="1200" b="0">
                <a:solidFill>
                  <a:srgbClr val="5C6B77"/>
                </a:solidFill>
                <a:latin typeface="Calibri"/>
                <a:ea typeface="Calibri"/>
                <a:cs typeface="Calibri"/>
              </a:rPr>
              <a:t>Submit to ICoICC 2027 if approved and eligible</a:t>
            </a:r>
          </a:p>
        </p:txBody>
      </p:sp>
      <p:sp>
        <p:nvSpPr>
          <p:cNvPr id="27" name="">
            <a:extLst xmlns:a="http://schemas.openxmlformats.org/drawingml/2006/main">
              <a:ext uri="{FF2B5EF4-FFF2-40B4-BE49-F238E27FC236}">
                <a16:creationId xmlns:a16="http://schemas.microsoft.com/office/drawing/2014/main" id="{501CA5AF-99C0-4E7B-87B3-A5EC6CC1E163}"/>
              </a:ext>
            </a:extLst>
          </p:cNvPr>
          <p:cNvSpPr>
            <a:spLocks xmlns:a="http://schemas.openxmlformats.org/drawingml/2006/main" noGrp="1"/>
          </p:cNvSpPr>
          <p:nvPr/>
        </p:nvSpPr>
        <p:spPr>
          <a:xfrm xmlns:a="http://schemas.openxmlformats.org/drawingml/2006/main">
            <a:off x="10458450" y="1847850"/>
            <a:ext cx="304800" cy="304800"/>
          </a:xfrm>
          <a:prstGeom xmlns:a="http://schemas.openxmlformats.org/drawingml/2006/main" prst="ellipse">
            <a:avLst/>
          </a:prstGeom>
          <a:solidFill xmlns:a="http://schemas.openxmlformats.org/drawingml/2006/main">
            <a:srgbClr val="0E8A92"/>
          </a:solidFill>
          <a:ln xmlns:a="http://schemas.openxmlformats.org/drawingml/2006/main" w="28575">
            <a:solidFill>
              <a:srgbClr val="FFFFFF"/>
            </a:solidFill>
          </a:ln>
        </p:spPr>
      </p:sp>
      <p:sp>
        <p:nvSpPr>
          <p:cNvPr id="28" name="">
            <a:extLst xmlns:a="http://schemas.openxmlformats.org/drawingml/2006/main">
              <a:ext uri="{FF2B5EF4-FFF2-40B4-BE49-F238E27FC236}">
                <a16:creationId xmlns:a16="http://schemas.microsoft.com/office/drawing/2014/main" id="{BCA29BE1-CD81-47F0-B8B2-E6D6C85C78DA}"/>
              </a:ext>
            </a:extLst>
          </p:cNvPr>
          <p:cNvSpPr>
            <a:spLocks xmlns:a="http://schemas.openxmlformats.org/drawingml/2006/main" noGrp="1"/>
          </p:cNvSpPr>
          <p:nvPr/>
        </p:nvSpPr>
        <p:spPr>
          <a:xfrm xmlns:a="http://schemas.openxmlformats.org/drawingml/2006/main">
            <a:off x="9906000" y="13525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275" b="1">
                <a:solidFill>
                  <a:srgbClr val="0E8A92"/>
                </a:solidFill>
                <a:latin typeface="Calibri"/>
                <a:ea typeface="Calibri"/>
                <a:cs typeface="Calibri"/>
              </a:defRPr>
            </a:pPr>
            <a:r>
              <a:rPr sz="1275" b="1">
                <a:solidFill>
                  <a:srgbClr val="0E8A92"/>
                </a:solidFill>
                <a:latin typeface="Calibri"/>
                <a:ea typeface="Calibri"/>
                <a:cs typeface="Calibri"/>
              </a:rPr>
              <a:t>After review</a:t>
            </a:r>
          </a:p>
        </p:txBody>
      </p:sp>
      <p:sp>
        <p:nvSpPr>
          <p:cNvPr id="29" name="">
            <a:extLst xmlns:a="http://schemas.openxmlformats.org/drawingml/2006/main">
              <a:ext uri="{FF2B5EF4-FFF2-40B4-BE49-F238E27FC236}">
                <a16:creationId xmlns:a16="http://schemas.microsoft.com/office/drawing/2014/main" id="{A2457E41-22F2-4F6E-9373-BF59688034E8}"/>
              </a:ext>
            </a:extLst>
          </p:cNvPr>
          <p:cNvSpPr>
            <a:spLocks xmlns:a="http://schemas.openxmlformats.org/drawingml/2006/main" noGrp="1"/>
          </p:cNvSpPr>
          <p:nvPr/>
        </p:nvSpPr>
        <p:spPr>
          <a:xfrm xmlns:a="http://schemas.openxmlformats.org/drawingml/2006/main">
            <a:off x="9906000" y="2457450"/>
            <a:ext cx="142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425" b="1">
                <a:solidFill>
                  <a:srgbClr val="132433"/>
                </a:solidFill>
                <a:latin typeface="Calibri"/>
                <a:ea typeface="Calibri"/>
                <a:cs typeface="Calibri"/>
              </a:defRPr>
            </a:pPr>
            <a:r>
              <a:rPr sz="1425" b="1">
                <a:solidFill>
                  <a:srgbClr val="132433"/>
                </a:solidFill>
                <a:latin typeface="Calibri"/>
                <a:ea typeface="Calibri"/>
                <a:cs typeface="Calibri"/>
              </a:rPr>
              <a:t>Respond</a:t>
            </a:r>
          </a:p>
        </p:txBody>
      </p:sp>
      <p:sp>
        <p:nvSpPr>
          <p:cNvPr id="30" name="">
            <a:extLst xmlns:a="http://schemas.openxmlformats.org/drawingml/2006/main">
              <a:ext uri="{FF2B5EF4-FFF2-40B4-BE49-F238E27FC236}">
                <a16:creationId xmlns:a16="http://schemas.microsoft.com/office/drawing/2014/main" id="{EEC69A23-AD69-46F8-8517-2236A70B90B1}"/>
              </a:ext>
            </a:extLst>
          </p:cNvPr>
          <p:cNvSpPr>
            <a:spLocks xmlns:a="http://schemas.openxmlformats.org/drawingml/2006/main" noGrp="1"/>
          </p:cNvSpPr>
          <p:nvPr/>
        </p:nvSpPr>
        <p:spPr>
          <a:xfrm xmlns:a="http://schemas.openxmlformats.org/drawingml/2006/main">
            <a:off x="9906000" y="3028950"/>
            <a:ext cx="142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ctr">
              <a:defRPr sz="1200" b="0">
                <a:solidFill>
                  <a:srgbClr val="5C6B77"/>
                </a:solidFill>
                <a:latin typeface="Calibri"/>
                <a:ea typeface="Calibri"/>
                <a:cs typeface="Calibri"/>
              </a:defRPr>
            </a:pPr>
            <a:r>
              <a:rPr sz="1200" b="0">
                <a:solidFill>
                  <a:srgbClr val="5C6B77"/>
                </a:solidFill>
                <a:latin typeface="Calibri"/>
                <a:ea typeface="Calibri"/>
                <a:cs typeface="Calibri"/>
              </a:rPr>
              <a:t>Revise and communicate the final version</a:t>
            </a:r>
          </a:p>
        </p:txBody>
      </p:sp>
      <p:sp>
        <p:nvSpPr>
          <p:cNvPr id="31" name="">
            <a:extLst xmlns:a="http://schemas.openxmlformats.org/drawingml/2006/main">
              <a:ext uri="{FF2B5EF4-FFF2-40B4-BE49-F238E27FC236}">
                <a16:creationId xmlns:a16="http://schemas.microsoft.com/office/drawing/2014/main" id="{603E97F7-E292-41B9-8CDE-7160CAB67FC9}"/>
              </a:ext>
            </a:extLst>
          </p:cNvPr>
          <p:cNvSpPr>
            <a:spLocks xmlns:a="http://schemas.openxmlformats.org/drawingml/2006/main" noGrp="1"/>
          </p:cNvSpPr>
          <p:nvPr/>
        </p:nvSpPr>
        <p:spPr>
          <a:xfrm xmlns:a="http://schemas.openxmlformats.org/drawingml/2006/main">
            <a:off x="1504950" y="4762500"/>
            <a:ext cx="9191625"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C9D4DC"/>
            </a:solidFill>
          </a:ln>
        </p:spPr>
      </p:sp>
      <p:sp>
        <p:nvSpPr>
          <p:cNvPr id="32" name="">
            <a:extLst xmlns:a="http://schemas.openxmlformats.org/drawingml/2006/main">
              <a:ext uri="{FF2B5EF4-FFF2-40B4-BE49-F238E27FC236}">
                <a16:creationId xmlns:a16="http://schemas.microsoft.com/office/drawing/2014/main" id="{1BC7FECB-B9A0-40AD-A0B4-0C020DEC74FB}"/>
              </a:ext>
            </a:extLst>
          </p:cNvPr>
          <p:cNvSpPr>
            <a:spLocks xmlns:a="http://schemas.openxmlformats.org/drawingml/2006/main" noGrp="1"/>
          </p:cNvSpPr>
          <p:nvPr/>
        </p:nvSpPr>
        <p:spPr>
          <a:xfrm xmlns:a="http://schemas.openxmlformats.org/drawingml/2006/main">
            <a:off x="1809750" y="49720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1350" b="1">
                <a:solidFill>
                  <a:srgbClr val="0E8A92"/>
                </a:solidFill>
                <a:latin typeface="Calibri"/>
                <a:ea typeface="Calibri"/>
                <a:cs typeface="Calibri"/>
              </a:defRPr>
            </a:pPr>
            <a:r>
              <a:rPr sz="1350" b="1">
                <a:solidFill>
                  <a:srgbClr val="0E8A92"/>
                </a:solidFill>
                <a:latin typeface="Calibri"/>
                <a:ea typeface="Calibri"/>
                <a:cs typeface="Calibri"/>
              </a:rPr>
              <a:t>Decision gate</a:t>
            </a:r>
          </a:p>
        </p:txBody>
      </p:sp>
      <p:sp>
        <p:nvSpPr>
          <p:cNvPr id="33" name="">
            <a:extLst xmlns:a="http://schemas.openxmlformats.org/drawingml/2006/main">
              <a:ext uri="{FF2B5EF4-FFF2-40B4-BE49-F238E27FC236}">
                <a16:creationId xmlns:a16="http://schemas.microsoft.com/office/drawing/2014/main" id="{74065E8F-7530-4632-994B-7520ADEF47AD}"/>
              </a:ext>
            </a:extLst>
          </p:cNvPr>
          <p:cNvSpPr>
            <a:spLocks xmlns:a="http://schemas.openxmlformats.org/drawingml/2006/main" noGrp="1"/>
          </p:cNvSpPr>
          <p:nvPr/>
        </p:nvSpPr>
        <p:spPr>
          <a:xfrm xmlns:a="http://schemas.openxmlformats.org/drawingml/2006/main">
            <a:off x="3429000" y="4914900"/>
            <a:ext cx="685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132433"/>
                </a:solidFill>
                <a:latin typeface="Calibri"/>
                <a:ea typeface="Calibri"/>
                <a:cs typeface="Calibri"/>
              </a:defRPr>
            </a:pPr>
            <a:r>
              <a:rPr sz="1425" b="0">
                <a:solidFill>
                  <a:srgbClr val="132433"/>
                </a:solidFill>
                <a:latin typeface="Calibri"/>
                <a:ea typeface="Calibri"/>
                <a:cs typeface="Calibri"/>
              </a:rPr>
              <a:t>Submit only after faculty approval, CFP re-check, authorship agreement and final plagiarism / formatting review.</a:t>
            </a:r>
          </a:p>
        </p:txBody>
      </p:sp>
    </p:spTree>
    <p:extLst>
      <p:ext uri="{BB962C8B-B14F-4D97-AF65-F5344CB8AC3E}">
        <p14:creationId xmlns:p14="http://schemas.microsoft.com/office/powerpoint/2010/main" val="1003490569"/>
      </p:ext>
    </p:extLst>
  </p:cSld>
</p:sld>
</file>

<file path=ppt/slides/slide1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BB8F767-1736-4D50-ADD3-65B49E4EB45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7C7D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B5186D-A7A7-41A1-A591-7CD93E2AEA9A}"/>
              </a:ext>
            </a:extLst>
          </p:cNvPr>
          <p:cNvSpPr>
            <a:spLocks xmlns:a="http://schemas.openxmlformats.org/drawingml/2006/main" noGrp="1"/>
          </p:cNvSpPr>
          <p:nvPr/>
        </p:nvSpPr>
        <p:spPr>
          <a:xfrm xmlns:a="http://schemas.openxmlformats.org/drawingml/2006/main">
            <a:off x="609600" y="2667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75" b="1">
                <a:solidFill>
                  <a:srgbClr val="0E8A92"/>
                </a:solidFill>
                <a:latin typeface="Calibri"/>
                <a:ea typeface="Calibri"/>
                <a:cs typeface="Calibri"/>
              </a:defRPr>
            </a:pPr>
            <a:r>
              <a:rPr sz="975" b="1">
                <a:solidFill>
                  <a:srgbClr val="0E8A92"/>
                </a:solidFill>
                <a:latin typeface="Calibri"/>
                <a:ea typeface="Calibri"/>
                <a:cs typeface="Calibri"/>
              </a:rPr>
              <a:t>SELECTED SOURCES</a:t>
            </a:r>
          </a:p>
        </p:txBody>
      </p:sp>
      <p:sp>
        <p:nvSpPr>
          <p:cNvPr id="3" name="">
            <a:extLst xmlns:a="http://schemas.openxmlformats.org/drawingml/2006/main">
              <a:ext uri="{FF2B5EF4-FFF2-40B4-BE49-F238E27FC236}">
                <a16:creationId xmlns:a16="http://schemas.microsoft.com/office/drawing/2014/main" id="{70FD62CE-15F0-4523-B728-47F95FB451A1}"/>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2550" b="1">
                <a:solidFill>
                  <a:srgbClr val="132433"/>
                </a:solidFill>
                <a:latin typeface="Calibri"/>
                <a:ea typeface="Calibri"/>
                <a:cs typeface="Calibri"/>
              </a:defRPr>
            </a:pPr>
            <a:r>
              <a:rPr sz="2550" b="1">
                <a:solidFill>
                  <a:srgbClr val="132433"/>
                </a:solidFill>
                <a:latin typeface="Calibri"/>
                <a:ea typeface="Calibri"/>
                <a:cs typeface="Calibri"/>
              </a:rPr>
              <a:t>References</a:t>
            </a:r>
          </a:p>
        </p:txBody>
      </p:sp>
      <p:sp>
        <p:nvSpPr>
          <p:cNvPr id="4" name="">
            <a:extLst xmlns:a="http://schemas.openxmlformats.org/drawingml/2006/main">
              <a:ext uri="{FF2B5EF4-FFF2-40B4-BE49-F238E27FC236}">
                <a16:creationId xmlns:a16="http://schemas.microsoft.com/office/drawing/2014/main" id="{C5596591-2228-4590-8FBA-AC671C2BB709}"/>
              </a:ext>
            </a:extLst>
          </p:cNvPr>
          <p:cNvSpPr>
            <a:spLocks xmlns:a="http://schemas.openxmlformats.org/drawingml/2006/main" noGrp="1"/>
          </p:cNvSpPr>
          <p:nvPr/>
        </p:nvSpPr>
        <p:spPr>
          <a:xfrm xmlns:a="http://schemas.openxmlformats.org/drawingml/2006/main">
            <a:off x="11334750" y="62674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r">
              <a:defRPr sz="975" b="0">
                <a:solidFill>
                  <a:srgbClr val="5C6B77"/>
                </a:solidFill>
                <a:latin typeface="Calibri"/>
                <a:ea typeface="Calibri"/>
                <a:cs typeface="Calibri"/>
              </a:defRPr>
            </a:pPr>
            <a:r>
              <a:rPr sz="975" b="0">
                <a:solidFill>
                  <a:srgbClr val="5C6B77"/>
                </a:solidFill>
                <a:latin typeface="Calibri"/>
                <a:ea typeface="Calibri"/>
                <a:cs typeface="Calibri"/>
              </a:rPr>
              <a:t>15</a:t>
            </a:r>
          </a:p>
        </p:txBody>
      </p:sp>
      <p:sp>
        <p:nvSpPr>
          <p:cNvPr id="5" name="">
            <a:extLst xmlns:a="http://schemas.openxmlformats.org/drawingml/2006/main">
              <a:ext uri="{FF2B5EF4-FFF2-40B4-BE49-F238E27FC236}">
                <a16:creationId xmlns:a16="http://schemas.microsoft.com/office/drawing/2014/main" id="{911EBADB-C44C-4311-BBC5-73239AFEED09}"/>
              </a:ext>
            </a:extLst>
          </p:cNvPr>
          <p:cNvSpPr>
            <a:spLocks xmlns:a="http://schemas.openxmlformats.org/drawingml/2006/main" noGrp="1"/>
          </p:cNvSpPr>
          <p:nvPr/>
        </p:nvSpPr>
        <p:spPr>
          <a:xfrm xmlns:a="http://schemas.openxmlformats.org/drawingml/2006/main">
            <a:off x="609600" y="62674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defRPr sz="900" b="0">
                <a:solidFill>
                  <a:srgbClr val="5C6B77"/>
                </a:solidFill>
                <a:latin typeface="Calibri"/>
                <a:ea typeface="Calibri"/>
                <a:cs typeface="Calibri"/>
              </a:defRPr>
            </a:pPr>
            <a:r>
              <a:rPr sz="900" b="0">
                <a:solidFill>
                  <a:srgbClr val="5C6B77"/>
                </a:solidFill>
                <a:latin typeface="Calibri"/>
                <a:ea typeface="Calibri"/>
                <a:cs typeface="Calibri"/>
              </a:rPr>
              <a:t>DriftSentinel  |  Review 2</a:t>
            </a:r>
          </a:p>
        </p:txBody>
      </p:sp>
      <p:sp>
        <p:nvSpPr>
          <p:cNvPr id="6" name="">
            <a:extLst xmlns:a="http://schemas.openxmlformats.org/drawingml/2006/main">
              <a:ext uri="{FF2B5EF4-FFF2-40B4-BE49-F238E27FC236}">
                <a16:creationId xmlns:a16="http://schemas.microsoft.com/office/drawing/2014/main" id="{69A900DF-9FD9-4263-8A68-4B4684AB9E70}"/>
              </a:ext>
            </a:extLst>
          </p:cNvPr>
          <p:cNvSpPr>
            <a:spLocks xmlns:a="http://schemas.openxmlformats.org/drawingml/2006/main" noGrp="1"/>
          </p:cNvSpPr>
          <p:nvPr/>
        </p:nvSpPr>
        <p:spPr>
          <a:xfrm xmlns:a="http://schemas.openxmlformats.org/drawingml/2006/main">
            <a:off x="685800" y="133350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lnSpc>
                <a:spcPct val="102000"/>
              </a:lnSpc>
              <a:buNone/>
              <a:defRPr sz="1125" b="0">
                <a:solidFill>
                  <a:srgbClr val="132433"/>
                </a:solidFill>
                <a:latin typeface="Calibri"/>
                <a:ea typeface="Calibri"/>
                <a:cs typeface="Calibri"/>
              </a:defRPr>
            </a:pPr>
            <a:r>
              <a:rPr sz="1125" b="0">
                <a:solidFill>
                  <a:srgbClr val="132433"/>
                </a:solidFill>
                <a:latin typeface="Calibri"/>
                <a:ea typeface="Calibri"/>
                <a:cs typeface="Calibri"/>
              </a:rPr>
              <a:t>[1] J. Gama et al., ‘A Survey on Concept Drift Adaptation,’ ACM Computing Surveys, 46(4), 2014.</a:t>
            </a:r>
          </a:p>
        </p:txBody>
      </p:sp>
      <p:sp>
        <p:nvSpPr>
          <p:cNvPr id="7" name="">
            <a:extLst xmlns:a="http://schemas.openxmlformats.org/drawingml/2006/main">
              <a:ext uri="{FF2B5EF4-FFF2-40B4-BE49-F238E27FC236}">
                <a16:creationId xmlns:a16="http://schemas.microsoft.com/office/drawing/2014/main" id="{B18B924A-43DB-4942-B4D6-8438BD05B1AE}"/>
              </a:ext>
            </a:extLst>
          </p:cNvPr>
          <p:cNvSpPr>
            <a:spLocks xmlns:a="http://schemas.openxmlformats.org/drawingml/2006/main" noGrp="1"/>
          </p:cNvSpPr>
          <p:nvPr/>
        </p:nvSpPr>
        <p:spPr>
          <a:xfrm xmlns:a="http://schemas.openxmlformats.org/drawingml/2006/main">
            <a:off x="685800" y="211455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lnSpc>
                <a:spcPct val="102000"/>
              </a:lnSpc>
              <a:buNone/>
              <a:defRPr sz="1125" b="0">
                <a:solidFill>
                  <a:srgbClr val="132433"/>
                </a:solidFill>
                <a:latin typeface="Calibri"/>
                <a:ea typeface="Calibri"/>
                <a:cs typeface="Calibri"/>
              </a:defRPr>
            </a:pPr>
            <a:r>
              <a:rPr sz="1125" b="0">
                <a:solidFill>
                  <a:srgbClr val="132433"/>
                </a:solidFill>
                <a:latin typeface="Calibri"/>
                <a:ea typeface="Calibri"/>
                <a:cs typeface="Calibri"/>
              </a:rPr>
              <a:t>[2] J. Gama et al., ‘Learning with Drift Detection,’ SBIA, LNCS 3171, pp. 286-295, 2004.</a:t>
            </a:r>
          </a:p>
        </p:txBody>
      </p:sp>
      <p:sp>
        <p:nvSpPr>
          <p:cNvPr id="8" name="">
            <a:extLst xmlns:a="http://schemas.openxmlformats.org/drawingml/2006/main">
              <a:ext uri="{FF2B5EF4-FFF2-40B4-BE49-F238E27FC236}">
                <a16:creationId xmlns:a16="http://schemas.microsoft.com/office/drawing/2014/main" id="{F3BFCF59-6AE6-4BC1-AFD3-1D4EFEF9B918}"/>
              </a:ext>
            </a:extLst>
          </p:cNvPr>
          <p:cNvSpPr>
            <a:spLocks xmlns:a="http://schemas.openxmlformats.org/drawingml/2006/main" noGrp="1"/>
          </p:cNvSpPr>
          <p:nvPr/>
        </p:nvSpPr>
        <p:spPr>
          <a:xfrm xmlns:a="http://schemas.openxmlformats.org/drawingml/2006/main">
            <a:off x="685800" y="289560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lnSpc>
                <a:spcPct val="102000"/>
              </a:lnSpc>
              <a:buNone/>
              <a:defRPr sz="1125" b="0">
                <a:solidFill>
                  <a:srgbClr val="132433"/>
                </a:solidFill>
                <a:latin typeface="Calibri"/>
                <a:ea typeface="Calibri"/>
                <a:cs typeface="Calibri"/>
              </a:defRPr>
            </a:pPr>
            <a:r>
              <a:rPr sz="1125" b="0">
                <a:solidFill>
                  <a:srgbClr val="132433"/>
                </a:solidFill>
                <a:latin typeface="Calibri"/>
                <a:ea typeface="Calibri"/>
                <a:cs typeface="Calibri"/>
              </a:rPr>
              <a:t>[3] A. Bifet and R. Gavaldà, ‘Learning from Time-Changing Data with Adaptive Windowing,’ SDM, pp. 443-448, 2007.</a:t>
            </a:r>
          </a:p>
        </p:txBody>
      </p:sp>
      <p:sp>
        <p:nvSpPr>
          <p:cNvPr id="9" name="">
            <a:extLst xmlns:a="http://schemas.openxmlformats.org/drawingml/2006/main">
              <a:ext uri="{FF2B5EF4-FFF2-40B4-BE49-F238E27FC236}">
                <a16:creationId xmlns:a16="http://schemas.microsoft.com/office/drawing/2014/main" id="{9B2E486F-074F-4EB7-84DF-5A07F656A3DE}"/>
              </a:ext>
            </a:extLst>
          </p:cNvPr>
          <p:cNvSpPr>
            <a:spLocks xmlns:a="http://schemas.openxmlformats.org/drawingml/2006/main" noGrp="1"/>
          </p:cNvSpPr>
          <p:nvPr/>
        </p:nvSpPr>
        <p:spPr>
          <a:xfrm xmlns:a="http://schemas.openxmlformats.org/drawingml/2006/main">
            <a:off x="685800" y="367665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lnSpc>
                <a:spcPct val="102000"/>
              </a:lnSpc>
              <a:buNone/>
              <a:defRPr sz="1125" b="0">
                <a:solidFill>
                  <a:srgbClr val="132433"/>
                </a:solidFill>
                <a:latin typeface="Calibri"/>
                <a:ea typeface="Calibri"/>
                <a:cs typeface="Calibri"/>
              </a:defRPr>
            </a:pPr>
            <a:r>
              <a:rPr sz="1125" b="0">
                <a:solidFill>
                  <a:srgbClr val="132433"/>
                </a:solidFill>
                <a:latin typeface="Calibri"/>
                <a:ea typeface="Calibri"/>
                <a:cs typeface="Calibri"/>
              </a:rPr>
              <a:t>[4] C. Raab, M. Heusinger and F.-M. Schleif, ‘Reactive Soft Prototype Computing for Concept Drift Streams,’ Neurocomputing, 416, pp. 340-351, 2020.</a:t>
            </a:r>
          </a:p>
        </p:txBody>
      </p:sp>
      <p:sp>
        <p:nvSpPr>
          <p:cNvPr id="10" name="">
            <a:extLst xmlns:a="http://schemas.openxmlformats.org/drawingml/2006/main">
              <a:ext uri="{FF2B5EF4-FFF2-40B4-BE49-F238E27FC236}">
                <a16:creationId xmlns:a16="http://schemas.microsoft.com/office/drawing/2014/main" id="{23AACCAF-E788-4332-A2E7-F2388DC9C46B}"/>
              </a:ext>
            </a:extLst>
          </p:cNvPr>
          <p:cNvSpPr>
            <a:spLocks xmlns:a="http://schemas.openxmlformats.org/drawingml/2006/main" noGrp="1"/>
          </p:cNvSpPr>
          <p:nvPr/>
        </p:nvSpPr>
        <p:spPr>
          <a:xfrm xmlns:a="http://schemas.openxmlformats.org/drawingml/2006/main">
            <a:off x="685800" y="445770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lnSpc>
                <a:spcPct val="102000"/>
              </a:lnSpc>
              <a:buNone/>
              <a:defRPr sz="1125" b="0">
                <a:solidFill>
                  <a:srgbClr val="132433"/>
                </a:solidFill>
                <a:latin typeface="Calibri"/>
                <a:ea typeface="Calibri"/>
                <a:cs typeface="Calibri"/>
              </a:defRPr>
            </a:pPr>
            <a:r>
              <a:rPr sz="1125" b="0">
                <a:solidFill>
                  <a:srgbClr val="132433"/>
                </a:solidFill>
                <a:latin typeface="Calibri"/>
                <a:ea typeface="Calibri"/>
                <a:cs typeface="Calibri"/>
              </a:rPr>
              <a:t>[5] V. M. A. Souza et al., ‘Challenges in Benchmarking Stream Learning Algorithms with Real-World Data,’ Data Mining and Knowledge Discovery, 34, pp. 1805-1858, 2020.</a:t>
            </a:r>
          </a:p>
        </p:txBody>
      </p:sp>
      <p:sp>
        <p:nvSpPr>
          <p:cNvPr id="11" name="">
            <a:extLst xmlns:a="http://schemas.openxmlformats.org/drawingml/2006/main">
              <a:ext uri="{FF2B5EF4-FFF2-40B4-BE49-F238E27FC236}">
                <a16:creationId xmlns:a16="http://schemas.microsoft.com/office/drawing/2014/main" id="{5FBD2D03-0F96-4178-B5B0-A2D9BFEE1842}"/>
              </a:ext>
            </a:extLst>
          </p:cNvPr>
          <p:cNvSpPr>
            <a:spLocks xmlns:a="http://schemas.openxmlformats.org/drawingml/2006/main" noGrp="1"/>
          </p:cNvSpPr>
          <p:nvPr/>
        </p:nvSpPr>
        <p:spPr>
          <a:xfrm xmlns:a="http://schemas.openxmlformats.org/drawingml/2006/main">
            <a:off x="685800" y="523875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lnSpc>
                <a:spcPct val="102000"/>
              </a:lnSpc>
              <a:buNone/>
              <a:defRPr sz="1125" b="0">
                <a:solidFill>
                  <a:srgbClr val="132433"/>
                </a:solidFill>
                <a:latin typeface="Calibri"/>
                <a:ea typeface="Calibri"/>
                <a:cs typeface="Calibri"/>
              </a:defRPr>
            </a:pPr>
            <a:r>
              <a:rPr sz="1125" b="0">
                <a:solidFill>
                  <a:srgbClr val="132433"/>
                </a:solidFill>
                <a:latin typeface="Calibri"/>
                <a:ea typeface="Calibri"/>
                <a:cs typeface="Calibri"/>
              </a:rPr>
              <a:t>[6] K. Cho et al., ‘Learning Phrase Representations using RNN Encoder-Decoder,’ arXiv:1406.1078, 2014.</a:t>
            </a:r>
          </a:p>
        </p:txBody>
      </p:sp>
      <p:sp>
        <p:nvSpPr>
          <p:cNvPr id="12" name="">
            <a:extLst xmlns:a="http://schemas.openxmlformats.org/drawingml/2006/main">
              <a:ext uri="{FF2B5EF4-FFF2-40B4-BE49-F238E27FC236}">
                <a16:creationId xmlns:a16="http://schemas.microsoft.com/office/drawing/2014/main" id="{5DF00C04-01E7-4EC3-8945-572EA964FFEE}"/>
              </a:ext>
            </a:extLst>
          </p:cNvPr>
          <p:cNvSpPr>
            <a:spLocks xmlns:a="http://schemas.openxmlformats.org/drawingml/2006/main" noGrp="1"/>
          </p:cNvSpPr>
          <p:nvPr/>
        </p:nvSpPr>
        <p:spPr>
          <a:xfrm xmlns:a="http://schemas.openxmlformats.org/drawingml/2006/main">
            <a:off x="6362700" y="133350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lnSpc>
                <a:spcPct val="102000"/>
              </a:lnSpc>
              <a:buNone/>
              <a:defRPr sz="1125" b="0">
                <a:solidFill>
                  <a:srgbClr val="132433"/>
                </a:solidFill>
                <a:latin typeface="Calibri"/>
                <a:ea typeface="Calibri"/>
                <a:cs typeface="Calibri"/>
              </a:defRPr>
            </a:pPr>
            <a:r>
              <a:rPr sz="1125" b="0">
                <a:solidFill>
                  <a:srgbClr val="132433"/>
                </a:solidFill>
                <a:latin typeface="Calibri"/>
                <a:ea typeface="Calibri"/>
                <a:cs typeface="Calibri"/>
              </a:rPr>
              <a:t>[7] S. Hochreiter and J. Schmidhuber, ‘Long Short-Term Memory,’ Neural Computation, 9(8), pp. 1735-1780, 1997.</a:t>
            </a:r>
          </a:p>
        </p:txBody>
      </p:sp>
      <p:sp>
        <p:nvSpPr>
          <p:cNvPr id="13" name="">
            <a:extLst xmlns:a="http://schemas.openxmlformats.org/drawingml/2006/main">
              <a:ext uri="{FF2B5EF4-FFF2-40B4-BE49-F238E27FC236}">
                <a16:creationId xmlns:a16="http://schemas.microsoft.com/office/drawing/2014/main" id="{DF189D37-1666-4CC4-9E98-54C3AC7422B4}"/>
              </a:ext>
            </a:extLst>
          </p:cNvPr>
          <p:cNvSpPr>
            <a:spLocks xmlns:a="http://schemas.openxmlformats.org/drawingml/2006/main" noGrp="1"/>
          </p:cNvSpPr>
          <p:nvPr/>
        </p:nvSpPr>
        <p:spPr>
          <a:xfrm xmlns:a="http://schemas.openxmlformats.org/drawingml/2006/main">
            <a:off x="6362700" y="211455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lnSpc>
                <a:spcPct val="102000"/>
              </a:lnSpc>
              <a:buNone/>
              <a:defRPr sz="1125" b="0">
                <a:solidFill>
                  <a:srgbClr val="132433"/>
                </a:solidFill>
                <a:latin typeface="Calibri"/>
                <a:ea typeface="Calibri"/>
                <a:cs typeface="Calibri"/>
              </a:defRPr>
            </a:pPr>
            <a:r>
              <a:rPr sz="1125" b="0">
                <a:solidFill>
                  <a:srgbClr val="132433"/>
                </a:solidFill>
                <a:latin typeface="Calibri"/>
                <a:ea typeface="Calibri"/>
                <a:cs typeface="Calibri"/>
              </a:rPr>
              <a:t>[8] A. Vaswani et al., ‘Attention Is All You Need,’ NeurIPS 30, 2017.</a:t>
            </a:r>
          </a:p>
        </p:txBody>
      </p:sp>
      <p:sp>
        <p:nvSpPr>
          <p:cNvPr id="14" name="">
            <a:extLst xmlns:a="http://schemas.openxmlformats.org/drawingml/2006/main">
              <a:ext uri="{FF2B5EF4-FFF2-40B4-BE49-F238E27FC236}">
                <a16:creationId xmlns:a16="http://schemas.microsoft.com/office/drawing/2014/main" id="{6A092290-7E5A-4ECF-A8E3-72F3FC70873A}"/>
              </a:ext>
            </a:extLst>
          </p:cNvPr>
          <p:cNvSpPr>
            <a:spLocks xmlns:a="http://schemas.openxmlformats.org/drawingml/2006/main" noGrp="1"/>
          </p:cNvSpPr>
          <p:nvPr/>
        </p:nvSpPr>
        <p:spPr>
          <a:xfrm xmlns:a="http://schemas.openxmlformats.org/drawingml/2006/main">
            <a:off x="6362700" y="289560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lnSpc>
                <a:spcPct val="102000"/>
              </a:lnSpc>
              <a:buNone/>
              <a:defRPr sz="1125" b="0">
                <a:solidFill>
                  <a:srgbClr val="132433"/>
                </a:solidFill>
                <a:latin typeface="Calibri"/>
                <a:ea typeface="Calibri"/>
                <a:cs typeface="Calibri"/>
              </a:defRPr>
            </a:pPr>
            <a:r>
              <a:rPr sz="1125" b="0">
                <a:solidFill>
                  <a:srgbClr val="132433"/>
                </a:solidFill>
                <a:latin typeface="Calibri"/>
                <a:ea typeface="Calibri"/>
                <a:cs typeface="Calibri"/>
              </a:rPr>
              <a:t>[9] J. Montiel et al., ‘River: Machine Learning for Streaming Data in Python,’ JMLR, 22(110), pp. 1-8, 2021.</a:t>
            </a:r>
          </a:p>
        </p:txBody>
      </p:sp>
      <p:sp>
        <p:nvSpPr>
          <p:cNvPr id="15" name="">
            <a:extLst xmlns:a="http://schemas.openxmlformats.org/drawingml/2006/main">
              <a:ext uri="{FF2B5EF4-FFF2-40B4-BE49-F238E27FC236}">
                <a16:creationId xmlns:a16="http://schemas.microsoft.com/office/drawing/2014/main" id="{A738BD94-BAA7-4F40-84B5-22041B9A9E74}"/>
              </a:ext>
            </a:extLst>
          </p:cNvPr>
          <p:cNvSpPr>
            <a:spLocks xmlns:a="http://schemas.openxmlformats.org/drawingml/2006/main" noGrp="1"/>
          </p:cNvSpPr>
          <p:nvPr/>
        </p:nvSpPr>
        <p:spPr>
          <a:xfrm xmlns:a="http://schemas.openxmlformats.org/drawingml/2006/main">
            <a:off x="6362700" y="367665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lnSpc>
                <a:spcPct val="102000"/>
              </a:lnSpc>
              <a:buNone/>
              <a:defRPr sz="1125" b="0">
                <a:solidFill>
                  <a:srgbClr val="132433"/>
                </a:solidFill>
                <a:latin typeface="Calibri"/>
                <a:ea typeface="Calibri"/>
                <a:cs typeface="Calibri"/>
              </a:defRPr>
            </a:pPr>
            <a:r>
              <a:rPr sz="1125" b="0">
                <a:solidFill>
                  <a:srgbClr val="132433"/>
                </a:solidFill>
                <a:latin typeface="Calibri"/>
                <a:ea typeface="Calibri"/>
                <a:cs typeface="Calibri"/>
              </a:rPr>
              <a:t>[10] J. Gama, R. Sebastião and P. P. Rodrigues, ‘On Evaluating Stream Learning Algorithms,’ Machine Learning, 90, pp. 317-346, 2013.</a:t>
            </a:r>
          </a:p>
        </p:txBody>
      </p:sp>
      <p:sp>
        <p:nvSpPr>
          <p:cNvPr id="16" name="">
            <a:extLst xmlns:a="http://schemas.openxmlformats.org/drawingml/2006/main">
              <a:ext uri="{FF2B5EF4-FFF2-40B4-BE49-F238E27FC236}">
                <a16:creationId xmlns:a16="http://schemas.microsoft.com/office/drawing/2014/main" id="{758B502A-730E-489B-AB36-11182AE68035}"/>
              </a:ext>
            </a:extLst>
          </p:cNvPr>
          <p:cNvSpPr>
            <a:spLocks xmlns:a="http://schemas.openxmlformats.org/drawingml/2006/main" noGrp="1"/>
          </p:cNvSpPr>
          <p:nvPr/>
        </p:nvSpPr>
        <p:spPr>
          <a:xfrm xmlns:a="http://schemas.openxmlformats.org/drawingml/2006/main">
            <a:off x="6362700" y="445770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lnSpc>
                <a:spcPct val="102000"/>
              </a:lnSpc>
              <a:buNone/>
              <a:defRPr sz="1125" b="0">
                <a:solidFill>
                  <a:srgbClr val="132433"/>
                </a:solidFill>
                <a:latin typeface="Calibri"/>
                <a:ea typeface="Calibri"/>
                <a:cs typeface="Calibri"/>
              </a:defRPr>
            </a:pPr>
            <a:r>
              <a:rPr sz="1125" b="0">
                <a:solidFill>
                  <a:srgbClr val="132433"/>
                </a:solidFill>
                <a:latin typeface="Calibri"/>
                <a:ea typeface="Calibri"/>
                <a:cs typeface="Calibri"/>
              </a:rPr>
              <a:t>[11] J. Montiel et al., ‘Scikit-Multiflow: A Multi-output Streaming Framework,’ JMLR, 19(72), pp. 1-5, 2018.</a:t>
            </a:r>
          </a:p>
        </p:txBody>
      </p:sp>
    </p:spTree>
    <p:extLst>
      <p:ext uri="{BB962C8B-B14F-4D97-AF65-F5344CB8AC3E}">
        <p14:creationId xmlns:p14="http://schemas.microsoft.com/office/powerpoint/2010/main" val="8802505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2026-09-17T09:59:51.3210000Z</dcterms:created>
  <dcterms:modified xsi:type="dcterms:W3CDTF">2026-09-17T09:59:51.3210000Z</dcterms:modified>
</coreProperties>
</file>